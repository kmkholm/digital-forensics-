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42"/>
  </p:notesMasterIdLst>
  <p:handoutMasterIdLst>
    <p:handoutMasterId r:id="rId43"/>
  </p:handoutMasterIdLst>
  <p:sldIdLst>
    <p:sldId id="1529" r:id="rId2"/>
    <p:sldId id="1561" r:id="rId3"/>
    <p:sldId id="1567" r:id="rId4"/>
    <p:sldId id="1605" r:id="rId5"/>
    <p:sldId id="1537" r:id="rId6"/>
    <p:sldId id="1569" r:id="rId7"/>
    <p:sldId id="1590" r:id="rId8"/>
    <p:sldId id="1575" r:id="rId9"/>
    <p:sldId id="1595" r:id="rId10"/>
    <p:sldId id="1610" r:id="rId11"/>
    <p:sldId id="1596" r:id="rId12"/>
    <p:sldId id="1571" r:id="rId13"/>
    <p:sldId id="1597" r:id="rId14"/>
    <p:sldId id="1598" r:id="rId15"/>
    <p:sldId id="1611" r:id="rId16"/>
    <p:sldId id="1606" r:id="rId17"/>
    <p:sldId id="1607" r:id="rId18"/>
    <p:sldId id="1589" r:id="rId19"/>
    <p:sldId id="1591" r:id="rId20"/>
    <p:sldId id="1592" r:id="rId21"/>
    <p:sldId id="1594" r:id="rId22"/>
    <p:sldId id="1588" r:id="rId23"/>
    <p:sldId id="1576" r:id="rId24"/>
    <p:sldId id="1577" r:id="rId25"/>
    <p:sldId id="1578" r:id="rId26"/>
    <p:sldId id="1579" r:id="rId27"/>
    <p:sldId id="1580" r:id="rId28"/>
    <p:sldId id="1581" r:id="rId29"/>
    <p:sldId id="1582" r:id="rId30"/>
    <p:sldId id="1570" r:id="rId31"/>
    <p:sldId id="1600" r:id="rId32"/>
    <p:sldId id="1612" r:id="rId33"/>
    <p:sldId id="1613" r:id="rId34"/>
    <p:sldId id="1602" r:id="rId35"/>
    <p:sldId id="1603" r:id="rId36"/>
    <p:sldId id="1604" r:id="rId37"/>
    <p:sldId id="1572" r:id="rId38"/>
    <p:sldId id="1614" r:id="rId39"/>
    <p:sldId id="1573" r:id="rId40"/>
    <p:sldId id="1562" r:id="rId41"/>
  </p:sldIdLst>
  <p:sldSz cx="9144000" cy="6858000" type="screen4x3"/>
  <p:notesSz cx="7010400" cy="9296400"/>
  <p:custDataLst>
    <p:tags r:id="rId44"/>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ACC0"/>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6397" autoAdjust="0"/>
    <p:restoredTop sz="90775" autoAdjust="0"/>
  </p:normalViewPr>
  <p:slideViewPr>
    <p:cSldViewPr snapToGrid="0" snapToObjects="1">
      <p:cViewPr varScale="1">
        <p:scale>
          <a:sx n="62" d="100"/>
          <a:sy n="62" d="100"/>
        </p:scale>
        <p:origin x="1512" y="48"/>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napToObjects="1">
      <p:cViewPr varScale="1">
        <p:scale>
          <a:sx n="52" d="100"/>
          <a:sy n="52" d="100"/>
        </p:scale>
        <p:origin x="-2868"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FFA239-FE1A-420D-B9A1-EBD2100C704F}" type="doc">
      <dgm:prSet loTypeId="urn:microsoft.com/office/officeart/2005/8/layout/default#1" loCatId="list" qsTypeId="urn:microsoft.com/office/officeart/2005/8/quickstyle/simple1" qsCatId="simple" csTypeId="urn:microsoft.com/office/officeart/2005/8/colors/accent1_3" csCatId="accent1" phldr="1"/>
      <dgm:spPr/>
      <dgm:t>
        <a:bodyPr/>
        <a:lstStyle/>
        <a:p>
          <a:endParaRPr lang="en-US"/>
        </a:p>
      </dgm:t>
    </dgm:pt>
    <dgm:pt modelId="{D17BCADC-CE05-4CDC-9C70-2DF1F75692F5}">
      <dgm:prSet phldrT="[Text]" custT="1"/>
      <dgm:spPr/>
      <dgm:t>
        <a:bodyPr/>
        <a:lstStyle/>
        <a:p>
          <a:r>
            <a:rPr lang="en-US" sz="3200" b="0" dirty="0"/>
            <a:t>Spoofing</a:t>
          </a:r>
        </a:p>
      </dgm:t>
    </dgm:pt>
    <dgm:pt modelId="{B6E14AE3-CEC9-4280-99C4-5DB60F1D45AB}" type="parTrans" cxnId="{71379ECE-9581-4181-AE51-D22967CCA7F2}">
      <dgm:prSet/>
      <dgm:spPr/>
      <dgm:t>
        <a:bodyPr/>
        <a:lstStyle/>
        <a:p>
          <a:endParaRPr lang="en-US" sz="2200"/>
        </a:p>
      </dgm:t>
    </dgm:pt>
    <dgm:pt modelId="{ECEED4DE-F5DA-45E1-9C0C-AD7A14FB5BC2}" type="sibTrans" cxnId="{71379ECE-9581-4181-AE51-D22967CCA7F2}">
      <dgm:prSet/>
      <dgm:spPr/>
      <dgm:t>
        <a:bodyPr/>
        <a:lstStyle/>
        <a:p>
          <a:endParaRPr lang="en-US" sz="2200"/>
        </a:p>
      </dgm:t>
    </dgm:pt>
    <dgm:pt modelId="{F168DBDA-D1F7-4A0D-BDB7-AA9CB88E3AB7}">
      <dgm:prSet phldrT="[Text]" custT="1"/>
      <dgm:spPr/>
      <dgm:t>
        <a:bodyPr/>
        <a:lstStyle/>
        <a:p>
          <a:r>
            <a:rPr lang="en-US" sz="3200" b="0" dirty="0"/>
            <a:t>Anonymous remailing</a:t>
          </a:r>
        </a:p>
      </dgm:t>
    </dgm:pt>
    <dgm:pt modelId="{8818F17B-E009-4C1B-91C3-8237E956390D}" type="parTrans" cxnId="{4F8CC852-805A-4FF3-98C8-87BBAF680165}">
      <dgm:prSet/>
      <dgm:spPr/>
      <dgm:t>
        <a:bodyPr/>
        <a:lstStyle/>
        <a:p>
          <a:endParaRPr lang="en-US" sz="2200"/>
        </a:p>
      </dgm:t>
    </dgm:pt>
    <dgm:pt modelId="{1D2A33B6-BEAB-4589-8BB4-D9E1A9050BEB}" type="sibTrans" cxnId="{4F8CC852-805A-4FF3-98C8-87BBAF680165}">
      <dgm:prSet/>
      <dgm:spPr/>
      <dgm:t>
        <a:bodyPr/>
        <a:lstStyle/>
        <a:p>
          <a:endParaRPr lang="en-US" sz="2200"/>
        </a:p>
      </dgm:t>
    </dgm:pt>
    <dgm:pt modelId="{AF61E4FF-EE25-40E1-906A-9D835D29378E}">
      <dgm:prSet phldrT="[Text]" custT="1"/>
      <dgm:spPr/>
      <dgm:t>
        <a:bodyPr/>
        <a:lstStyle/>
        <a:p>
          <a:r>
            <a:rPr lang="en-US" sz="3200" b="0" dirty="0"/>
            <a:t>"Valid"</a:t>
          </a:r>
          <a:br>
            <a:rPr lang="en-US" sz="3200" b="0" dirty="0"/>
          </a:br>
          <a:r>
            <a:rPr lang="en-US" sz="3200" b="0" dirty="0"/>
            <a:t>emails</a:t>
          </a:r>
        </a:p>
      </dgm:t>
    </dgm:pt>
    <dgm:pt modelId="{17A01198-CB91-47BA-AEAB-100D53B2E982}" type="parTrans" cxnId="{8C529F56-E858-4BDF-9DEB-8E695D81A342}">
      <dgm:prSet/>
      <dgm:spPr/>
      <dgm:t>
        <a:bodyPr/>
        <a:lstStyle/>
        <a:p>
          <a:endParaRPr lang="en-US" sz="2200"/>
        </a:p>
      </dgm:t>
    </dgm:pt>
    <dgm:pt modelId="{120537DD-FE0F-4187-8471-2B987BBEAB3B}" type="sibTrans" cxnId="{8C529F56-E858-4BDF-9DEB-8E695D81A342}">
      <dgm:prSet/>
      <dgm:spPr/>
      <dgm:t>
        <a:bodyPr/>
        <a:lstStyle/>
        <a:p>
          <a:endParaRPr lang="en-US" sz="2200"/>
        </a:p>
      </dgm:t>
    </dgm:pt>
    <dgm:pt modelId="{9D4488E4-EEAC-4346-A373-A52D77675B82}" type="pres">
      <dgm:prSet presAssocID="{E7FFA239-FE1A-420D-B9A1-EBD2100C704F}" presName="diagram" presStyleCnt="0">
        <dgm:presLayoutVars>
          <dgm:dir/>
          <dgm:resizeHandles val="exact"/>
        </dgm:presLayoutVars>
      </dgm:prSet>
      <dgm:spPr/>
    </dgm:pt>
    <dgm:pt modelId="{892FAD95-21AB-48F8-830E-0A3BAEB7812B}" type="pres">
      <dgm:prSet presAssocID="{D17BCADC-CE05-4CDC-9C70-2DF1F75692F5}" presName="node" presStyleLbl="node1" presStyleIdx="0" presStyleCnt="3" custScaleY="134521">
        <dgm:presLayoutVars>
          <dgm:bulletEnabled val="1"/>
        </dgm:presLayoutVars>
      </dgm:prSet>
      <dgm:spPr/>
    </dgm:pt>
    <dgm:pt modelId="{7ED780B8-BC07-4E27-A439-6EA77D2F7BD7}" type="pres">
      <dgm:prSet presAssocID="{ECEED4DE-F5DA-45E1-9C0C-AD7A14FB5BC2}" presName="sibTrans" presStyleCnt="0"/>
      <dgm:spPr/>
    </dgm:pt>
    <dgm:pt modelId="{982F4957-8E36-4760-9671-689699734DA7}" type="pres">
      <dgm:prSet presAssocID="{F168DBDA-D1F7-4A0D-BDB7-AA9CB88E3AB7}" presName="node" presStyleLbl="node1" presStyleIdx="1" presStyleCnt="3" custScaleY="134521">
        <dgm:presLayoutVars>
          <dgm:bulletEnabled val="1"/>
        </dgm:presLayoutVars>
      </dgm:prSet>
      <dgm:spPr/>
    </dgm:pt>
    <dgm:pt modelId="{022AA898-4B60-4A33-AA39-0FC9B7D63A0F}" type="pres">
      <dgm:prSet presAssocID="{1D2A33B6-BEAB-4589-8BB4-D9E1A9050BEB}" presName="sibTrans" presStyleCnt="0"/>
      <dgm:spPr/>
    </dgm:pt>
    <dgm:pt modelId="{0DC51C3D-E878-446E-871F-699FB824B3A8}" type="pres">
      <dgm:prSet presAssocID="{AF61E4FF-EE25-40E1-906A-9D835D29378E}" presName="node" presStyleLbl="node1" presStyleIdx="2" presStyleCnt="3" custScaleY="134521">
        <dgm:presLayoutVars>
          <dgm:bulletEnabled val="1"/>
        </dgm:presLayoutVars>
      </dgm:prSet>
      <dgm:spPr/>
    </dgm:pt>
  </dgm:ptLst>
  <dgm:cxnLst>
    <dgm:cxn modelId="{91968518-341C-47DD-AB75-9D779B544318}" type="presOf" srcId="{F168DBDA-D1F7-4A0D-BDB7-AA9CB88E3AB7}" destId="{982F4957-8E36-4760-9671-689699734DA7}" srcOrd="0" destOrd="0" presId="urn:microsoft.com/office/officeart/2005/8/layout/default#1"/>
    <dgm:cxn modelId="{12D4BC3D-59DB-4AEE-8C7C-A7FEE5EB6FDA}" type="presOf" srcId="{D17BCADC-CE05-4CDC-9C70-2DF1F75692F5}" destId="{892FAD95-21AB-48F8-830E-0A3BAEB7812B}" srcOrd="0" destOrd="0" presId="urn:microsoft.com/office/officeart/2005/8/layout/default#1"/>
    <dgm:cxn modelId="{4F8CC852-805A-4FF3-98C8-87BBAF680165}" srcId="{E7FFA239-FE1A-420D-B9A1-EBD2100C704F}" destId="{F168DBDA-D1F7-4A0D-BDB7-AA9CB88E3AB7}" srcOrd="1" destOrd="0" parTransId="{8818F17B-E009-4C1B-91C3-8237E956390D}" sibTransId="{1D2A33B6-BEAB-4589-8BB4-D9E1A9050BEB}"/>
    <dgm:cxn modelId="{8C529F56-E858-4BDF-9DEB-8E695D81A342}" srcId="{E7FFA239-FE1A-420D-B9A1-EBD2100C704F}" destId="{AF61E4FF-EE25-40E1-906A-9D835D29378E}" srcOrd="2" destOrd="0" parTransId="{17A01198-CB91-47BA-AEAB-100D53B2E982}" sibTransId="{120537DD-FE0F-4187-8471-2B987BBEAB3B}"/>
    <dgm:cxn modelId="{11A45690-C8D3-420F-A2D3-5EB02F9C9921}" type="presOf" srcId="{E7FFA239-FE1A-420D-B9A1-EBD2100C704F}" destId="{9D4488E4-EEAC-4346-A373-A52D77675B82}" srcOrd="0" destOrd="0" presId="urn:microsoft.com/office/officeart/2005/8/layout/default#1"/>
    <dgm:cxn modelId="{71379ECE-9581-4181-AE51-D22967CCA7F2}" srcId="{E7FFA239-FE1A-420D-B9A1-EBD2100C704F}" destId="{D17BCADC-CE05-4CDC-9C70-2DF1F75692F5}" srcOrd="0" destOrd="0" parTransId="{B6E14AE3-CEC9-4280-99C4-5DB60F1D45AB}" sibTransId="{ECEED4DE-F5DA-45E1-9C0C-AD7A14FB5BC2}"/>
    <dgm:cxn modelId="{08B9BBD0-7FEF-4375-9ECB-E9F7194276D2}" type="presOf" srcId="{AF61E4FF-EE25-40E1-906A-9D835D29378E}" destId="{0DC51C3D-E878-446E-871F-699FB824B3A8}" srcOrd="0" destOrd="0" presId="urn:microsoft.com/office/officeart/2005/8/layout/default#1"/>
    <dgm:cxn modelId="{277A3978-0668-449B-9E7F-AC5FA80BE3DD}" type="presParOf" srcId="{9D4488E4-EEAC-4346-A373-A52D77675B82}" destId="{892FAD95-21AB-48F8-830E-0A3BAEB7812B}" srcOrd="0" destOrd="0" presId="urn:microsoft.com/office/officeart/2005/8/layout/default#1"/>
    <dgm:cxn modelId="{B0560441-534E-44A9-A7D0-212E093C15B0}" type="presParOf" srcId="{9D4488E4-EEAC-4346-A373-A52D77675B82}" destId="{7ED780B8-BC07-4E27-A439-6EA77D2F7BD7}" srcOrd="1" destOrd="0" presId="urn:microsoft.com/office/officeart/2005/8/layout/default#1"/>
    <dgm:cxn modelId="{E5E3BB6B-0CA1-4789-A9D8-377A21AA0D8B}" type="presParOf" srcId="{9D4488E4-EEAC-4346-A373-A52D77675B82}" destId="{982F4957-8E36-4760-9671-689699734DA7}" srcOrd="2" destOrd="0" presId="urn:microsoft.com/office/officeart/2005/8/layout/default#1"/>
    <dgm:cxn modelId="{8D56641C-0D7E-4EE7-A02C-EC623197D896}" type="presParOf" srcId="{9D4488E4-EEAC-4346-A373-A52D77675B82}" destId="{022AA898-4B60-4A33-AA39-0FC9B7D63A0F}" srcOrd="3" destOrd="0" presId="urn:microsoft.com/office/officeart/2005/8/layout/default#1"/>
    <dgm:cxn modelId="{4450F477-74E9-4786-99F7-0863BE8DF50C}" type="presParOf" srcId="{9D4488E4-EEAC-4346-A373-A52D77675B82}" destId="{0DC51C3D-E878-446E-871F-699FB824B3A8}" srcOrd="4"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A89252-2443-4BF9-A0C3-28A9942F5EBA}" type="doc">
      <dgm:prSet loTypeId="urn:microsoft.com/office/officeart/2005/8/layout/hProcess9" loCatId="process" qsTypeId="urn:microsoft.com/office/officeart/2005/8/quickstyle/simple1" qsCatId="simple" csTypeId="urn:microsoft.com/office/officeart/2005/8/colors/accent1_2" csCatId="accent1" phldr="1"/>
      <dgm:spPr/>
    </dgm:pt>
    <dgm:pt modelId="{40F5E035-4E72-41D7-9AF9-6FD15C69B493}">
      <dgm:prSet phldrT="[Text]"/>
      <dgm:spPr/>
      <dgm:t>
        <a:bodyPr/>
        <a:lstStyle/>
        <a:p>
          <a:r>
            <a:rPr lang="en-US" dirty="0"/>
            <a:t>Use free public Wi-Fi</a:t>
          </a:r>
        </a:p>
      </dgm:t>
    </dgm:pt>
    <dgm:pt modelId="{1021C405-0903-4144-AB43-2A27B180D739}" type="parTrans" cxnId="{16A48589-BA92-4EC6-B013-9FEE2AFE1391}">
      <dgm:prSet/>
      <dgm:spPr/>
      <dgm:t>
        <a:bodyPr/>
        <a:lstStyle/>
        <a:p>
          <a:endParaRPr lang="en-US"/>
        </a:p>
      </dgm:t>
    </dgm:pt>
    <dgm:pt modelId="{9A93C9E4-E3DA-47B2-AA2C-19B465A73A42}" type="sibTrans" cxnId="{16A48589-BA92-4EC6-B013-9FEE2AFE1391}">
      <dgm:prSet/>
      <dgm:spPr/>
      <dgm:t>
        <a:bodyPr/>
        <a:lstStyle/>
        <a:p>
          <a:endParaRPr lang="en-US"/>
        </a:p>
      </dgm:t>
    </dgm:pt>
    <dgm:pt modelId="{60EB0A57-DAE6-467C-82AA-461E189F16B0}">
      <dgm:prSet phldrT="[Text]"/>
      <dgm:spPr/>
      <dgm:t>
        <a:bodyPr/>
        <a:lstStyle/>
        <a:p>
          <a:r>
            <a:rPr lang="en-US" dirty="0"/>
            <a:t>Spoof IP address and MAC address</a:t>
          </a:r>
        </a:p>
      </dgm:t>
    </dgm:pt>
    <dgm:pt modelId="{E7411115-AA86-4EC1-A63D-56E21610BCCB}" type="parTrans" cxnId="{725E0B41-F6EA-4156-AA1D-1E751C8071A4}">
      <dgm:prSet/>
      <dgm:spPr/>
      <dgm:t>
        <a:bodyPr/>
        <a:lstStyle/>
        <a:p>
          <a:endParaRPr lang="en-US"/>
        </a:p>
      </dgm:t>
    </dgm:pt>
    <dgm:pt modelId="{6A5690B2-3263-4241-8B09-ED04CB21F288}" type="sibTrans" cxnId="{725E0B41-F6EA-4156-AA1D-1E751C8071A4}">
      <dgm:prSet/>
      <dgm:spPr/>
      <dgm:t>
        <a:bodyPr/>
        <a:lstStyle/>
        <a:p>
          <a:endParaRPr lang="en-US"/>
        </a:p>
      </dgm:t>
    </dgm:pt>
    <dgm:pt modelId="{26B558EB-3262-4120-A586-352370D45392}">
      <dgm:prSet phldrT="[Text]"/>
      <dgm:spPr/>
      <dgm:t>
        <a:bodyPr/>
        <a:lstStyle/>
        <a:p>
          <a:r>
            <a:rPr lang="en-US" dirty="0"/>
            <a:t>Send email through anonymous </a:t>
          </a:r>
          <a:br>
            <a:rPr lang="en-US" dirty="0"/>
          </a:br>
          <a:r>
            <a:rPr lang="en-US" dirty="0"/>
            <a:t>email account</a:t>
          </a:r>
        </a:p>
      </dgm:t>
    </dgm:pt>
    <dgm:pt modelId="{A681A904-1AC7-43F1-BE6E-086C1B3574CC}" type="parTrans" cxnId="{0E166239-D604-4615-B3F7-E9A8B88F5136}">
      <dgm:prSet/>
      <dgm:spPr/>
      <dgm:t>
        <a:bodyPr/>
        <a:lstStyle/>
        <a:p>
          <a:endParaRPr lang="en-US"/>
        </a:p>
      </dgm:t>
    </dgm:pt>
    <dgm:pt modelId="{85CC0763-7FCA-40CB-AECC-E2DF4B4150EF}" type="sibTrans" cxnId="{0E166239-D604-4615-B3F7-E9A8B88F5136}">
      <dgm:prSet/>
      <dgm:spPr/>
      <dgm:t>
        <a:bodyPr/>
        <a:lstStyle/>
        <a:p>
          <a:endParaRPr lang="en-US"/>
        </a:p>
      </dgm:t>
    </dgm:pt>
    <dgm:pt modelId="{04C3825F-88EF-4E06-B2C7-C8175500E90F}" type="pres">
      <dgm:prSet presAssocID="{ACA89252-2443-4BF9-A0C3-28A9942F5EBA}" presName="CompostProcess" presStyleCnt="0">
        <dgm:presLayoutVars>
          <dgm:dir/>
          <dgm:resizeHandles val="exact"/>
        </dgm:presLayoutVars>
      </dgm:prSet>
      <dgm:spPr/>
    </dgm:pt>
    <dgm:pt modelId="{8482ADA2-677E-4533-89C8-D17EF024BABD}" type="pres">
      <dgm:prSet presAssocID="{ACA89252-2443-4BF9-A0C3-28A9942F5EBA}" presName="arrow" presStyleLbl="bgShp" presStyleIdx="0" presStyleCnt="1"/>
      <dgm:spPr/>
    </dgm:pt>
    <dgm:pt modelId="{5E7A50FD-8BBD-4BE3-872C-E1FDB7AFB83C}" type="pres">
      <dgm:prSet presAssocID="{ACA89252-2443-4BF9-A0C3-28A9942F5EBA}" presName="linearProcess" presStyleCnt="0"/>
      <dgm:spPr/>
    </dgm:pt>
    <dgm:pt modelId="{8E731A66-59F1-433E-9A93-75486EAAC265}" type="pres">
      <dgm:prSet presAssocID="{40F5E035-4E72-41D7-9AF9-6FD15C69B493}" presName="textNode" presStyleLbl="node1" presStyleIdx="0" presStyleCnt="3">
        <dgm:presLayoutVars>
          <dgm:bulletEnabled val="1"/>
        </dgm:presLayoutVars>
      </dgm:prSet>
      <dgm:spPr/>
    </dgm:pt>
    <dgm:pt modelId="{984F1E2C-8514-4119-AD65-B34C297AA2D8}" type="pres">
      <dgm:prSet presAssocID="{9A93C9E4-E3DA-47B2-AA2C-19B465A73A42}" presName="sibTrans" presStyleCnt="0"/>
      <dgm:spPr/>
    </dgm:pt>
    <dgm:pt modelId="{9631F63F-A706-48C1-B791-16D1B68E3691}" type="pres">
      <dgm:prSet presAssocID="{60EB0A57-DAE6-467C-82AA-461E189F16B0}" presName="textNode" presStyleLbl="node1" presStyleIdx="1" presStyleCnt="3">
        <dgm:presLayoutVars>
          <dgm:bulletEnabled val="1"/>
        </dgm:presLayoutVars>
      </dgm:prSet>
      <dgm:spPr/>
    </dgm:pt>
    <dgm:pt modelId="{FE3D507B-BDC4-4601-AB1A-10A02F3D0F8F}" type="pres">
      <dgm:prSet presAssocID="{6A5690B2-3263-4241-8B09-ED04CB21F288}" presName="sibTrans" presStyleCnt="0"/>
      <dgm:spPr/>
    </dgm:pt>
    <dgm:pt modelId="{544F97C4-AA3E-4882-B6E5-6B82035DDC48}" type="pres">
      <dgm:prSet presAssocID="{26B558EB-3262-4120-A586-352370D45392}" presName="textNode" presStyleLbl="node1" presStyleIdx="2" presStyleCnt="3">
        <dgm:presLayoutVars>
          <dgm:bulletEnabled val="1"/>
        </dgm:presLayoutVars>
      </dgm:prSet>
      <dgm:spPr/>
    </dgm:pt>
  </dgm:ptLst>
  <dgm:cxnLst>
    <dgm:cxn modelId="{4295DF0A-2068-4AB9-8105-AFA6F2274F67}" type="presOf" srcId="{40F5E035-4E72-41D7-9AF9-6FD15C69B493}" destId="{8E731A66-59F1-433E-9A93-75486EAAC265}" srcOrd="0" destOrd="0" presId="urn:microsoft.com/office/officeart/2005/8/layout/hProcess9"/>
    <dgm:cxn modelId="{E9899126-EF22-457F-9950-311DFF177C64}" type="presOf" srcId="{60EB0A57-DAE6-467C-82AA-461E189F16B0}" destId="{9631F63F-A706-48C1-B791-16D1B68E3691}" srcOrd="0" destOrd="0" presId="urn:microsoft.com/office/officeart/2005/8/layout/hProcess9"/>
    <dgm:cxn modelId="{0E166239-D604-4615-B3F7-E9A8B88F5136}" srcId="{ACA89252-2443-4BF9-A0C3-28A9942F5EBA}" destId="{26B558EB-3262-4120-A586-352370D45392}" srcOrd="2" destOrd="0" parTransId="{A681A904-1AC7-43F1-BE6E-086C1B3574CC}" sibTransId="{85CC0763-7FCA-40CB-AECC-E2DF4B4150EF}"/>
    <dgm:cxn modelId="{725E0B41-F6EA-4156-AA1D-1E751C8071A4}" srcId="{ACA89252-2443-4BF9-A0C3-28A9942F5EBA}" destId="{60EB0A57-DAE6-467C-82AA-461E189F16B0}" srcOrd="1" destOrd="0" parTransId="{E7411115-AA86-4EC1-A63D-56E21610BCCB}" sibTransId="{6A5690B2-3263-4241-8B09-ED04CB21F288}"/>
    <dgm:cxn modelId="{16A48589-BA92-4EC6-B013-9FEE2AFE1391}" srcId="{ACA89252-2443-4BF9-A0C3-28A9942F5EBA}" destId="{40F5E035-4E72-41D7-9AF9-6FD15C69B493}" srcOrd="0" destOrd="0" parTransId="{1021C405-0903-4144-AB43-2A27B180D739}" sibTransId="{9A93C9E4-E3DA-47B2-AA2C-19B465A73A42}"/>
    <dgm:cxn modelId="{FF8C6FBD-1A7C-4C74-BAA2-DF25659F1232}" type="presOf" srcId="{ACA89252-2443-4BF9-A0C3-28A9942F5EBA}" destId="{04C3825F-88EF-4E06-B2C7-C8175500E90F}" srcOrd="0" destOrd="0" presId="urn:microsoft.com/office/officeart/2005/8/layout/hProcess9"/>
    <dgm:cxn modelId="{396130C0-BCC8-4631-885E-0083BF57D06D}" type="presOf" srcId="{26B558EB-3262-4120-A586-352370D45392}" destId="{544F97C4-AA3E-4882-B6E5-6B82035DDC48}" srcOrd="0" destOrd="0" presId="urn:microsoft.com/office/officeart/2005/8/layout/hProcess9"/>
    <dgm:cxn modelId="{5F0A6A33-0ABE-4F66-B318-2F68E63B7AE6}" type="presParOf" srcId="{04C3825F-88EF-4E06-B2C7-C8175500E90F}" destId="{8482ADA2-677E-4533-89C8-D17EF024BABD}" srcOrd="0" destOrd="0" presId="urn:microsoft.com/office/officeart/2005/8/layout/hProcess9"/>
    <dgm:cxn modelId="{A78917C0-A43F-44E6-818E-A5AACD202735}" type="presParOf" srcId="{04C3825F-88EF-4E06-B2C7-C8175500E90F}" destId="{5E7A50FD-8BBD-4BE3-872C-E1FDB7AFB83C}" srcOrd="1" destOrd="0" presId="urn:microsoft.com/office/officeart/2005/8/layout/hProcess9"/>
    <dgm:cxn modelId="{EE697F1C-D465-4DDD-9BD7-AE51B4FE7CB8}" type="presParOf" srcId="{5E7A50FD-8BBD-4BE3-872C-E1FDB7AFB83C}" destId="{8E731A66-59F1-433E-9A93-75486EAAC265}" srcOrd="0" destOrd="0" presId="urn:microsoft.com/office/officeart/2005/8/layout/hProcess9"/>
    <dgm:cxn modelId="{15DD614B-F48A-4C70-8A79-54F31958A2A8}" type="presParOf" srcId="{5E7A50FD-8BBD-4BE3-872C-E1FDB7AFB83C}" destId="{984F1E2C-8514-4119-AD65-B34C297AA2D8}" srcOrd="1" destOrd="0" presId="urn:microsoft.com/office/officeart/2005/8/layout/hProcess9"/>
    <dgm:cxn modelId="{3C3C3AD6-A57E-4F60-BE02-491BD313B7CC}" type="presParOf" srcId="{5E7A50FD-8BBD-4BE3-872C-E1FDB7AFB83C}" destId="{9631F63F-A706-48C1-B791-16D1B68E3691}" srcOrd="2" destOrd="0" presId="urn:microsoft.com/office/officeart/2005/8/layout/hProcess9"/>
    <dgm:cxn modelId="{A87B791C-433B-4287-8117-8F897033D233}" type="presParOf" srcId="{5E7A50FD-8BBD-4BE3-872C-E1FDB7AFB83C}" destId="{FE3D507B-BDC4-4601-AB1A-10A02F3D0F8F}" srcOrd="3" destOrd="0" presId="urn:microsoft.com/office/officeart/2005/8/layout/hProcess9"/>
    <dgm:cxn modelId="{2775791E-DBAF-4C0B-A436-40C2EFA4C427}" type="presParOf" srcId="{5E7A50FD-8BBD-4BE3-872C-E1FDB7AFB83C}" destId="{544F97C4-AA3E-4882-B6E5-6B82035DDC48}"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7DB89E-E5C3-48A9-A3CD-407887173675}"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US"/>
        </a:p>
      </dgm:t>
    </dgm:pt>
    <dgm:pt modelId="{3E0C2156-F63E-4602-80B4-AFE39A409283}">
      <dgm:prSet phldrT="[Text]" custT="1"/>
      <dgm:spPr/>
      <dgm:t>
        <a:bodyPr/>
        <a:lstStyle/>
        <a:p>
          <a:r>
            <a:rPr lang="en-US" sz="3600" dirty="0"/>
            <a:t>Message header </a:t>
          </a:r>
          <a:r>
            <a:rPr lang="en-US" sz="3600" b="1" dirty="0">
              <a:solidFill>
                <a:srgbClr val="FFC000"/>
              </a:solidFill>
            </a:rPr>
            <a:t>must</a:t>
          </a:r>
          <a:r>
            <a:rPr lang="en-US" sz="3600" dirty="0"/>
            <a:t> include:</a:t>
          </a:r>
        </a:p>
      </dgm:t>
    </dgm:pt>
    <dgm:pt modelId="{849D9907-77E2-4741-9ACD-B1F65D0B8239}" type="parTrans" cxnId="{4140CC3D-D123-46D9-B10E-8829164115AA}">
      <dgm:prSet/>
      <dgm:spPr/>
      <dgm:t>
        <a:bodyPr/>
        <a:lstStyle/>
        <a:p>
          <a:endParaRPr lang="en-US"/>
        </a:p>
      </dgm:t>
    </dgm:pt>
    <dgm:pt modelId="{40C5CA78-E2B4-484E-B822-8FB38B2907EF}" type="sibTrans" cxnId="{4140CC3D-D123-46D9-B10E-8829164115AA}">
      <dgm:prSet/>
      <dgm:spPr/>
      <dgm:t>
        <a:bodyPr/>
        <a:lstStyle/>
        <a:p>
          <a:endParaRPr lang="en-US"/>
        </a:p>
      </dgm:t>
    </dgm:pt>
    <dgm:pt modelId="{A95B0B15-0A20-45CE-9C8F-53816202138E}">
      <dgm:prSet phldrT="[Text]" custT="1"/>
      <dgm:spPr/>
      <dgm:t>
        <a:bodyPr/>
        <a:lstStyle/>
        <a:p>
          <a:r>
            <a:rPr lang="en-US" sz="3200" dirty="0"/>
            <a:t>From field</a:t>
          </a:r>
          <a:br>
            <a:rPr lang="en-US" sz="3200" dirty="0"/>
          </a:br>
          <a:r>
            <a:rPr lang="en-US" sz="2600" dirty="0"/>
            <a:t>The email address and, optionally, the name of the sender</a:t>
          </a:r>
        </a:p>
      </dgm:t>
    </dgm:pt>
    <dgm:pt modelId="{08551858-1CC8-4EDA-BFA5-9B94F27160C1}" type="parTrans" cxnId="{0D83F596-475F-4C11-BA72-B732E6747514}">
      <dgm:prSet/>
      <dgm:spPr/>
      <dgm:t>
        <a:bodyPr/>
        <a:lstStyle/>
        <a:p>
          <a:endParaRPr lang="en-US"/>
        </a:p>
      </dgm:t>
    </dgm:pt>
    <dgm:pt modelId="{1C73A28E-7A3C-4C7D-9895-A52BDDA452E9}" type="sibTrans" cxnId="{0D83F596-475F-4C11-BA72-B732E6747514}">
      <dgm:prSet/>
      <dgm:spPr/>
      <dgm:t>
        <a:bodyPr/>
        <a:lstStyle/>
        <a:p>
          <a:endParaRPr lang="en-US"/>
        </a:p>
      </dgm:t>
    </dgm:pt>
    <dgm:pt modelId="{0ADFED3D-0414-49BF-8893-DCE66EA3814C}">
      <dgm:prSet phldrT="[Text]" custT="1"/>
      <dgm:spPr/>
      <dgm:t>
        <a:bodyPr/>
        <a:lstStyle/>
        <a:p>
          <a:r>
            <a:rPr lang="en-US" sz="3200" dirty="0"/>
            <a:t>Date field</a:t>
          </a:r>
          <a:br>
            <a:rPr lang="en-US" sz="3100" dirty="0"/>
          </a:br>
          <a:r>
            <a:rPr lang="en-US" sz="2600" dirty="0"/>
            <a:t>The local time and date when the message was written</a:t>
          </a:r>
        </a:p>
      </dgm:t>
    </dgm:pt>
    <dgm:pt modelId="{9BD3E99F-8F81-4079-8B66-AEAB87586045}" type="parTrans" cxnId="{285EEBC9-1603-4036-B01E-F8A7B08F20DF}">
      <dgm:prSet/>
      <dgm:spPr/>
      <dgm:t>
        <a:bodyPr/>
        <a:lstStyle/>
        <a:p>
          <a:endParaRPr lang="en-US"/>
        </a:p>
      </dgm:t>
    </dgm:pt>
    <dgm:pt modelId="{B95E48EB-E86E-4604-9C99-DB673EE52E8A}" type="sibTrans" cxnId="{285EEBC9-1603-4036-B01E-F8A7B08F20DF}">
      <dgm:prSet/>
      <dgm:spPr/>
      <dgm:t>
        <a:bodyPr/>
        <a:lstStyle/>
        <a:p>
          <a:endParaRPr lang="en-US"/>
        </a:p>
      </dgm:t>
    </dgm:pt>
    <dgm:pt modelId="{2DCD9781-6E39-4D39-A643-CDCF22104569}" type="pres">
      <dgm:prSet presAssocID="{317DB89E-E5C3-48A9-A3CD-407887173675}" presName="composite" presStyleCnt="0">
        <dgm:presLayoutVars>
          <dgm:chMax val="1"/>
          <dgm:dir/>
          <dgm:resizeHandles val="exact"/>
        </dgm:presLayoutVars>
      </dgm:prSet>
      <dgm:spPr/>
    </dgm:pt>
    <dgm:pt modelId="{58D6F136-EAF5-461A-A118-9FB48B9081C1}" type="pres">
      <dgm:prSet presAssocID="{3E0C2156-F63E-4602-80B4-AFE39A409283}" presName="roof" presStyleLbl="dkBgShp" presStyleIdx="0" presStyleCnt="2"/>
      <dgm:spPr/>
    </dgm:pt>
    <dgm:pt modelId="{7A1DAF91-20FA-4D41-8B86-A2FBB4D4B42E}" type="pres">
      <dgm:prSet presAssocID="{3E0C2156-F63E-4602-80B4-AFE39A409283}" presName="pillars" presStyleCnt="0"/>
      <dgm:spPr/>
    </dgm:pt>
    <dgm:pt modelId="{E7B2B6B6-E69A-4C00-82C0-BB3FBCB9A821}" type="pres">
      <dgm:prSet presAssocID="{3E0C2156-F63E-4602-80B4-AFE39A409283}" presName="pillar1" presStyleLbl="node1" presStyleIdx="0" presStyleCnt="2">
        <dgm:presLayoutVars>
          <dgm:bulletEnabled val="1"/>
        </dgm:presLayoutVars>
      </dgm:prSet>
      <dgm:spPr/>
    </dgm:pt>
    <dgm:pt modelId="{10A5D298-0560-47F2-96B9-1F05C7752D9C}" type="pres">
      <dgm:prSet presAssocID="{0ADFED3D-0414-49BF-8893-DCE66EA3814C}" presName="pillarX" presStyleLbl="node1" presStyleIdx="1" presStyleCnt="2">
        <dgm:presLayoutVars>
          <dgm:bulletEnabled val="1"/>
        </dgm:presLayoutVars>
      </dgm:prSet>
      <dgm:spPr/>
    </dgm:pt>
    <dgm:pt modelId="{AE7CF81B-0A82-4C4F-BF3B-7BC9680B7F18}" type="pres">
      <dgm:prSet presAssocID="{3E0C2156-F63E-4602-80B4-AFE39A409283}" presName="base" presStyleLbl="dkBgShp" presStyleIdx="1" presStyleCnt="2"/>
      <dgm:spPr/>
    </dgm:pt>
  </dgm:ptLst>
  <dgm:cxnLst>
    <dgm:cxn modelId="{E33E0B3C-5390-476B-914C-2370172AE4DD}" type="presOf" srcId="{317DB89E-E5C3-48A9-A3CD-407887173675}" destId="{2DCD9781-6E39-4D39-A643-CDCF22104569}" srcOrd="0" destOrd="0" presId="urn:microsoft.com/office/officeart/2005/8/layout/hList3"/>
    <dgm:cxn modelId="{4140CC3D-D123-46D9-B10E-8829164115AA}" srcId="{317DB89E-E5C3-48A9-A3CD-407887173675}" destId="{3E0C2156-F63E-4602-80B4-AFE39A409283}" srcOrd="0" destOrd="0" parTransId="{849D9907-77E2-4741-9ACD-B1F65D0B8239}" sibTransId="{40C5CA78-E2B4-484E-B822-8FB38B2907EF}"/>
    <dgm:cxn modelId="{A5664C49-B1A1-41C8-ADB7-77FD68C885F3}" type="presOf" srcId="{3E0C2156-F63E-4602-80B4-AFE39A409283}" destId="{58D6F136-EAF5-461A-A118-9FB48B9081C1}" srcOrd="0" destOrd="0" presId="urn:microsoft.com/office/officeart/2005/8/layout/hList3"/>
    <dgm:cxn modelId="{0D83F596-475F-4C11-BA72-B732E6747514}" srcId="{3E0C2156-F63E-4602-80B4-AFE39A409283}" destId="{A95B0B15-0A20-45CE-9C8F-53816202138E}" srcOrd="0" destOrd="0" parTransId="{08551858-1CC8-4EDA-BFA5-9B94F27160C1}" sibTransId="{1C73A28E-7A3C-4C7D-9895-A52BDDA452E9}"/>
    <dgm:cxn modelId="{285EEBC9-1603-4036-B01E-F8A7B08F20DF}" srcId="{3E0C2156-F63E-4602-80B4-AFE39A409283}" destId="{0ADFED3D-0414-49BF-8893-DCE66EA3814C}" srcOrd="1" destOrd="0" parTransId="{9BD3E99F-8F81-4079-8B66-AEAB87586045}" sibTransId="{B95E48EB-E86E-4604-9C99-DB673EE52E8A}"/>
    <dgm:cxn modelId="{0CD24BCC-B088-4D23-A902-E5436CBA5E82}" type="presOf" srcId="{0ADFED3D-0414-49BF-8893-DCE66EA3814C}" destId="{10A5D298-0560-47F2-96B9-1F05C7752D9C}" srcOrd="0" destOrd="0" presId="urn:microsoft.com/office/officeart/2005/8/layout/hList3"/>
    <dgm:cxn modelId="{CF0F0DD4-E782-4D69-AFFC-0FDEF70F1A03}" type="presOf" srcId="{A95B0B15-0A20-45CE-9C8F-53816202138E}" destId="{E7B2B6B6-E69A-4C00-82C0-BB3FBCB9A821}" srcOrd="0" destOrd="0" presId="urn:microsoft.com/office/officeart/2005/8/layout/hList3"/>
    <dgm:cxn modelId="{7C0A8E63-C336-462C-AB14-DB923BA66706}" type="presParOf" srcId="{2DCD9781-6E39-4D39-A643-CDCF22104569}" destId="{58D6F136-EAF5-461A-A118-9FB48B9081C1}" srcOrd="0" destOrd="0" presId="urn:microsoft.com/office/officeart/2005/8/layout/hList3"/>
    <dgm:cxn modelId="{D80FDFBF-CD43-4226-BC31-974E6D70B2A3}" type="presParOf" srcId="{2DCD9781-6E39-4D39-A643-CDCF22104569}" destId="{7A1DAF91-20FA-4D41-8B86-A2FBB4D4B42E}" srcOrd="1" destOrd="0" presId="urn:microsoft.com/office/officeart/2005/8/layout/hList3"/>
    <dgm:cxn modelId="{1BADED00-8DA1-41D4-AD0A-3B6813FED8A1}" type="presParOf" srcId="{7A1DAF91-20FA-4D41-8B86-A2FBB4D4B42E}" destId="{E7B2B6B6-E69A-4C00-82C0-BB3FBCB9A821}" srcOrd="0" destOrd="0" presId="urn:microsoft.com/office/officeart/2005/8/layout/hList3"/>
    <dgm:cxn modelId="{0483249F-0943-4246-A103-D40C1C46F55C}" type="presParOf" srcId="{7A1DAF91-20FA-4D41-8B86-A2FBB4D4B42E}" destId="{10A5D298-0560-47F2-96B9-1F05C7752D9C}" srcOrd="1" destOrd="0" presId="urn:microsoft.com/office/officeart/2005/8/layout/hList3"/>
    <dgm:cxn modelId="{10F13180-18C4-43D8-B503-BED5AD2B3F46}" type="presParOf" srcId="{2DCD9781-6E39-4D39-A643-CDCF22104569}" destId="{AE7CF81B-0A82-4C4F-BF3B-7BC9680B7F18}"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7DB89E-E5C3-48A9-A3CD-407887173675}" type="doc">
      <dgm:prSet loTypeId="urn:microsoft.com/office/officeart/2005/8/layout/hList3" loCatId="list" qsTypeId="urn:microsoft.com/office/officeart/2005/8/quickstyle/simple1" qsCatId="simple" csTypeId="urn:microsoft.com/office/officeart/2005/8/colors/accent2_1" csCatId="accent2" phldr="1"/>
      <dgm:spPr/>
      <dgm:t>
        <a:bodyPr/>
        <a:lstStyle/>
        <a:p>
          <a:endParaRPr lang="en-US"/>
        </a:p>
      </dgm:t>
    </dgm:pt>
    <dgm:pt modelId="{3E0C2156-F63E-4602-80B4-AFE39A409283}">
      <dgm:prSet phldrT="[Text]" custT="1"/>
      <dgm:spPr/>
      <dgm:t>
        <a:bodyPr/>
        <a:lstStyle/>
        <a:p>
          <a:r>
            <a:rPr lang="en-US" sz="3600" dirty="0"/>
            <a:t>Message header </a:t>
          </a:r>
          <a:r>
            <a:rPr lang="en-US" sz="3600" b="1" dirty="0">
              <a:solidFill>
                <a:srgbClr val="0070C0"/>
              </a:solidFill>
            </a:rPr>
            <a:t>should</a:t>
          </a:r>
          <a:r>
            <a:rPr lang="en-US" sz="3600" dirty="0"/>
            <a:t> include:</a:t>
          </a:r>
        </a:p>
      </dgm:t>
    </dgm:pt>
    <dgm:pt modelId="{849D9907-77E2-4741-9ACD-B1F65D0B8239}" type="parTrans" cxnId="{4140CC3D-D123-46D9-B10E-8829164115AA}">
      <dgm:prSet/>
      <dgm:spPr/>
      <dgm:t>
        <a:bodyPr/>
        <a:lstStyle/>
        <a:p>
          <a:endParaRPr lang="en-US"/>
        </a:p>
      </dgm:t>
    </dgm:pt>
    <dgm:pt modelId="{40C5CA78-E2B4-484E-B822-8FB38B2907EF}" type="sibTrans" cxnId="{4140CC3D-D123-46D9-B10E-8829164115AA}">
      <dgm:prSet/>
      <dgm:spPr/>
      <dgm:t>
        <a:bodyPr/>
        <a:lstStyle/>
        <a:p>
          <a:endParaRPr lang="en-US"/>
        </a:p>
      </dgm:t>
    </dgm:pt>
    <dgm:pt modelId="{A95B0B15-0A20-45CE-9C8F-53816202138E}">
      <dgm:prSet phldrT="[Text]" custT="1"/>
      <dgm:spPr/>
      <dgm:t>
        <a:bodyPr/>
        <a:lstStyle/>
        <a:p>
          <a:r>
            <a:rPr lang="en-US" sz="3200" dirty="0"/>
            <a:t>Message-ID field</a:t>
          </a:r>
          <a:br>
            <a:rPr lang="en-US" sz="3200" dirty="0"/>
          </a:br>
          <a:r>
            <a:rPr lang="en-US" sz="2600" dirty="0"/>
            <a:t>An automatically generated field</a:t>
          </a:r>
        </a:p>
      </dgm:t>
    </dgm:pt>
    <dgm:pt modelId="{08551858-1CC8-4EDA-BFA5-9B94F27160C1}" type="parTrans" cxnId="{0D83F596-475F-4C11-BA72-B732E6747514}">
      <dgm:prSet/>
      <dgm:spPr/>
      <dgm:t>
        <a:bodyPr/>
        <a:lstStyle/>
        <a:p>
          <a:endParaRPr lang="en-US"/>
        </a:p>
      </dgm:t>
    </dgm:pt>
    <dgm:pt modelId="{1C73A28E-7A3C-4C7D-9895-A52BDDA452E9}" type="sibTrans" cxnId="{0D83F596-475F-4C11-BA72-B732E6747514}">
      <dgm:prSet/>
      <dgm:spPr/>
      <dgm:t>
        <a:bodyPr/>
        <a:lstStyle/>
        <a:p>
          <a:endParaRPr lang="en-US"/>
        </a:p>
      </dgm:t>
    </dgm:pt>
    <dgm:pt modelId="{0ADFED3D-0414-49BF-8893-DCE66EA3814C}">
      <dgm:prSet phldrT="[Text]" custT="1"/>
      <dgm:spPr/>
      <dgm:t>
        <a:bodyPr/>
        <a:lstStyle/>
        <a:p>
          <a:r>
            <a:rPr lang="en-US" sz="3200" dirty="0"/>
            <a:t>In-Reply-To field</a:t>
          </a:r>
          <a:br>
            <a:rPr lang="en-US" sz="3100" dirty="0"/>
          </a:br>
          <a:r>
            <a:rPr lang="en-US" sz="2600" dirty="0"/>
            <a:t>The message-ID of the message that this is a reply to</a:t>
          </a:r>
        </a:p>
      </dgm:t>
    </dgm:pt>
    <dgm:pt modelId="{9BD3E99F-8F81-4079-8B66-AEAB87586045}" type="parTrans" cxnId="{285EEBC9-1603-4036-B01E-F8A7B08F20DF}">
      <dgm:prSet/>
      <dgm:spPr/>
      <dgm:t>
        <a:bodyPr/>
        <a:lstStyle/>
        <a:p>
          <a:endParaRPr lang="en-US"/>
        </a:p>
      </dgm:t>
    </dgm:pt>
    <dgm:pt modelId="{B95E48EB-E86E-4604-9C99-DB673EE52E8A}" type="sibTrans" cxnId="{285EEBC9-1603-4036-B01E-F8A7B08F20DF}">
      <dgm:prSet/>
      <dgm:spPr/>
      <dgm:t>
        <a:bodyPr/>
        <a:lstStyle/>
        <a:p>
          <a:endParaRPr lang="en-US"/>
        </a:p>
      </dgm:t>
    </dgm:pt>
    <dgm:pt modelId="{2DCD9781-6E39-4D39-A643-CDCF22104569}" type="pres">
      <dgm:prSet presAssocID="{317DB89E-E5C3-48A9-A3CD-407887173675}" presName="composite" presStyleCnt="0">
        <dgm:presLayoutVars>
          <dgm:chMax val="1"/>
          <dgm:dir/>
          <dgm:resizeHandles val="exact"/>
        </dgm:presLayoutVars>
      </dgm:prSet>
      <dgm:spPr/>
    </dgm:pt>
    <dgm:pt modelId="{58D6F136-EAF5-461A-A118-9FB48B9081C1}" type="pres">
      <dgm:prSet presAssocID="{3E0C2156-F63E-4602-80B4-AFE39A409283}" presName="roof" presStyleLbl="dkBgShp" presStyleIdx="0" presStyleCnt="2"/>
      <dgm:spPr/>
    </dgm:pt>
    <dgm:pt modelId="{7A1DAF91-20FA-4D41-8B86-A2FBB4D4B42E}" type="pres">
      <dgm:prSet presAssocID="{3E0C2156-F63E-4602-80B4-AFE39A409283}" presName="pillars" presStyleCnt="0"/>
      <dgm:spPr/>
    </dgm:pt>
    <dgm:pt modelId="{E7B2B6B6-E69A-4C00-82C0-BB3FBCB9A821}" type="pres">
      <dgm:prSet presAssocID="{3E0C2156-F63E-4602-80B4-AFE39A409283}" presName="pillar1" presStyleLbl="node1" presStyleIdx="0" presStyleCnt="2">
        <dgm:presLayoutVars>
          <dgm:bulletEnabled val="1"/>
        </dgm:presLayoutVars>
      </dgm:prSet>
      <dgm:spPr/>
    </dgm:pt>
    <dgm:pt modelId="{10A5D298-0560-47F2-96B9-1F05C7752D9C}" type="pres">
      <dgm:prSet presAssocID="{0ADFED3D-0414-49BF-8893-DCE66EA3814C}" presName="pillarX" presStyleLbl="node1" presStyleIdx="1" presStyleCnt="2">
        <dgm:presLayoutVars>
          <dgm:bulletEnabled val="1"/>
        </dgm:presLayoutVars>
      </dgm:prSet>
      <dgm:spPr/>
    </dgm:pt>
    <dgm:pt modelId="{AE7CF81B-0A82-4C4F-BF3B-7BC9680B7F18}" type="pres">
      <dgm:prSet presAssocID="{3E0C2156-F63E-4602-80B4-AFE39A409283}" presName="base" presStyleLbl="dkBgShp" presStyleIdx="1" presStyleCnt="2"/>
      <dgm:spPr/>
    </dgm:pt>
  </dgm:ptLst>
  <dgm:cxnLst>
    <dgm:cxn modelId="{D978BC22-45A2-440B-8F50-D40E4E633C4B}" type="presOf" srcId="{317DB89E-E5C3-48A9-A3CD-407887173675}" destId="{2DCD9781-6E39-4D39-A643-CDCF22104569}" srcOrd="0" destOrd="0" presId="urn:microsoft.com/office/officeart/2005/8/layout/hList3"/>
    <dgm:cxn modelId="{4140CC3D-D123-46D9-B10E-8829164115AA}" srcId="{317DB89E-E5C3-48A9-A3CD-407887173675}" destId="{3E0C2156-F63E-4602-80B4-AFE39A409283}" srcOrd="0" destOrd="0" parTransId="{849D9907-77E2-4741-9ACD-B1F65D0B8239}" sibTransId="{40C5CA78-E2B4-484E-B822-8FB38B2907EF}"/>
    <dgm:cxn modelId="{6DAF0F64-7430-485E-BF79-2BBD9EF54445}" type="presOf" srcId="{A95B0B15-0A20-45CE-9C8F-53816202138E}" destId="{E7B2B6B6-E69A-4C00-82C0-BB3FBCB9A821}" srcOrd="0" destOrd="0" presId="urn:microsoft.com/office/officeart/2005/8/layout/hList3"/>
    <dgm:cxn modelId="{59A78051-525D-4BB9-BAE2-1F2FB758E3B6}" type="presOf" srcId="{0ADFED3D-0414-49BF-8893-DCE66EA3814C}" destId="{10A5D298-0560-47F2-96B9-1F05C7752D9C}" srcOrd="0" destOrd="0" presId="urn:microsoft.com/office/officeart/2005/8/layout/hList3"/>
    <dgm:cxn modelId="{ADEE2F95-7BC7-4C63-8718-AEF14BB7E6F8}" type="presOf" srcId="{3E0C2156-F63E-4602-80B4-AFE39A409283}" destId="{58D6F136-EAF5-461A-A118-9FB48B9081C1}" srcOrd="0" destOrd="0" presId="urn:microsoft.com/office/officeart/2005/8/layout/hList3"/>
    <dgm:cxn modelId="{0D83F596-475F-4C11-BA72-B732E6747514}" srcId="{3E0C2156-F63E-4602-80B4-AFE39A409283}" destId="{A95B0B15-0A20-45CE-9C8F-53816202138E}" srcOrd="0" destOrd="0" parTransId="{08551858-1CC8-4EDA-BFA5-9B94F27160C1}" sibTransId="{1C73A28E-7A3C-4C7D-9895-A52BDDA452E9}"/>
    <dgm:cxn modelId="{285EEBC9-1603-4036-B01E-F8A7B08F20DF}" srcId="{3E0C2156-F63E-4602-80B4-AFE39A409283}" destId="{0ADFED3D-0414-49BF-8893-DCE66EA3814C}" srcOrd="1" destOrd="0" parTransId="{9BD3E99F-8F81-4079-8B66-AEAB87586045}" sibTransId="{B95E48EB-E86E-4604-9C99-DB673EE52E8A}"/>
    <dgm:cxn modelId="{323D8583-5092-4990-B669-F49ABF18B3E8}" type="presParOf" srcId="{2DCD9781-6E39-4D39-A643-CDCF22104569}" destId="{58D6F136-EAF5-461A-A118-9FB48B9081C1}" srcOrd="0" destOrd="0" presId="urn:microsoft.com/office/officeart/2005/8/layout/hList3"/>
    <dgm:cxn modelId="{CEF310C1-D3DB-4C6A-9BBF-918721DDECFB}" type="presParOf" srcId="{2DCD9781-6E39-4D39-A643-CDCF22104569}" destId="{7A1DAF91-20FA-4D41-8B86-A2FBB4D4B42E}" srcOrd="1" destOrd="0" presId="urn:microsoft.com/office/officeart/2005/8/layout/hList3"/>
    <dgm:cxn modelId="{CF2DFEEA-37F2-44F1-A26E-63E905F43FA6}" type="presParOf" srcId="{7A1DAF91-20FA-4D41-8B86-A2FBB4D4B42E}" destId="{E7B2B6B6-E69A-4C00-82C0-BB3FBCB9A821}" srcOrd="0" destOrd="0" presId="urn:microsoft.com/office/officeart/2005/8/layout/hList3"/>
    <dgm:cxn modelId="{42A1ADD2-7CAF-46D6-8494-C27F93070C76}" type="presParOf" srcId="{7A1DAF91-20FA-4D41-8B86-A2FBB4D4B42E}" destId="{10A5D298-0560-47F2-96B9-1F05C7752D9C}" srcOrd="1" destOrd="0" presId="urn:microsoft.com/office/officeart/2005/8/layout/hList3"/>
    <dgm:cxn modelId="{BE42C81A-8EDC-4DD9-99E0-22010BD91B65}" type="presParOf" srcId="{2DCD9781-6E39-4D39-A643-CDCF22104569}" destId="{AE7CF81B-0A82-4C4F-BF3B-7BC9680B7F18}"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01EA8FE-BA33-43A6-A69D-48BB1455D421}" type="doc">
      <dgm:prSet loTypeId="urn:microsoft.com/office/officeart/2005/8/layout/default" loCatId="list" qsTypeId="urn:microsoft.com/office/officeart/2005/8/quickstyle/simple1" qsCatId="simple" csTypeId="urn:microsoft.com/office/officeart/2005/8/colors/accent1_3" csCatId="accent1" phldr="1"/>
      <dgm:spPr/>
      <dgm:t>
        <a:bodyPr/>
        <a:lstStyle/>
        <a:p>
          <a:endParaRPr lang="en-US"/>
        </a:p>
      </dgm:t>
    </dgm:pt>
    <dgm:pt modelId="{AC6BD019-470F-4139-B9D3-95EE41D3531E}">
      <dgm:prSet phldrT="[Text]"/>
      <dgm:spPr/>
      <dgm:t>
        <a:bodyPr/>
        <a:lstStyle/>
        <a:p>
          <a:r>
            <a:rPr lang="en-US" dirty="0"/>
            <a:t>To</a:t>
          </a:r>
        </a:p>
      </dgm:t>
    </dgm:pt>
    <dgm:pt modelId="{89449BE1-56DF-4317-A312-46E5CE3384F2}" type="parTrans" cxnId="{DAF32269-9A83-4CF7-B27E-2B5176EF62BF}">
      <dgm:prSet/>
      <dgm:spPr/>
      <dgm:t>
        <a:bodyPr/>
        <a:lstStyle/>
        <a:p>
          <a:endParaRPr lang="en-US"/>
        </a:p>
      </dgm:t>
    </dgm:pt>
    <dgm:pt modelId="{82894420-B8D1-4C21-A052-49EAD7BFACA3}" type="sibTrans" cxnId="{DAF32269-9A83-4CF7-B27E-2B5176EF62BF}">
      <dgm:prSet/>
      <dgm:spPr/>
      <dgm:t>
        <a:bodyPr/>
        <a:lstStyle/>
        <a:p>
          <a:endParaRPr lang="en-US"/>
        </a:p>
      </dgm:t>
    </dgm:pt>
    <dgm:pt modelId="{B6E3238E-1634-45C5-8A5C-A875D6737B16}">
      <dgm:prSet phldrT="[Text]"/>
      <dgm:spPr/>
      <dgm:t>
        <a:bodyPr/>
        <a:lstStyle/>
        <a:p>
          <a:r>
            <a:rPr lang="en-US" dirty="0"/>
            <a:t>Subject</a:t>
          </a:r>
        </a:p>
      </dgm:t>
    </dgm:pt>
    <dgm:pt modelId="{36619781-50D4-4878-A1B0-56A15FC2F6E2}" type="parTrans" cxnId="{2728EAD6-E2E4-49A2-8BE3-49138A199771}">
      <dgm:prSet/>
      <dgm:spPr/>
      <dgm:t>
        <a:bodyPr/>
        <a:lstStyle/>
        <a:p>
          <a:endParaRPr lang="en-US"/>
        </a:p>
      </dgm:t>
    </dgm:pt>
    <dgm:pt modelId="{6ECD8947-1E37-4005-BFCB-286C7324B709}" type="sibTrans" cxnId="{2728EAD6-E2E4-49A2-8BE3-49138A199771}">
      <dgm:prSet/>
      <dgm:spPr/>
      <dgm:t>
        <a:bodyPr/>
        <a:lstStyle/>
        <a:p>
          <a:endParaRPr lang="en-US"/>
        </a:p>
      </dgm:t>
    </dgm:pt>
    <dgm:pt modelId="{0D0CC0E0-4B00-4329-A1DB-03F671E4B9BA}">
      <dgm:prSet phldrT="[Text]"/>
      <dgm:spPr/>
      <dgm:t>
        <a:bodyPr/>
        <a:lstStyle/>
        <a:p>
          <a:r>
            <a:rPr lang="en-US" dirty="0"/>
            <a:t>Cc/Bcc</a:t>
          </a:r>
        </a:p>
      </dgm:t>
    </dgm:pt>
    <dgm:pt modelId="{FEBC4DDB-6F67-4515-BB42-476F8F7049E0}" type="parTrans" cxnId="{917989C6-54B9-4C67-85C6-67A351FF9196}">
      <dgm:prSet/>
      <dgm:spPr/>
      <dgm:t>
        <a:bodyPr/>
        <a:lstStyle/>
        <a:p>
          <a:endParaRPr lang="en-US"/>
        </a:p>
      </dgm:t>
    </dgm:pt>
    <dgm:pt modelId="{20F79342-3641-409A-8A7A-F4716CDBDDC7}" type="sibTrans" cxnId="{917989C6-54B9-4C67-85C6-67A351FF9196}">
      <dgm:prSet/>
      <dgm:spPr/>
      <dgm:t>
        <a:bodyPr/>
        <a:lstStyle/>
        <a:p>
          <a:endParaRPr lang="en-US"/>
        </a:p>
      </dgm:t>
    </dgm:pt>
    <dgm:pt modelId="{55DDC69F-DE7C-4B24-BB24-CF4D6ACD9AA1}">
      <dgm:prSet phldrT="[Text]"/>
      <dgm:spPr/>
      <dgm:t>
        <a:bodyPr/>
        <a:lstStyle/>
        <a:p>
          <a:r>
            <a:rPr lang="en-US" dirty="0"/>
            <a:t>Content-Type</a:t>
          </a:r>
        </a:p>
      </dgm:t>
    </dgm:pt>
    <dgm:pt modelId="{789611F8-FB0A-4E20-BEE9-612908960448}" type="parTrans" cxnId="{5F2D3731-7E4F-4483-AF1B-C13D9013B8D9}">
      <dgm:prSet/>
      <dgm:spPr/>
      <dgm:t>
        <a:bodyPr/>
        <a:lstStyle/>
        <a:p>
          <a:endParaRPr lang="en-US"/>
        </a:p>
      </dgm:t>
    </dgm:pt>
    <dgm:pt modelId="{3C266079-7BB3-4731-88B2-157EE62D63A3}" type="sibTrans" cxnId="{5F2D3731-7E4F-4483-AF1B-C13D9013B8D9}">
      <dgm:prSet/>
      <dgm:spPr/>
      <dgm:t>
        <a:bodyPr/>
        <a:lstStyle/>
        <a:p>
          <a:endParaRPr lang="en-US"/>
        </a:p>
      </dgm:t>
    </dgm:pt>
    <dgm:pt modelId="{00510285-02DE-46C9-AC52-1C335228C983}">
      <dgm:prSet phldrT="[Text]"/>
      <dgm:spPr/>
      <dgm:t>
        <a:bodyPr/>
        <a:lstStyle/>
        <a:p>
          <a:r>
            <a:rPr lang="en-US" dirty="0"/>
            <a:t>Precedence</a:t>
          </a:r>
        </a:p>
      </dgm:t>
    </dgm:pt>
    <dgm:pt modelId="{5B5720FC-95B1-47BF-A916-E63DC68BFF1F}" type="parTrans" cxnId="{A9970B2E-78FD-4553-BC9A-86465DD0BEE4}">
      <dgm:prSet/>
      <dgm:spPr/>
      <dgm:t>
        <a:bodyPr/>
        <a:lstStyle/>
        <a:p>
          <a:endParaRPr lang="en-US"/>
        </a:p>
      </dgm:t>
    </dgm:pt>
    <dgm:pt modelId="{59EF8BCE-51DD-40F9-B8B7-9A7D10EEF775}" type="sibTrans" cxnId="{A9970B2E-78FD-4553-BC9A-86465DD0BEE4}">
      <dgm:prSet/>
      <dgm:spPr/>
      <dgm:t>
        <a:bodyPr/>
        <a:lstStyle/>
        <a:p>
          <a:endParaRPr lang="en-US"/>
        </a:p>
      </dgm:t>
    </dgm:pt>
    <dgm:pt modelId="{F0EF2AA4-53F1-4312-AE6B-3E8917E0DD81}">
      <dgm:prSet/>
      <dgm:spPr/>
      <dgm:t>
        <a:bodyPr/>
        <a:lstStyle/>
        <a:p>
          <a:r>
            <a:rPr lang="en-US" dirty="0"/>
            <a:t>Received</a:t>
          </a:r>
        </a:p>
      </dgm:t>
    </dgm:pt>
    <dgm:pt modelId="{39F34D07-EB69-4EFC-894E-B70F38097C42}" type="parTrans" cxnId="{EFF0938A-75B2-4644-8723-D96A66B748EC}">
      <dgm:prSet/>
      <dgm:spPr/>
      <dgm:t>
        <a:bodyPr/>
        <a:lstStyle/>
        <a:p>
          <a:endParaRPr lang="en-US"/>
        </a:p>
      </dgm:t>
    </dgm:pt>
    <dgm:pt modelId="{AC42CBAC-AA5D-4881-98EC-628101893A81}" type="sibTrans" cxnId="{EFF0938A-75B2-4644-8723-D96A66B748EC}">
      <dgm:prSet/>
      <dgm:spPr/>
      <dgm:t>
        <a:bodyPr/>
        <a:lstStyle/>
        <a:p>
          <a:endParaRPr lang="en-US"/>
        </a:p>
      </dgm:t>
    </dgm:pt>
    <dgm:pt modelId="{64FE3E56-8EBE-4F38-9C2C-DBCE5AED79F8}">
      <dgm:prSet/>
      <dgm:spPr/>
      <dgm:t>
        <a:bodyPr/>
        <a:lstStyle/>
        <a:p>
          <a:r>
            <a:rPr lang="en-US" dirty="0"/>
            <a:t>References</a:t>
          </a:r>
        </a:p>
      </dgm:t>
    </dgm:pt>
    <dgm:pt modelId="{B23073B9-FF6C-427B-826E-B908F2A2058C}" type="parTrans" cxnId="{F90C4A53-E773-4410-8ED5-FE3DC84AE9F8}">
      <dgm:prSet/>
      <dgm:spPr/>
      <dgm:t>
        <a:bodyPr/>
        <a:lstStyle/>
        <a:p>
          <a:endParaRPr lang="en-US"/>
        </a:p>
      </dgm:t>
    </dgm:pt>
    <dgm:pt modelId="{877A8874-3AE5-430E-8352-BC3713843758}" type="sibTrans" cxnId="{F90C4A53-E773-4410-8ED5-FE3DC84AE9F8}">
      <dgm:prSet/>
      <dgm:spPr/>
      <dgm:t>
        <a:bodyPr/>
        <a:lstStyle/>
        <a:p>
          <a:endParaRPr lang="en-US"/>
        </a:p>
      </dgm:t>
    </dgm:pt>
    <dgm:pt modelId="{2A680BBF-C5EC-482D-872C-91B6FFCD131A}">
      <dgm:prSet/>
      <dgm:spPr/>
      <dgm:t>
        <a:bodyPr/>
        <a:lstStyle/>
        <a:p>
          <a:r>
            <a:rPr lang="en-US" dirty="0"/>
            <a:t>Reply-To</a:t>
          </a:r>
        </a:p>
      </dgm:t>
    </dgm:pt>
    <dgm:pt modelId="{60E2C8A0-EFF9-4553-8BA6-6B24B4982778}" type="parTrans" cxnId="{FA0BC5F9-BF02-4A4E-9C40-525E3A0ED9FE}">
      <dgm:prSet/>
      <dgm:spPr/>
      <dgm:t>
        <a:bodyPr/>
        <a:lstStyle/>
        <a:p>
          <a:endParaRPr lang="en-US"/>
        </a:p>
      </dgm:t>
    </dgm:pt>
    <dgm:pt modelId="{B187F03B-09F7-4AD2-98C8-73D46A79968B}" type="sibTrans" cxnId="{FA0BC5F9-BF02-4A4E-9C40-525E3A0ED9FE}">
      <dgm:prSet/>
      <dgm:spPr/>
      <dgm:t>
        <a:bodyPr/>
        <a:lstStyle/>
        <a:p>
          <a:endParaRPr lang="en-US"/>
        </a:p>
      </dgm:t>
    </dgm:pt>
    <dgm:pt modelId="{E581A7F8-9E41-46BF-903A-EAA32B3C003B}">
      <dgm:prSet/>
      <dgm:spPr/>
      <dgm:t>
        <a:bodyPr/>
        <a:lstStyle/>
        <a:p>
          <a:r>
            <a:rPr lang="en-US" dirty="0"/>
            <a:t>Sender</a:t>
          </a:r>
        </a:p>
      </dgm:t>
    </dgm:pt>
    <dgm:pt modelId="{0730A517-0822-4716-AA8E-ECA0E6F09C22}" type="parTrans" cxnId="{7F82A77C-1868-481E-A933-14FBE3FE5885}">
      <dgm:prSet/>
      <dgm:spPr/>
      <dgm:t>
        <a:bodyPr/>
        <a:lstStyle/>
        <a:p>
          <a:endParaRPr lang="en-US"/>
        </a:p>
      </dgm:t>
    </dgm:pt>
    <dgm:pt modelId="{8691CFE8-846D-4F16-9447-4C2F02435D13}" type="sibTrans" cxnId="{7F82A77C-1868-481E-A933-14FBE3FE5885}">
      <dgm:prSet/>
      <dgm:spPr/>
      <dgm:t>
        <a:bodyPr/>
        <a:lstStyle/>
        <a:p>
          <a:endParaRPr lang="en-US"/>
        </a:p>
      </dgm:t>
    </dgm:pt>
    <dgm:pt modelId="{E46E7458-2D1E-46AC-99DA-40745D5C6B48}" type="pres">
      <dgm:prSet presAssocID="{001EA8FE-BA33-43A6-A69D-48BB1455D421}" presName="diagram" presStyleCnt="0">
        <dgm:presLayoutVars>
          <dgm:dir/>
          <dgm:resizeHandles val="exact"/>
        </dgm:presLayoutVars>
      </dgm:prSet>
      <dgm:spPr/>
    </dgm:pt>
    <dgm:pt modelId="{8D99CB94-F216-456F-BAF5-47BA1221A032}" type="pres">
      <dgm:prSet presAssocID="{AC6BD019-470F-4139-B9D3-95EE41D3531E}" presName="node" presStyleLbl="node1" presStyleIdx="0" presStyleCnt="9">
        <dgm:presLayoutVars>
          <dgm:bulletEnabled val="1"/>
        </dgm:presLayoutVars>
      </dgm:prSet>
      <dgm:spPr/>
    </dgm:pt>
    <dgm:pt modelId="{48D6C82A-B03F-4E09-832A-70A27066EF71}" type="pres">
      <dgm:prSet presAssocID="{82894420-B8D1-4C21-A052-49EAD7BFACA3}" presName="sibTrans" presStyleCnt="0"/>
      <dgm:spPr/>
    </dgm:pt>
    <dgm:pt modelId="{3DDD4460-EFFA-46C7-8830-76E11EE9F81E}" type="pres">
      <dgm:prSet presAssocID="{B6E3238E-1634-45C5-8A5C-A875D6737B16}" presName="node" presStyleLbl="node1" presStyleIdx="1" presStyleCnt="9">
        <dgm:presLayoutVars>
          <dgm:bulletEnabled val="1"/>
        </dgm:presLayoutVars>
      </dgm:prSet>
      <dgm:spPr/>
    </dgm:pt>
    <dgm:pt modelId="{19B2344B-7171-4E5E-A7EC-B14777645DB0}" type="pres">
      <dgm:prSet presAssocID="{6ECD8947-1E37-4005-BFCB-286C7324B709}" presName="sibTrans" presStyleCnt="0"/>
      <dgm:spPr/>
    </dgm:pt>
    <dgm:pt modelId="{DFDA3F6E-4774-4188-9D9C-DFE9341F7E14}" type="pres">
      <dgm:prSet presAssocID="{0D0CC0E0-4B00-4329-A1DB-03F671E4B9BA}" presName="node" presStyleLbl="node1" presStyleIdx="2" presStyleCnt="9">
        <dgm:presLayoutVars>
          <dgm:bulletEnabled val="1"/>
        </dgm:presLayoutVars>
      </dgm:prSet>
      <dgm:spPr/>
    </dgm:pt>
    <dgm:pt modelId="{DEB16117-B3C3-4CF0-A384-8DA9E46E1ACC}" type="pres">
      <dgm:prSet presAssocID="{20F79342-3641-409A-8A7A-F4716CDBDDC7}" presName="sibTrans" presStyleCnt="0"/>
      <dgm:spPr/>
    </dgm:pt>
    <dgm:pt modelId="{61CED6EB-2E46-4024-922F-6B7DB91B85DB}" type="pres">
      <dgm:prSet presAssocID="{55DDC69F-DE7C-4B24-BB24-CF4D6ACD9AA1}" presName="node" presStyleLbl="node1" presStyleIdx="3" presStyleCnt="9">
        <dgm:presLayoutVars>
          <dgm:bulletEnabled val="1"/>
        </dgm:presLayoutVars>
      </dgm:prSet>
      <dgm:spPr/>
    </dgm:pt>
    <dgm:pt modelId="{266356AE-16E9-47ED-9116-CCEB4E79BBA4}" type="pres">
      <dgm:prSet presAssocID="{3C266079-7BB3-4731-88B2-157EE62D63A3}" presName="sibTrans" presStyleCnt="0"/>
      <dgm:spPr/>
    </dgm:pt>
    <dgm:pt modelId="{A70DFF25-60E6-46DB-99D6-DAC14B8CDAD8}" type="pres">
      <dgm:prSet presAssocID="{00510285-02DE-46C9-AC52-1C335228C983}" presName="node" presStyleLbl="node1" presStyleIdx="4" presStyleCnt="9">
        <dgm:presLayoutVars>
          <dgm:bulletEnabled val="1"/>
        </dgm:presLayoutVars>
      </dgm:prSet>
      <dgm:spPr/>
    </dgm:pt>
    <dgm:pt modelId="{2B221E5A-F495-43D3-A881-2B9317F4990C}" type="pres">
      <dgm:prSet presAssocID="{59EF8BCE-51DD-40F9-B8B7-9A7D10EEF775}" presName="sibTrans" presStyleCnt="0"/>
      <dgm:spPr/>
    </dgm:pt>
    <dgm:pt modelId="{98F7265B-CCFB-4D55-8CEB-DB0BF9429BDE}" type="pres">
      <dgm:prSet presAssocID="{F0EF2AA4-53F1-4312-AE6B-3E8917E0DD81}" presName="node" presStyleLbl="node1" presStyleIdx="5" presStyleCnt="9">
        <dgm:presLayoutVars>
          <dgm:bulletEnabled val="1"/>
        </dgm:presLayoutVars>
      </dgm:prSet>
      <dgm:spPr/>
    </dgm:pt>
    <dgm:pt modelId="{87FF54A2-CAA6-4B96-BDBC-3B92C12AA969}" type="pres">
      <dgm:prSet presAssocID="{AC42CBAC-AA5D-4881-98EC-628101893A81}" presName="sibTrans" presStyleCnt="0"/>
      <dgm:spPr/>
    </dgm:pt>
    <dgm:pt modelId="{4A0EF4DC-F0E0-4756-9DF6-9DD5B93A8093}" type="pres">
      <dgm:prSet presAssocID="{64FE3E56-8EBE-4F38-9C2C-DBCE5AED79F8}" presName="node" presStyleLbl="node1" presStyleIdx="6" presStyleCnt="9">
        <dgm:presLayoutVars>
          <dgm:bulletEnabled val="1"/>
        </dgm:presLayoutVars>
      </dgm:prSet>
      <dgm:spPr/>
    </dgm:pt>
    <dgm:pt modelId="{F2638163-74AF-4533-8C04-1E58EAA1D4F6}" type="pres">
      <dgm:prSet presAssocID="{877A8874-3AE5-430E-8352-BC3713843758}" presName="sibTrans" presStyleCnt="0"/>
      <dgm:spPr/>
    </dgm:pt>
    <dgm:pt modelId="{59B78941-C0D1-40E4-BE5B-8BCE233A8BAA}" type="pres">
      <dgm:prSet presAssocID="{2A680BBF-C5EC-482D-872C-91B6FFCD131A}" presName="node" presStyleLbl="node1" presStyleIdx="7" presStyleCnt="9">
        <dgm:presLayoutVars>
          <dgm:bulletEnabled val="1"/>
        </dgm:presLayoutVars>
      </dgm:prSet>
      <dgm:spPr/>
    </dgm:pt>
    <dgm:pt modelId="{89F92B47-DF09-49CD-8D46-55EEA0E623A4}" type="pres">
      <dgm:prSet presAssocID="{B187F03B-09F7-4AD2-98C8-73D46A79968B}" presName="sibTrans" presStyleCnt="0"/>
      <dgm:spPr/>
    </dgm:pt>
    <dgm:pt modelId="{70500E38-A9F4-47BA-AE34-3584673AB6D1}" type="pres">
      <dgm:prSet presAssocID="{E581A7F8-9E41-46BF-903A-EAA32B3C003B}" presName="node" presStyleLbl="node1" presStyleIdx="8" presStyleCnt="9">
        <dgm:presLayoutVars>
          <dgm:bulletEnabled val="1"/>
        </dgm:presLayoutVars>
      </dgm:prSet>
      <dgm:spPr/>
    </dgm:pt>
  </dgm:ptLst>
  <dgm:cxnLst>
    <dgm:cxn modelId="{A9970B2E-78FD-4553-BC9A-86465DD0BEE4}" srcId="{001EA8FE-BA33-43A6-A69D-48BB1455D421}" destId="{00510285-02DE-46C9-AC52-1C335228C983}" srcOrd="4" destOrd="0" parTransId="{5B5720FC-95B1-47BF-A916-E63DC68BFF1F}" sibTransId="{59EF8BCE-51DD-40F9-B8B7-9A7D10EEF775}"/>
    <dgm:cxn modelId="{5F2D3731-7E4F-4483-AF1B-C13D9013B8D9}" srcId="{001EA8FE-BA33-43A6-A69D-48BB1455D421}" destId="{55DDC69F-DE7C-4B24-BB24-CF4D6ACD9AA1}" srcOrd="3" destOrd="0" parTransId="{789611F8-FB0A-4E20-BEE9-612908960448}" sibTransId="{3C266079-7BB3-4731-88B2-157EE62D63A3}"/>
    <dgm:cxn modelId="{72D4F660-9628-4600-87D1-FBF55A56BDBB}" type="presOf" srcId="{E581A7F8-9E41-46BF-903A-EAA32B3C003B}" destId="{70500E38-A9F4-47BA-AE34-3584673AB6D1}" srcOrd="0" destOrd="0" presId="urn:microsoft.com/office/officeart/2005/8/layout/default"/>
    <dgm:cxn modelId="{DAF32269-9A83-4CF7-B27E-2B5176EF62BF}" srcId="{001EA8FE-BA33-43A6-A69D-48BB1455D421}" destId="{AC6BD019-470F-4139-B9D3-95EE41D3531E}" srcOrd="0" destOrd="0" parTransId="{89449BE1-56DF-4317-A312-46E5CE3384F2}" sibTransId="{82894420-B8D1-4C21-A052-49EAD7BFACA3}"/>
    <dgm:cxn modelId="{F90C4A53-E773-4410-8ED5-FE3DC84AE9F8}" srcId="{001EA8FE-BA33-43A6-A69D-48BB1455D421}" destId="{64FE3E56-8EBE-4F38-9C2C-DBCE5AED79F8}" srcOrd="6" destOrd="0" parTransId="{B23073B9-FF6C-427B-826E-B908F2A2058C}" sibTransId="{877A8874-3AE5-430E-8352-BC3713843758}"/>
    <dgm:cxn modelId="{2AD18178-2BFE-4944-813A-A59A22ACDA0A}" type="presOf" srcId="{001EA8FE-BA33-43A6-A69D-48BB1455D421}" destId="{E46E7458-2D1E-46AC-99DA-40745D5C6B48}" srcOrd="0" destOrd="0" presId="urn:microsoft.com/office/officeart/2005/8/layout/default"/>
    <dgm:cxn modelId="{7F82A77C-1868-481E-A933-14FBE3FE5885}" srcId="{001EA8FE-BA33-43A6-A69D-48BB1455D421}" destId="{E581A7F8-9E41-46BF-903A-EAA32B3C003B}" srcOrd="8" destOrd="0" parTransId="{0730A517-0822-4716-AA8E-ECA0E6F09C22}" sibTransId="{8691CFE8-846D-4F16-9447-4C2F02435D13}"/>
    <dgm:cxn modelId="{1663CB80-9AE4-4CD1-A2B6-2B14FFA4139A}" type="presOf" srcId="{F0EF2AA4-53F1-4312-AE6B-3E8917E0DD81}" destId="{98F7265B-CCFB-4D55-8CEB-DB0BF9429BDE}" srcOrd="0" destOrd="0" presId="urn:microsoft.com/office/officeart/2005/8/layout/default"/>
    <dgm:cxn modelId="{CB4D8B82-840A-43F4-BFAD-18CB91E0424F}" type="presOf" srcId="{00510285-02DE-46C9-AC52-1C335228C983}" destId="{A70DFF25-60E6-46DB-99D6-DAC14B8CDAD8}" srcOrd="0" destOrd="0" presId="urn:microsoft.com/office/officeart/2005/8/layout/default"/>
    <dgm:cxn modelId="{EFF0938A-75B2-4644-8723-D96A66B748EC}" srcId="{001EA8FE-BA33-43A6-A69D-48BB1455D421}" destId="{F0EF2AA4-53F1-4312-AE6B-3E8917E0DD81}" srcOrd="5" destOrd="0" parTransId="{39F34D07-EB69-4EFC-894E-B70F38097C42}" sibTransId="{AC42CBAC-AA5D-4881-98EC-628101893A81}"/>
    <dgm:cxn modelId="{7C4045A8-A8C1-4BE0-A403-73BEAAA8B3B7}" type="presOf" srcId="{AC6BD019-470F-4139-B9D3-95EE41D3531E}" destId="{8D99CB94-F216-456F-BAF5-47BA1221A032}" srcOrd="0" destOrd="0" presId="urn:microsoft.com/office/officeart/2005/8/layout/default"/>
    <dgm:cxn modelId="{A1F5EFBC-2D12-4F16-A46A-6A54859FB572}" type="presOf" srcId="{B6E3238E-1634-45C5-8A5C-A875D6737B16}" destId="{3DDD4460-EFFA-46C7-8830-76E11EE9F81E}" srcOrd="0" destOrd="0" presId="urn:microsoft.com/office/officeart/2005/8/layout/default"/>
    <dgm:cxn modelId="{243646C6-EFE4-48E4-8B07-241137C46E39}" type="presOf" srcId="{2A680BBF-C5EC-482D-872C-91B6FFCD131A}" destId="{59B78941-C0D1-40E4-BE5B-8BCE233A8BAA}" srcOrd="0" destOrd="0" presId="urn:microsoft.com/office/officeart/2005/8/layout/default"/>
    <dgm:cxn modelId="{917989C6-54B9-4C67-85C6-67A351FF9196}" srcId="{001EA8FE-BA33-43A6-A69D-48BB1455D421}" destId="{0D0CC0E0-4B00-4329-A1DB-03F671E4B9BA}" srcOrd="2" destOrd="0" parTransId="{FEBC4DDB-6F67-4515-BB42-476F8F7049E0}" sibTransId="{20F79342-3641-409A-8A7A-F4716CDBDDC7}"/>
    <dgm:cxn modelId="{A6CE77CD-A3A2-4068-9171-FBFFCEBDEFB7}" type="presOf" srcId="{0D0CC0E0-4B00-4329-A1DB-03F671E4B9BA}" destId="{DFDA3F6E-4774-4188-9D9C-DFE9341F7E14}" srcOrd="0" destOrd="0" presId="urn:microsoft.com/office/officeart/2005/8/layout/default"/>
    <dgm:cxn modelId="{2728EAD6-E2E4-49A2-8BE3-49138A199771}" srcId="{001EA8FE-BA33-43A6-A69D-48BB1455D421}" destId="{B6E3238E-1634-45C5-8A5C-A875D6737B16}" srcOrd="1" destOrd="0" parTransId="{36619781-50D4-4878-A1B0-56A15FC2F6E2}" sibTransId="{6ECD8947-1E37-4005-BFCB-286C7324B709}"/>
    <dgm:cxn modelId="{C72854F3-A9ED-4A3C-8806-1AED5DFBD5E9}" type="presOf" srcId="{55DDC69F-DE7C-4B24-BB24-CF4D6ACD9AA1}" destId="{61CED6EB-2E46-4024-922F-6B7DB91B85DB}" srcOrd="0" destOrd="0" presId="urn:microsoft.com/office/officeart/2005/8/layout/default"/>
    <dgm:cxn modelId="{3603C8F5-3F1F-4403-9A3D-506D6A8569DD}" type="presOf" srcId="{64FE3E56-8EBE-4F38-9C2C-DBCE5AED79F8}" destId="{4A0EF4DC-F0E0-4756-9DF6-9DD5B93A8093}" srcOrd="0" destOrd="0" presId="urn:microsoft.com/office/officeart/2005/8/layout/default"/>
    <dgm:cxn modelId="{FA0BC5F9-BF02-4A4E-9C40-525E3A0ED9FE}" srcId="{001EA8FE-BA33-43A6-A69D-48BB1455D421}" destId="{2A680BBF-C5EC-482D-872C-91B6FFCD131A}" srcOrd="7" destOrd="0" parTransId="{60E2C8A0-EFF9-4553-8BA6-6B24B4982778}" sibTransId="{B187F03B-09F7-4AD2-98C8-73D46A79968B}"/>
    <dgm:cxn modelId="{3D8BA6A9-DE3F-48BB-9F17-64FC4C384686}" type="presParOf" srcId="{E46E7458-2D1E-46AC-99DA-40745D5C6B48}" destId="{8D99CB94-F216-456F-BAF5-47BA1221A032}" srcOrd="0" destOrd="0" presId="urn:microsoft.com/office/officeart/2005/8/layout/default"/>
    <dgm:cxn modelId="{E33051AB-6F90-47DB-861F-D0487D9609E0}" type="presParOf" srcId="{E46E7458-2D1E-46AC-99DA-40745D5C6B48}" destId="{48D6C82A-B03F-4E09-832A-70A27066EF71}" srcOrd="1" destOrd="0" presId="urn:microsoft.com/office/officeart/2005/8/layout/default"/>
    <dgm:cxn modelId="{7D60F3C9-642D-4BFF-B1C8-C0AEAF61DD3A}" type="presParOf" srcId="{E46E7458-2D1E-46AC-99DA-40745D5C6B48}" destId="{3DDD4460-EFFA-46C7-8830-76E11EE9F81E}" srcOrd="2" destOrd="0" presId="urn:microsoft.com/office/officeart/2005/8/layout/default"/>
    <dgm:cxn modelId="{1AA30251-BA6F-4A19-985B-068C02DC2173}" type="presParOf" srcId="{E46E7458-2D1E-46AC-99DA-40745D5C6B48}" destId="{19B2344B-7171-4E5E-A7EC-B14777645DB0}" srcOrd="3" destOrd="0" presId="urn:microsoft.com/office/officeart/2005/8/layout/default"/>
    <dgm:cxn modelId="{26465F29-8DB6-43CA-A3C5-85F6CBF25CD6}" type="presParOf" srcId="{E46E7458-2D1E-46AC-99DA-40745D5C6B48}" destId="{DFDA3F6E-4774-4188-9D9C-DFE9341F7E14}" srcOrd="4" destOrd="0" presId="urn:microsoft.com/office/officeart/2005/8/layout/default"/>
    <dgm:cxn modelId="{ECB463BE-7E49-4FF6-8C70-60D98D9F9870}" type="presParOf" srcId="{E46E7458-2D1E-46AC-99DA-40745D5C6B48}" destId="{DEB16117-B3C3-4CF0-A384-8DA9E46E1ACC}" srcOrd="5" destOrd="0" presId="urn:microsoft.com/office/officeart/2005/8/layout/default"/>
    <dgm:cxn modelId="{C08ACBC5-9D4A-4BDB-A3FA-2040A576CB01}" type="presParOf" srcId="{E46E7458-2D1E-46AC-99DA-40745D5C6B48}" destId="{61CED6EB-2E46-4024-922F-6B7DB91B85DB}" srcOrd="6" destOrd="0" presId="urn:microsoft.com/office/officeart/2005/8/layout/default"/>
    <dgm:cxn modelId="{2782DF55-B689-4433-A481-E43899804B1C}" type="presParOf" srcId="{E46E7458-2D1E-46AC-99DA-40745D5C6B48}" destId="{266356AE-16E9-47ED-9116-CCEB4E79BBA4}" srcOrd="7" destOrd="0" presId="urn:microsoft.com/office/officeart/2005/8/layout/default"/>
    <dgm:cxn modelId="{5BEB5FF1-071B-46FB-ABB6-CB0FC418DEAE}" type="presParOf" srcId="{E46E7458-2D1E-46AC-99DA-40745D5C6B48}" destId="{A70DFF25-60E6-46DB-99D6-DAC14B8CDAD8}" srcOrd="8" destOrd="0" presId="urn:microsoft.com/office/officeart/2005/8/layout/default"/>
    <dgm:cxn modelId="{71BE63AA-F4A7-4B15-9EAE-441A6BB51AE4}" type="presParOf" srcId="{E46E7458-2D1E-46AC-99DA-40745D5C6B48}" destId="{2B221E5A-F495-43D3-A881-2B9317F4990C}" srcOrd="9" destOrd="0" presId="urn:microsoft.com/office/officeart/2005/8/layout/default"/>
    <dgm:cxn modelId="{B5BAF911-F37E-4A15-A424-D8DAE5D7F329}" type="presParOf" srcId="{E46E7458-2D1E-46AC-99DA-40745D5C6B48}" destId="{98F7265B-CCFB-4D55-8CEB-DB0BF9429BDE}" srcOrd="10" destOrd="0" presId="urn:microsoft.com/office/officeart/2005/8/layout/default"/>
    <dgm:cxn modelId="{8D7D2221-CFD9-414B-A465-654373FABA2B}" type="presParOf" srcId="{E46E7458-2D1E-46AC-99DA-40745D5C6B48}" destId="{87FF54A2-CAA6-4B96-BDBC-3B92C12AA969}" srcOrd="11" destOrd="0" presId="urn:microsoft.com/office/officeart/2005/8/layout/default"/>
    <dgm:cxn modelId="{77B3FC79-6AA7-4CB2-93F1-9BED783F1ECD}" type="presParOf" srcId="{E46E7458-2D1E-46AC-99DA-40745D5C6B48}" destId="{4A0EF4DC-F0E0-4756-9DF6-9DD5B93A8093}" srcOrd="12" destOrd="0" presId="urn:microsoft.com/office/officeart/2005/8/layout/default"/>
    <dgm:cxn modelId="{EED48077-C2E4-47E3-9B45-931B50B91B4C}" type="presParOf" srcId="{E46E7458-2D1E-46AC-99DA-40745D5C6B48}" destId="{F2638163-74AF-4533-8C04-1E58EAA1D4F6}" srcOrd="13" destOrd="0" presId="urn:microsoft.com/office/officeart/2005/8/layout/default"/>
    <dgm:cxn modelId="{1D4A6EB1-393A-460D-984B-7B8378F65787}" type="presParOf" srcId="{E46E7458-2D1E-46AC-99DA-40745D5C6B48}" destId="{59B78941-C0D1-40E4-BE5B-8BCE233A8BAA}" srcOrd="14" destOrd="0" presId="urn:microsoft.com/office/officeart/2005/8/layout/default"/>
    <dgm:cxn modelId="{EE47170A-C860-4119-8B43-8F391C18C2AD}" type="presParOf" srcId="{E46E7458-2D1E-46AC-99DA-40745D5C6B48}" destId="{89F92B47-DF09-49CD-8D46-55EEA0E623A4}" srcOrd="15" destOrd="0" presId="urn:microsoft.com/office/officeart/2005/8/layout/default"/>
    <dgm:cxn modelId="{4ACE0BAC-1DD8-48F6-930D-29B658DDA120}" type="presParOf" srcId="{E46E7458-2D1E-46AC-99DA-40745D5C6B48}" destId="{70500E38-A9F4-47BA-AE34-3584673AB6D1}"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BB0A7AF-1F53-408F-9C8F-C62786997B6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C6E6744-CED0-4740-A9ED-D6247956D99C}">
      <dgm:prSet phldrT="[Text]"/>
      <dgm:spPr/>
      <dgm:t>
        <a:bodyPr/>
        <a:lstStyle/>
        <a:p>
          <a:r>
            <a:rPr lang="en-US" dirty="0"/>
            <a:t>.pst</a:t>
          </a:r>
        </a:p>
        <a:p>
          <a:r>
            <a:rPr lang="en-US" dirty="0"/>
            <a:t>(Outlook)</a:t>
          </a:r>
        </a:p>
      </dgm:t>
    </dgm:pt>
    <dgm:pt modelId="{0E113E27-9BE8-40E7-AC27-0E6CA3693094}" type="parTrans" cxnId="{5DF00A58-BEE6-43B4-A0E3-2377D2CF9393}">
      <dgm:prSet/>
      <dgm:spPr/>
      <dgm:t>
        <a:bodyPr/>
        <a:lstStyle/>
        <a:p>
          <a:endParaRPr lang="en-US"/>
        </a:p>
      </dgm:t>
    </dgm:pt>
    <dgm:pt modelId="{7826A2B3-B61C-4366-BFA1-4722EC8BAE98}" type="sibTrans" cxnId="{5DF00A58-BEE6-43B4-A0E3-2377D2CF9393}">
      <dgm:prSet/>
      <dgm:spPr/>
      <dgm:t>
        <a:bodyPr/>
        <a:lstStyle/>
        <a:p>
          <a:endParaRPr lang="en-US"/>
        </a:p>
      </dgm:t>
    </dgm:pt>
    <dgm:pt modelId="{C2729804-39C0-42A8-949C-AD1A9AEE3374}">
      <dgm:prSet phldrT="[Text]"/>
      <dgm:spPr/>
      <dgm:t>
        <a:bodyPr/>
        <a:lstStyle/>
        <a:p>
          <a:r>
            <a:rPr lang="en-US" dirty="0"/>
            <a:t>.ost</a:t>
          </a:r>
        </a:p>
        <a:p>
          <a:r>
            <a:rPr lang="en-US" dirty="0"/>
            <a:t>(Offline Outlook Storage)</a:t>
          </a:r>
        </a:p>
      </dgm:t>
    </dgm:pt>
    <dgm:pt modelId="{D39B8A8A-2543-445A-BFF5-55BD87F53912}" type="parTrans" cxnId="{9B380140-523F-446E-B4DE-F784F55164B4}">
      <dgm:prSet/>
      <dgm:spPr/>
      <dgm:t>
        <a:bodyPr/>
        <a:lstStyle/>
        <a:p>
          <a:endParaRPr lang="en-US"/>
        </a:p>
      </dgm:t>
    </dgm:pt>
    <dgm:pt modelId="{AB5761EC-97F9-48BD-82BF-2D3CFD3DD427}" type="sibTrans" cxnId="{9B380140-523F-446E-B4DE-F784F55164B4}">
      <dgm:prSet/>
      <dgm:spPr/>
      <dgm:t>
        <a:bodyPr/>
        <a:lstStyle/>
        <a:p>
          <a:endParaRPr lang="en-US"/>
        </a:p>
      </dgm:t>
    </dgm:pt>
    <dgm:pt modelId="{6F2276F6-107D-4F28-9E79-2A3960D44A9A}">
      <dgm:prSet phldrT="[Text]"/>
      <dgm:spPr/>
      <dgm:t>
        <a:bodyPr/>
        <a:lstStyle/>
        <a:p>
          <a:r>
            <a:rPr lang="en-US" dirty="0"/>
            <a:t>.mbx or .dbx</a:t>
          </a:r>
        </a:p>
        <a:p>
          <a:r>
            <a:rPr lang="en-US" dirty="0"/>
            <a:t>(Outlook Express)</a:t>
          </a:r>
        </a:p>
      </dgm:t>
    </dgm:pt>
    <dgm:pt modelId="{33592CD8-422D-40A1-86BA-075CDD4B2F9B}" type="parTrans" cxnId="{B273DB2A-4DFB-43A0-AB4B-B70F949152FE}">
      <dgm:prSet/>
      <dgm:spPr/>
      <dgm:t>
        <a:bodyPr/>
        <a:lstStyle/>
        <a:p>
          <a:endParaRPr lang="en-US"/>
        </a:p>
      </dgm:t>
    </dgm:pt>
    <dgm:pt modelId="{1FD0624D-8589-417F-AE1F-36EEA930A565}" type="sibTrans" cxnId="{B273DB2A-4DFB-43A0-AB4B-B70F949152FE}">
      <dgm:prSet/>
      <dgm:spPr/>
      <dgm:t>
        <a:bodyPr/>
        <a:lstStyle/>
        <a:p>
          <a:endParaRPr lang="en-US"/>
        </a:p>
      </dgm:t>
    </dgm:pt>
    <dgm:pt modelId="{4038B0AF-87CE-47EE-B631-11593B5A010B}">
      <dgm:prSet phldrT="[Text]"/>
      <dgm:spPr/>
      <dgm:t>
        <a:bodyPr/>
        <a:lstStyle/>
        <a:p>
          <a:r>
            <a:rPr lang="en-US" dirty="0"/>
            <a:t>.mbx</a:t>
          </a:r>
        </a:p>
        <a:p>
          <a:r>
            <a:rPr lang="en-US" dirty="0"/>
            <a:t>(Eudora)</a:t>
          </a:r>
        </a:p>
      </dgm:t>
    </dgm:pt>
    <dgm:pt modelId="{0A5CADAD-365F-44D1-9171-61AD4A630668}" type="parTrans" cxnId="{6DD46E28-A73E-4ECA-99AF-42BD44DE957F}">
      <dgm:prSet/>
      <dgm:spPr/>
      <dgm:t>
        <a:bodyPr/>
        <a:lstStyle/>
        <a:p>
          <a:endParaRPr lang="en-US"/>
        </a:p>
      </dgm:t>
    </dgm:pt>
    <dgm:pt modelId="{07D864D4-B548-453A-ADBD-1C966571D284}" type="sibTrans" cxnId="{6DD46E28-A73E-4ECA-99AF-42BD44DE957F}">
      <dgm:prSet/>
      <dgm:spPr/>
      <dgm:t>
        <a:bodyPr/>
        <a:lstStyle/>
        <a:p>
          <a:endParaRPr lang="en-US"/>
        </a:p>
      </dgm:t>
    </dgm:pt>
    <dgm:pt modelId="{88D876D8-1A45-460E-914A-683E7B14B89D}">
      <dgm:prSet phldrT="[Text]"/>
      <dgm:spPr/>
      <dgm:t>
        <a:bodyPr/>
        <a:lstStyle/>
        <a:p>
          <a:r>
            <a:rPr lang="en-US" dirty="0"/>
            <a:t>.emi</a:t>
          </a:r>
        </a:p>
        <a:p>
          <a:r>
            <a:rPr lang="en-US" dirty="0"/>
            <a:t>(common to several email clients)</a:t>
          </a:r>
        </a:p>
      </dgm:t>
    </dgm:pt>
    <dgm:pt modelId="{2B6CAFD8-70FE-4B76-B21A-C63265776860}" type="parTrans" cxnId="{DB933305-6D0D-4263-AC00-1D8396036A67}">
      <dgm:prSet/>
      <dgm:spPr/>
      <dgm:t>
        <a:bodyPr/>
        <a:lstStyle/>
        <a:p>
          <a:endParaRPr lang="en-US"/>
        </a:p>
      </dgm:t>
    </dgm:pt>
    <dgm:pt modelId="{1F95B1F0-D605-44A3-BCC3-07EAAFD7166D}" type="sibTrans" cxnId="{DB933305-6D0D-4263-AC00-1D8396036A67}">
      <dgm:prSet/>
      <dgm:spPr/>
      <dgm:t>
        <a:bodyPr/>
        <a:lstStyle/>
        <a:p>
          <a:endParaRPr lang="en-US"/>
        </a:p>
      </dgm:t>
    </dgm:pt>
    <dgm:pt modelId="{68F08B59-DC93-41D3-AAF9-909F2E432876}" type="pres">
      <dgm:prSet presAssocID="{BBB0A7AF-1F53-408F-9C8F-C62786997B6F}" presName="diagram" presStyleCnt="0">
        <dgm:presLayoutVars>
          <dgm:dir/>
          <dgm:resizeHandles val="exact"/>
        </dgm:presLayoutVars>
      </dgm:prSet>
      <dgm:spPr/>
    </dgm:pt>
    <dgm:pt modelId="{EDB0B8C3-145F-4480-8524-4BDF4576468A}" type="pres">
      <dgm:prSet presAssocID="{9C6E6744-CED0-4740-A9ED-D6247956D99C}" presName="node" presStyleLbl="node1" presStyleIdx="0" presStyleCnt="5">
        <dgm:presLayoutVars>
          <dgm:bulletEnabled val="1"/>
        </dgm:presLayoutVars>
      </dgm:prSet>
      <dgm:spPr/>
    </dgm:pt>
    <dgm:pt modelId="{D0BB98C4-0CE1-479D-80F3-784426CFA3B3}" type="pres">
      <dgm:prSet presAssocID="{7826A2B3-B61C-4366-BFA1-4722EC8BAE98}" presName="sibTrans" presStyleCnt="0"/>
      <dgm:spPr/>
    </dgm:pt>
    <dgm:pt modelId="{1541C61E-2F71-4BAF-8834-147C61F97DB8}" type="pres">
      <dgm:prSet presAssocID="{C2729804-39C0-42A8-949C-AD1A9AEE3374}" presName="node" presStyleLbl="node1" presStyleIdx="1" presStyleCnt="5">
        <dgm:presLayoutVars>
          <dgm:bulletEnabled val="1"/>
        </dgm:presLayoutVars>
      </dgm:prSet>
      <dgm:spPr/>
    </dgm:pt>
    <dgm:pt modelId="{CF8E8D29-BB4F-4CDE-BE06-55D35E45D3B0}" type="pres">
      <dgm:prSet presAssocID="{AB5761EC-97F9-48BD-82BF-2D3CFD3DD427}" presName="sibTrans" presStyleCnt="0"/>
      <dgm:spPr/>
    </dgm:pt>
    <dgm:pt modelId="{17343BEE-BFF5-415F-9B9C-D2B8AA612036}" type="pres">
      <dgm:prSet presAssocID="{6F2276F6-107D-4F28-9E79-2A3960D44A9A}" presName="node" presStyleLbl="node1" presStyleIdx="2" presStyleCnt="5">
        <dgm:presLayoutVars>
          <dgm:bulletEnabled val="1"/>
        </dgm:presLayoutVars>
      </dgm:prSet>
      <dgm:spPr/>
    </dgm:pt>
    <dgm:pt modelId="{AB1DC074-7268-41B2-B9AA-FE78FF9A4F6C}" type="pres">
      <dgm:prSet presAssocID="{1FD0624D-8589-417F-AE1F-36EEA930A565}" presName="sibTrans" presStyleCnt="0"/>
      <dgm:spPr/>
    </dgm:pt>
    <dgm:pt modelId="{4BA1B972-0195-40BA-9400-DC226C4B1B55}" type="pres">
      <dgm:prSet presAssocID="{4038B0AF-87CE-47EE-B631-11593B5A010B}" presName="node" presStyleLbl="node1" presStyleIdx="3" presStyleCnt="5">
        <dgm:presLayoutVars>
          <dgm:bulletEnabled val="1"/>
        </dgm:presLayoutVars>
      </dgm:prSet>
      <dgm:spPr/>
    </dgm:pt>
    <dgm:pt modelId="{9B78E257-EC0C-47FD-942F-5013AECCA01C}" type="pres">
      <dgm:prSet presAssocID="{07D864D4-B548-453A-ADBD-1C966571D284}" presName="sibTrans" presStyleCnt="0"/>
      <dgm:spPr/>
    </dgm:pt>
    <dgm:pt modelId="{8E8CA8E2-A09F-489A-A62B-8ACEF21F6A02}" type="pres">
      <dgm:prSet presAssocID="{88D876D8-1A45-460E-914A-683E7B14B89D}" presName="node" presStyleLbl="node1" presStyleIdx="4" presStyleCnt="5">
        <dgm:presLayoutVars>
          <dgm:bulletEnabled val="1"/>
        </dgm:presLayoutVars>
      </dgm:prSet>
      <dgm:spPr/>
    </dgm:pt>
  </dgm:ptLst>
  <dgm:cxnLst>
    <dgm:cxn modelId="{DB933305-6D0D-4263-AC00-1D8396036A67}" srcId="{BBB0A7AF-1F53-408F-9C8F-C62786997B6F}" destId="{88D876D8-1A45-460E-914A-683E7B14B89D}" srcOrd="4" destOrd="0" parTransId="{2B6CAFD8-70FE-4B76-B21A-C63265776860}" sibTransId="{1F95B1F0-D605-44A3-BCC3-07EAAFD7166D}"/>
    <dgm:cxn modelId="{13730F28-0603-46D9-AED7-F9A363714473}" type="presOf" srcId="{6F2276F6-107D-4F28-9E79-2A3960D44A9A}" destId="{17343BEE-BFF5-415F-9B9C-D2B8AA612036}" srcOrd="0" destOrd="0" presId="urn:microsoft.com/office/officeart/2005/8/layout/default"/>
    <dgm:cxn modelId="{6DD46E28-A73E-4ECA-99AF-42BD44DE957F}" srcId="{BBB0A7AF-1F53-408F-9C8F-C62786997B6F}" destId="{4038B0AF-87CE-47EE-B631-11593B5A010B}" srcOrd="3" destOrd="0" parTransId="{0A5CADAD-365F-44D1-9171-61AD4A630668}" sibTransId="{07D864D4-B548-453A-ADBD-1C966571D284}"/>
    <dgm:cxn modelId="{B273DB2A-4DFB-43A0-AB4B-B70F949152FE}" srcId="{BBB0A7AF-1F53-408F-9C8F-C62786997B6F}" destId="{6F2276F6-107D-4F28-9E79-2A3960D44A9A}" srcOrd="2" destOrd="0" parTransId="{33592CD8-422D-40A1-86BA-075CDD4B2F9B}" sibTransId="{1FD0624D-8589-417F-AE1F-36EEA930A565}"/>
    <dgm:cxn modelId="{9B380140-523F-446E-B4DE-F784F55164B4}" srcId="{BBB0A7AF-1F53-408F-9C8F-C62786997B6F}" destId="{C2729804-39C0-42A8-949C-AD1A9AEE3374}" srcOrd="1" destOrd="0" parTransId="{D39B8A8A-2543-445A-BFF5-55BD87F53912}" sibTransId="{AB5761EC-97F9-48BD-82BF-2D3CFD3DD427}"/>
    <dgm:cxn modelId="{02416154-1268-47E3-A4FD-5735BF4BFF3B}" type="presOf" srcId="{C2729804-39C0-42A8-949C-AD1A9AEE3374}" destId="{1541C61E-2F71-4BAF-8834-147C61F97DB8}" srcOrd="0" destOrd="0" presId="urn:microsoft.com/office/officeart/2005/8/layout/default"/>
    <dgm:cxn modelId="{5DF00A58-BEE6-43B4-A0E3-2377D2CF9393}" srcId="{BBB0A7AF-1F53-408F-9C8F-C62786997B6F}" destId="{9C6E6744-CED0-4740-A9ED-D6247956D99C}" srcOrd="0" destOrd="0" parTransId="{0E113E27-9BE8-40E7-AC27-0E6CA3693094}" sibTransId="{7826A2B3-B61C-4366-BFA1-4722EC8BAE98}"/>
    <dgm:cxn modelId="{F4BAC658-464A-4167-AC0F-70E5FA5D3679}" type="presOf" srcId="{BBB0A7AF-1F53-408F-9C8F-C62786997B6F}" destId="{68F08B59-DC93-41D3-AAF9-909F2E432876}" srcOrd="0" destOrd="0" presId="urn:microsoft.com/office/officeart/2005/8/layout/default"/>
    <dgm:cxn modelId="{43C2ED88-F780-422D-9669-50657CF4A72B}" type="presOf" srcId="{88D876D8-1A45-460E-914A-683E7B14B89D}" destId="{8E8CA8E2-A09F-489A-A62B-8ACEF21F6A02}" srcOrd="0" destOrd="0" presId="urn:microsoft.com/office/officeart/2005/8/layout/default"/>
    <dgm:cxn modelId="{E596F49D-A1EA-480A-9A4C-4D1023B8A1B3}" type="presOf" srcId="{4038B0AF-87CE-47EE-B631-11593B5A010B}" destId="{4BA1B972-0195-40BA-9400-DC226C4B1B55}" srcOrd="0" destOrd="0" presId="urn:microsoft.com/office/officeart/2005/8/layout/default"/>
    <dgm:cxn modelId="{B3A950D7-F382-498D-B0DE-8C7369BD8A82}" type="presOf" srcId="{9C6E6744-CED0-4740-A9ED-D6247956D99C}" destId="{EDB0B8C3-145F-4480-8524-4BDF4576468A}" srcOrd="0" destOrd="0" presId="urn:microsoft.com/office/officeart/2005/8/layout/default"/>
    <dgm:cxn modelId="{7D9D683A-CED6-4CF4-ADAE-47043B0C81B9}" type="presParOf" srcId="{68F08B59-DC93-41D3-AAF9-909F2E432876}" destId="{EDB0B8C3-145F-4480-8524-4BDF4576468A}" srcOrd="0" destOrd="0" presId="urn:microsoft.com/office/officeart/2005/8/layout/default"/>
    <dgm:cxn modelId="{3BD832D6-2B85-4B84-AA48-93F1FB63188B}" type="presParOf" srcId="{68F08B59-DC93-41D3-AAF9-909F2E432876}" destId="{D0BB98C4-0CE1-479D-80F3-784426CFA3B3}" srcOrd="1" destOrd="0" presId="urn:microsoft.com/office/officeart/2005/8/layout/default"/>
    <dgm:cxn modelId="{4008BD5D-FB20-4CEF-8CD7-4C3324B8284D}" type="presParOf" srcId="{68F08B59-DC93-41D3-AAF9-909F2E432876}" destId="{1541C61E-2F71-4BAF-8834-147C61F97DB8}" srcOrd="2" destOrd="0" presId="urn:microsoft.com/office/officeart/2005/8/layout/default"/>
    <dgm:cxn modelId="{97187362-D5F8-4738-9B76-D1D32BECC2DD}" type="presParOf" srcId="{68F08B59-DC93-41D3-AAF9-909F2E432876}" destId="{CF8E8D29-BB4F-4CDE-BE06-55D35E45D3B0}" srcOrd="3" destOrd="0" presId="urn:microsoft.com/office/officeart/2005/8/layout/default"/>
    <dgm:cxn modelId="{31132A01-4E10-45B9-9920-7A9AB90CA7F4}" type="presParOf" srcId="{68F08B59-DC93-41D3-AAF9-909F2E432876}" destId="{17343BEE-BFF5-415F-9B9C-D2B8AA612036}" srcOrd="4" destOrd="0" presId="urn:microsoft.com/office/officeart/2005/8/layout/default"/>
    <dgm:cxn modelId="{34D212FD-3248-4422-A62D-2C7308F8986B}" type="presParOf" srcId="{68F08B59-DC93-41D3-AAF9-909F2E432876}" destId="{AB1DC074-7268-41B2-B9AA-FE78FF9A4F6C}" srcOrd="5" destOrd="0" presId="urn:microsoft.com/office/officeart/2005/8/layout/default"/>
    <dgm:cxn modelId="{0E13E694-E849-495E-B83B-131C19911947}" type="presParOf" srcId="{68F08B59-DC93-41D3-AAF9-909F2E432876}" destId="{4BA1B972-0195-40BA-9400-DC226C4B1B55}" srcOrd="6" destOrd="0" presId="urn:microsoft.com/office/officeart/2005/8/layout/default"/>
    <dgm:cxn modelId="{AF2E7709-01D2-4148-A79B-368D73AD9240}" type="presParOf" srcId="{68F08B59-DC93-41D3-AAF9-909F2E432876}" destId="{9B78E257-EC0C-47FD-942F-5013AECCA01C}" srcOrd="7" destOrd="0" presId="urn:microsoft.com/office/officeart/2005/8/layout/default"/>
    <dgm:cxn modelId="{7252EBDE-C5B9-4DCF-9608-659361F9089F}" type="presParOf" srcId="{68F08B59-DC93-41D3-AAF9-909F2E432876}" destId="{8E8CA8E2-A09F-489A-A62B-8ACEF21F6A02}"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2FAD95-21AB-48F8-830E-0A3BAEB7812B}">
      <dsp:nvSpPr>
        <dsp:cNvPr id="0" name=""/>
        <dsp:cNvSpPr/>
      </dsp:nvSpPr>
      <dsp:spPr>
        <a:xfrm>
          <a:off x="0" y="1053051"/>
          <a:ext cx="2627863" cy="2121016"/>
        </a:xfrm>
        <a:prstGeom prst="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0" kern="1200" dirty="0"/>
            <a:t>Spoofing</a:t>
          </a:r>
        </a:p>
      </dsp:txBody>
      <dsp:txXfrm>
        <a:off x="0" y="1053051"/>
        <a:ext cx="2627863" cy="2121016"/>
      </dsp:txXfrm>
    </dsp:sp>
    <dsp:sp modelId="{982F4957-8E36-4760-9671-689699734DA7}">
      <dsp:nvSpPr>
        <dsp:cNvPr id="0" name=""/>
        <dsp:cNvSpPr/>
      </dsp:nvSpPr>
      <dsp:spPr>
        <a:xfrm>
          <a:off x="2890649" y="1053051"/>
          <a:ext cx="2627863" cy="2121016"/>
        </a:xfrm>
        <a:prstGeom prst="rect">
          <a:avLst/>
        </a:prstGeom>
        <a:solidFill>
          <a:schemeClr val="accent1">
            <a:shade val="80000"/>
            <a:hueOff val="194125"/>
            <a:satOff val="-12193"/>
            <a:lumOff val="15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0" kern="1200" dirty="0"/>
            <a:t>Anonymous remailing</a:t>
          </a:r>
        </a:p>
      </dsp:txBody>
      <dsp:txXfrm>
        <a:off x="2890649" y="1053051"/>
        <a:ext cx="2627863" cy="2121016"/>
      </dsp:txXfrm>
    </dsp:sp>
    <dsp:sp modelId="{0DC51C3D-E878-446E-871F-699FB824B3A8}">
      <dsp:nvSpPr>
        <dsp:cNvPr id="0" name=""/>
        <dsp:cNvSpPr/>
      </dsp:nvSpPr>
      <dsp:spPr>
        <a:xfrm>
          <a:off x="5781299" y="1053051"/>
          <a:ext cx="2627863" cy="2121016"/>
        </a:xfrm>
        <a:prstGeom prst="rect">
          <a:avLst/>
        </a:prstGeom>
        <a:solidFill>
          <a:schemeClr val="accent1">
            <a:shade val="80000"/>
            <a:hueOff val="388250"/>
            <a:satOff val="-24386"/>
            <a:lumOff val="30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0" kern="1200" dirty="0"/>
            <a:t>"Valid"</a:t>
          </a:r>
          <a:br>
            <a:rPr lang="en-US" sz="3200" b="0" kern="1200" dirty="0"/>
          </a:br>
          <a:r>
            <a:rPr lang="en-US" sz="3200" b="0" kern="1200" dirty="0"/>
            <a:t>emails</a:t>
          </a:r>
        </a:p>
      </dsp:txBody>
      <dsp:txXfrm>
        <a:off x="5781299" y="1053051"/>
        <a:ext cx="2627863" cy="21210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82ADA2-677E-4533-89C8-D17EF024BABD}">
      <dsp:nvSpPr>
        <dsp:cNvPr id="0" name=""/>
        <dsp:cNvSpPr/>
      </dsp:nvSpPr>
      <dsp:spPr>
        <a:xfrm>
          <a:off x="622458" y="0"/>
          <a:ext cx="7054532" cy="46482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731A66-59F1-433E-9A93-75486EAAC265}">
      <dsp:nvSpPr>
        <dsp:cNvPr id="0" name=""/>
        <dsp:cNvSpPr/>
      </dsp:nvSpPr>
      <dsp:spPr>
        <a:xfrm>
          <a:off x="8915" y="1394460"/>
          <a:ext cx="2671385" cy="1859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Use free public Wi-Fi</a:t>
          </a:r>
        </a:p>
      </dsp:txBody>
      <dsp:txXfrm>
        <a:off x="99678" y="1485223"/>
        <a:ext cx="2489859" cy="1677754"/>
      </dsp:txXfrm>
    </dsp:sp>
    <dsp:sp modelId="{9631F63F-A706-48C1-B791-16D1B68E3691}">
      <dsp:nvSpPr>
        <dsp:cNvPr id="0" name=""/>
        <dsp:cNvSpPr/>
      </dsp:nvSpPr>
      <dsp:spPr>
        <a:xfrm>
          <a:off x="2814032" y="1394460"/>
          <a:ext cx="2671385" cy="1859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Spoof IP address and MAC address</a:t>
          </a:r>
        </a:p>
      </dsp:txBody>
      <dsp:txXfrm>
        <a:off x="2904795" y="1485223"/>
        <a:ext cx="2489859" cy="1677754"/>
      </dsp:txXfrm>
    </dsp:sp>
    <dsp:sp modelId="{544F97C4-AA3E-4882-B6E5-6B82035DDC48}">
      <dsp:nvSpPr>
        <dsp:cNvPr id="0" name=""/>
        <dsp:cNvSpPr/>
      </dsp:nvSpPr>
      <dsp:spPr>
        <a:xfrm>
          <a:off x="5619149" y="1394460"/>
          <a:ext cx="2671385" cy="1859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Send email through anonymous </a:t>
          </a:r>
          <a:br>
            <a:rPr lang="en-US" sz="2700" kern="1200" dirty="0"/>
          </a:br>
          <a:r>
            <a:rPr lang="en-US" sz="2700" kern="1200" dirty="0"/>
            <a:t>email account</a:t>
          </a:r>
        </a:p>
      </dsp:txBody>
      <dsp:txXfrm>
        <a:off x="5709912" y="1485223"/>
        <a:ext cx="2489859" cy="16777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D6F136-EAF5-461A-A118-9FB48B9081C1}">
      <dsp:nvSpPr>
        <dsp:cNvPr id="0" name=""/>
        <dsp:cNvSpPr/>
      </dsp:nvSpPr>
      <dsp:spPr>
        <a:xfrm>
          <a:off x="0" y="0"/>
          <a:ext cx="7874758" cy="925318"/>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Message header </a:t>
          </a:r>
          <a:r>
            <a:rPr lang="en-US" sz="3600" b="1" kern="1200" dirty="0">
              <a:solidFill>
                <a:srgbClr val="FFC000"/>
              </a:solidFill>
            </a:rPr>
            <a:t>must</a:t>
          </a:r>
          <a:r>
            <a:rPr lang="en-US" sz="3600" kern="1200" dirty="0"/>
            <a:t> include:</a:t>
          </a:r>
        </a:p>
      </dsp:txBody>
      <dsp:txXfrm>
        <a:off x="0" y="0"/>
        <a:ext cx="7874758" cy="925318"/>
      </dsp:txXfrm>
    </dsp:sp>
    <dsp:sp modelId="{E7B2B6B6-E69A-4C00-82C0-BB3FBCB9A821}">
      <dsp:nvSpPr>
        <dsp:cNvPr id="0" name=""/>
        <dsp:cNvSpPr/>
      </dsp:nvSpPr>
      <dsp:spPr>
        <a:xfrm>
          <a:off x="0" y="925318"/>
          <a:ext cx="3937378" cy="19431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From field</a:t>
          </a:r>
          <a:br>
            <a:rPr lang="en-US" sz="3200" kern="1200" dirty="0"/>
          </a:br>
          <a:r>
            <a:rPr lang="en-US" sz="2600" kern="1200" dirty="0"/>
            <a:t>The email address and, optionally, the name of the sender</a:t>
          </a:r>
        </a:p>
      </dsp:txBody>
      <dsp:txXfrm>
        <a:off x="0" y="925318"/>
        <a:ext cx="3937378" cy="1943168"/>
      </dsp:txXfrm>
    </dsp:sp>
    <dsp:sp modelId="{10A5D298-0560-47F2-96B9-1F05C7752D9C}">
      <dsp:nvSpPr>
        <dsp:cNvPr id="0" name=""/>
        <dsp:cNvSpPr/>
      </dsp:nvSpPr>
      <dsp:spPr>
        <a:xfrm>
          <a:off x="3937379" y="925318"/>
          <a:ext cx="3937378" cy="19431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Date field</a:t>
          </a:r>
          <a:br>
            <a:rPr lang="en-US" sz="3100" kern="1200" dirty="0"/>
          </a:br>
          <a:r>
            <a:rPr lang="en-US" sz="2600" kern="1200" dirty="0"/>
            <a:t>The local time and date when the message was written</a:t>
          </a:r>
        </a:p>
      </dsp:txBody>
      <dsp:txXfrm>
        <a:off x="3937379" y="925318"/>
        <a:ext cx="3937378" cy="1943168"/>
      </dsp:txXfrm>
    </dsp:sp>
    <dsp:sp modelId="{AE7CF81B-0A82-4C4F-BF3B-7BC9680B7F18}">
      <dsp:nvSpPr>
        <dsp:cNvPr id="0" name=""/>
        <dsp:cNvSpPr/>
      </dsp:nvSpPr>
      <dsp:spPr>
        <a:xfrm>
          <a:off x="0" y="2868486"/>
          <a:ext cx="7874758" cy="215907"/>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D6F136-EAF5-461A-A118-9FB48B9081C1}">
      <dsp:nvSpPr>
        <dsp:cNvPr id="0" name=""/>
        <dsp:cNvSpPr/>
      </dsp:nvSpPr>
      <dsp:spPr>
        <a:xfrm>
          <a:off x="0" y="0"/>
          <a:ext cx="7874758" cy="925318"/>
        </a:xfrm>
        <a:prstGeom prst="rect">
          <a:avLst/>
        </a:prstGeom>
        <a:solidFill>
          <a:schemeClr val="accent2">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Message header </a:t>
          </a:r>
          <a:r>
            <a:rPr lang="en-US" sz="3600" b="1" kern="1200" dirty="0">
              <a:solidFill>
                <a:srgbClr val="0070C0"/>
              </a:solidFill>
            </a:rPr>
            <a:t>should</a:t>
          </a:r>
          <a:r>
            <a:rPr lang="en-US" sz="3600" kern="1200" dirty="0"/>
            <a:t> include:</a:t>
          </a:r>
        </a:p>
      </dsp:txBody>
      <dsp:txXfrm>
        <a:off x="0" y="0"/>
        <a:ext cx="7874758" cy="925318"/>
      </dsp:txXfrm>
    </dsp:sp>
    <dsp:sp modelId="{E7B2B6B6-E69A-4C00-82C0-BB3FBCB9A821}">
      <dsp:nvSpPr>
        <dsp:cNvPr id="0" name=""/>
        <dsp:cNvSpPr/>
      </dsp:nvSpPr>
      <dsp:spPr>
        <a:xfrm>
          <a:off x="0" y="925318"/>
          <a:ext cx="3937378" cy="1943168"/>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Message-ID field</a:t>
          </a:r>
          <a:br>
            <a:rPr lang="en-US" sz="3200" kern="1200" dirty="0"/>
          </a:br>
          <a:r>
            <a:rPr lang="en-US" sz="2600" kern="1200" dirty="0"/>
            <a:t>An automatically generated field</a:t>
          </a:r>
        </a:p>
      </dsp:txBody>
      <dsp:txXfrm>
        <a:off x="0" y="925318"/>
        <a:ext cx="3937378" cy="1943168"/>
      </dsp:txXfrm>
    </dsp:sp>
    <dsp:sp modelId="{10A5D298-0560-47F2-96B9-1F05C7752D9C}">
      <dsp:nvSpPr>
        <dsp:cNvPr id="0" name=""/>
        <dsp:cNvSpPr/>
      </dsp:nvSpPr>
      <dsp:spPr>
        <a:xfrm>
          <a:off x="3937379" y="925318"/>
          <a:ext cx="3937378" cy="1943168"/>
        </a:xfrm>
        <a:prstGeom prst="rect">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In-Reply-To field</a:t>
          </a:r>
          <a:br>
            <a:rPr lang="en-US" sz="3100" kern="1200" dirty="0"/>
          </a:br>
          <a:r>
            <a:rPr lang="en-US" sz="2600" kern="1200" dirty="0"/>
            <a:t>The message-ID of the message that this is a reply to</a:t>
          </a:r>
        </a:p>
      </dsp:txBody>
      <dsp:txXfrm>
        <a:off x="3937379" y="925318"/>
        <a:ext cx="3937378" cy="1943168"/>
      </dsp:txXfrm>
    </dsp:sp>
    <dsp:sp modelId="{AE7CF81B-0A82-4C4F-BF3B-7BC9680B7F18}">
      <dsp:nvSpPr>
        <dsp:cNvPr id="0" name=""/>
        <dsp:cNvSpPr/>
      </dsp:nvSpPr>
      <dsp:spPr>
        <a:xfrm>
          <a:off x="0" y="2868486"/>
          <a:ext cx="7874758" cy="215907"/>
        </a:xfrm>
        <a:prstGeom prst="rect">
          <a:avLst/>
        </a:prstGeom>
        <a:solidFill>
          <a:schemeClr val="accent2">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99CB94-F216-456F-BAF5-47BA1221A032}">
      <dsp:nvSpPr>
        <dsp:cNvPr id="0" name=""/>
        <dsp:cNvSpPr/>
      </dsp:nvSpPr>
      <dsp:spPr>
        <a:xfrm>
          <a:off x="434424" y="2037"/>
          <a:ext cx="2322062" cy="1393237"/>
        </a:xfrm>
        <a:prstGeom prst="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To</a:t>
          </a:r>
        </a:p>
      </dsp:txBody>
      <dsp:txXfrm>
        <a:off x="434424" y="2037"/>
        <a:ext cx="2322062" cy="1393237"/>
      </dsp:txXfrm>
    </dsp:sp>
    <dsp:sp modelId="{3DDD4460-EFFA-46C7-8830-76E11EE9F81E}">
      <dsp:nvSpPr>
        <dsp:cNvPr id="0" name=""/>
        <dsp:cNvSpPr/>
      </dsp:nvSpPr>
      <dsp:spPr>
        <a:xfrm>
          <a:off x="2988693" y="2037"/>
          <a:ext cx="2322062" cy="1393237"/>
        </a:xfrm>
        <a:prstGeom prst="rect">
          <a:avLst/>
        </a:prstGeom>
        <a:solidFill>
          <a:schemeClr val="accent1">
            <a:shade val="80000"/>
            <a:hueOff val="48531"/>
            <a:satOff val="-3048"/>
            <a:lumOff val="385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Subject</a:t>
          </a:r>
        </a:p>
      </dsp:txBody>
      <dsp:txXfrm>
        <a:off x="2988693" y="2037"/>
        <a:ext cx="2322062" cy="1393237"/>
      </dsp:txXfrm>
    </dsp:sp>
    <dsp:sp modelId="{DFDA3F6E-4774-4188-9D9C-DFE9341F7E14}">
      <dsp:nvSpPr>
        <dsp:cNvPr id="0" name=""/>
        <dsp:cNvSpPr/>
      </dsp:nvSpPr>
      <dsp:spPr>
        <a:xfrm>
          <a:off x="5542962" y="2037"/>
          <a:ext cx="2322062" cy="1393237"/>
        </a:xfrm>
        <a:prstGeom prst="rect">
          <a:avLst/>
        </a:prstGeom>
        <a:solidFill>
          <a:schemeClr val="accent1">
            <a:shade val="80000"/>
            <a:hueOff val="97063"/>
            <a:satOff val="-6097"/>
            <a:lumOff val="770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Cc/Bcc</a:t>
          </a:r>
        </a:p>
      </dsp:txBody>
      <dsp:txXfrm>
        <a:off x="5542962" y="2037"/>
        <a:ext cx="2322062" cy="1393237"/>
      </dsp:txXfrm>
    </dsp:sp>
    <dsp:sp modelId="{61CED6EB-2E46-4024-922F-6B7DB91B85DB}">
      <dsp:nvSpPr>
        <dsp:cNvPr id="0" name=""/>
        <dsp:cNvSpPr/>
      </dsp:nvSpPr>
      <dsp:spPr>
        <a:xfrm>
          <a:off x="434424" y="1627481"/>
          <a:ext cx="2322062" cy="1393237"/>
        </a:xfrm>
        <a:prstGeom prst="rect">
          <a:avLst/>
        </a:prstGeom>
        <a:solidFill>
          <a:schemeClr val="accent1">
            <a:shade val="80000"/>
            <a:hueOff val="145594"/>
            <a:satOff val="-9145"/>
            <a:lumOff val="115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Content-Type</a:t>
          </a:r>
        </a:p>
      </dsp:txBody>
      <dsp:txXfrm>
        <a:off x="434424" y="1627481"/>
        <a:ext cx="2322062" cy="1393237"/>
      </dsp:txXfrm>
    </dsp:sp>
    <dsp:sp modelId="{A70DFF25-60E6-46DB-99D6-DAC14B8CDAD8}">
      <dsp:nvSpPr>
        <dsp:cNvPr id="0" name=""/>
        <dsp:cNvSpPr/>
      </dsp:nvSpPr>
      <dsp:spPr>
        <a:xfrm>
          <a:off x="2988693" y="1627481"/>
          <a:ext cx="2322062" cy="1393237"/>
        </a:xfrm>
        <a:prstGeom prst="rect">
          <a:avLst/>
        </a:prstGeom>
        <a:solidFill>
          <a:schemeClr val="accent1">
            <a:shade val="80000"/>
            <a:hueOff val="194125"/>
            <a:satOff val="-12193"/>
            <a:lumOff val="15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Precedence</a:t>
          </a:r>
        </a:p>
      </dsp:txBody>
      <dsp:txXfrm>
        <a:off x="2988693" y="1627481"/>
        <a:ext cx="2322062" cy="1393237"/>
      </dsp:txXfrm>
    </dsp:sp>
    <dsp:sp modelId="{98F7265B-CCFB-4D55-8CEB-DB0BF9429BDE}">
      <dsp:nvSpPr>
        <dsp:cNvPr id="0" name=""/>
        <dsp:cNvSpPr/>
      </dsp:nvSpPr>
      <dsp:spPr>
        <a:xfrm>
          <a:off x="5542962" y="1627481"/>
          <a:ext cx="2322062" cy="1393237"/>
        </a:xfrm>
        <a:prstGeom prst="rect">
          <a:avLst/>
        </a:prstGeom>
        <a:solidFill>
          <a:schemeClr val="accent1">
            <a:shade val="80000"/>
            <a:hueOff val="242657"/>
            <a:satOff val="-15241"/>
            <a:lumOff val="192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Received</a:t>
          </a:r>
        </a:p>
      </dsp:txBody>
      <dsp:txXfrm>
        <a:off x="5542962" y="1627481"/>
        <a:ext cx="2322062" cy="1393237"/>
      </dsp:txXfrm>
    </dsp:sp>
    <dsp:sp modelId="{4A0EF4DC-F0E0-4756-9DF6-9DD5B93A8093}">
      <dsp:nvSpPr>
        <dsp:cNvPr id="0" name=""/>
        <dsp:cNvSpPr/>
      </dsp:nvSpPr>
      <dsp:spPr>
        <a:xfrm>
          <a:off x="434424" y="3252925"/>
          <a:ext cx="2322062" cy="1393237"/>
        </a:xfrm>
        <a:prstGeom prst="rect">
          <a:avLst/>
        </a:prstGeom>
        <a:solidFill>
          <a:schemeClr val="accent1">
            <a:shade val="80000"/>
            <a:hueOff val="291188"/>
            <a:satOff val="-18290"/>
            <a:lumOff val="2311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References</a:t>
          </a:r>
        </a:p>
      </dsp:txBody>
      <dsp:txXfrm>
        <a:off x="434424" y="3252925"/>
        <a:ext cx="2322062" cy="1393237"/>
      </dsp:txXfrm>
    </dsp:sp>
    <dsp:sp modelId="{59B78941-C0D1-40E4-BE5B-8BCE233A8BAA}">
      <dsp:nvSpPr>
        <dsp:cNvPr id="0" name=""/>
        <dsp:cNvSpPr/>
      </dsp:nvSpPr>
      <dsp:spPr>
        <a:xfrm>
          <a:off x="2988693" y="3252925"/>
          <a:ext cx="2322062" cy="1393237"/>
        </a:xfrm>
        <a:prstGeom prst="rect">
          <a:avLst/>
        </a:prstGeom>
        <a:solidFill>
          <a:schemeClr val="accent1">
            <a:shade val="80000"/>
            <a:hueOff val="339719"/>
            <a:satOff val="-21338"/>
            <a:lumOff val="269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Reply-To</a:t>
          </a:r>
        </a:p>
      </dsp:txBody>
      <dsp:txXfrm>
        <a:off x="2988693" y="3252925"/>
        <a:ext cx="2322062" cy="1393237"/>
      </dsp:txXfrm>
    </dsp:sp>
    <dsp:sp modelId="{70500E38-A9F4-47BA-AE34-3584673AB6D1}">
      <dsp:nvSpPr>
        <dsp:cNvPr id="0" name=""/>
        <dsp:cNvSpPr/>
      </dsp:nvSpPr>
      <dsp:spPr>
        <a:xfrm>
          <a:off x="5542962" y="3252925"/>
          <a:ext cx="2322062" cy="1393237"/>
        </a:xfrm>
        <a:prstGeom prst="rect">
          <a:avLst/>
        </a:prstGeom>
        <a:solidFill>
          <a:schemeClr val="accent1">
            <a:shade val="80000"/>
            <a:hueOff val="388250"/>
            <a:satOff val="-24386"/>
            <a:lumOff val="30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Sender</a:t>
          </a:r>
        </a:p>
      </dsp:txBody>
      <dsp:txXfrm>
        <a:off x="5542962" y="3252925"/>
        <a:ext cx="2322062" cy="139323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B0B8C3-145F-4480-8524-4BDF4576468A}">
      <dsp:nvSpPr>
        <dsp:cNvPr id="0" name=""/>
        <dsp:cNvSpPr/>
      </dsp:nvSpPr>
      <dsp:spPr>
        <a:xfrm>
          <a:off x="0" y="638274"/>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.pst</a:t>
          </a:r>
        </a:p>
        <a:p>
          <a:pPr marL="0" lvl="0" indent="0" algn="ctr" defTabSz="1022350">
            <a:lnSpc>
              <a:spcPct val="90000"/>
            </a:lnSpc>
            <a:spcBef>
              <a:spcPct val="0"/>
            </a:spcBef>
            <a:spcAft>
              <a:spcPct val="35000"/>
            </a:spcAft>
            <a:buNone/>
          </a:pPr>
          <a:r>
            <a:rPr lang="en-US" sz="2300" kern="1200" dirty="0"/>
            <a:t>(Outlook)</a:t>
          </a:r>
        </a:p>
      </dsp:txBody>
      <dsp:txXfrm>
        <a:off x="0" y="638274"/>
        <a:ext cx="2593578" cy="1556146"/>
      </dsp:txXfrm>
    </dsp:sp>
    <dsp:sp modelId="{1541C61E-2F71-4BAF-8834-147C61F97DB8}">
      <dsp:nvSpPr>
        <dsp:cNvPr id="0" name=""/>
        <dsp:cNvSpPr/>
      </dsp:nvSpPr>
      <dsp:spPr>
        <a:xfrm>
          <a:off x="2852935" y="638274"/>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.ost</a:t>
          </a:r>
        </a:p>
        <a:p>
          <a:pPr marL="0" lvl="0" indent="0" algn="ctr" defTabSz="1022350">
            <a:lnSpc>
              <a:spcPct val="90000"/>
            </a:lnSpc>
            <a:spcBef>
              <a:spcPct val="0"/>
            </a:spcBef>
            <a:spcAft>
              <a:spcPct val="35000"/>
            </a:spcAft>
            <a:buNone/>
          </a:pPr>
          <a:r>
            <a:rPr lang="en-US" sz="2300" kern="1200" dirty="0"/>
            <a:t>(Offline Outlook Storage)</a:t>
          </a:r>
        </a:p>
      </dsp:txBody>
      <dsp:txXfrm>
        <a:off x="2852935" y="638274"/>
        <a:ext cx="2593578" cy="1556146"/>
      </dsp:txXfrm>
    </dsp:sp>
    <dsp:sp modelId="{17343BEE-BFF5-415F-9B9C-D2B8AA612036}">
      <dsp:nvSpPr>
        <dsp:cNvPr id="0" name=""/>
        <dsp:cNvSpPr/>
      </dsp:nvSpPr>
      <dsp:spPr>
        <a:xfrm>
          <a:off x="5705871" y="638274"/>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.mbx or .dbx</a:t>
          </a:r>
        </a:p>
        <a:p>
          <a:pPr marL="0" lvl="0" indent="0" algn="ctr" defTabSz="1022350">
            <a:lnSpc>
              <a:spcPct val="90000"/>
            </a:lnSpc>
            <a:spcBef>
              <a:spcPct val="0"/>
            </a:spcBef>
            <a:spcAft>
              <a:spcPct val="35000"/>
            </a:spcAft>
            <a:buNone/>
          </a:pPr>
          <a:r>
            <a:rPr lang="en-US" sz="2300" kern="1200" dirty="0"/>
            <a:t>(Outlook Express)</a:t>
          </a:r>
        </a:p>
      </dsp:txBody>
      <dsp:txXfrm>
        <a:off x="5705871" y="638274"/>
        <a:ext cx="2593578" cy="1556146"/>
      </dsp:txXfrm>
    </dsp:sp>
    <dsp:sp modelId="{4BA1B972-0195-40BA-9400-DC226C4B1B55}">
      <dsp:nvSpPr>
        <dsp:cNvPr id="0" name=""/>
        <dsp:cNvSpPr/>
      </dsp:nvSpPr>
      <dsp:spPr>
        <a:xfrm>
          <a:off x="1426467" y="2453778"/>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.mbx</a:t>
          </a:r>
        </a:p>
        <a:p>
          <a:pPr marL="0" lvl="0" indent="0" algn="ctr" defTabSz="1022350">
            <a:lnSpc>
              <a:spcPct val="90000"/>
            </a:lnSpc>
            <a:spcBef>
              <a:spcPct val="0"/>
            </a:spcBef>
            <a:spcAft>
              <a:spcPct val="35000"/>
            </a:spcAft>
            <a:buNone/>
          </a:pPr>
          <a:r>
            <a:rPr lang="en-US" sz="2300" kern="1200" dirty="0"/>
            <a:t>(Eudora)</a:t>
          </a:r>
        </a:p>
      </dsp:txBody>
      <dsp:txXfrm>
        <a:off x="1426467" y="2453778"/>
        <a:ext cx="2593578" cy="1556146"/>
      </dsp:txXfrm>
    </dsp:sp>
    <dsp:sp modelId="{8E8CA8E2-A09F-489A-A62B-8ACEF21F6A02}">
      <dsp:nvSpPr>
        <dsp:cNvPr id="0" name=""/>
        <dsp:cNvSpPr/>
      </dsp:nvSpPr>
      <dsp:spPr>
        <a:xfrm>
          <a:off x="4279403" y="2453778"/>
          <a:ext cx="2593578" cy="15561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.emi</a:t>
          </a:r>
        </a:p>
        <a:p>
          <a:pPr marL="0" lvl="0" indent="0" algn="ctr" defTabSz="1022350">
            <a:lnSpc>
              <a:spcPct val="90000"/>
            </a:lnSpc>
            <a:spcBef>
              <a:spcPct val="0"/>
            </a:spcBef>
            <a:spcAft>
              <a:spcPct val="35000"/>
            </a:spcAft>
            <a:buNone/>
          </a:pPr>
          <a:r>
            <a:rPr lang="en-US" sz="2300" kern="1200" dirty="0"/>
            <a:t>(common to several email clients)</a:t>
          </a:r>
        </a:p>
      </dsp:txBody>
      <dsp:txXfrm>
        <a:off x="4279403" y="2453778"/>
        <a:ext cx="2593578" cy="1556146"/>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56A81824-3A0A-4449-B277-4C4EF2C82C98}" type="datetime1">
              <a:rPr lang="en-US"/>
              <a:pPr>
                <a:defRPr/>
              </a:pPr>
              <a:t>8/1/2022</a:t>
            </a:fld>
            <a:endParaRPr lang="en-US" dirty="0"/>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17C39099-B8B4-4332-AC94-4BC40256434E}" type="slidenum">
              <a:rPr lang="en-US"/>
              <a:pPr>
                <a:defRPr/>
              </a:pPr>
              <a:t>‹#›</a:t>
            </a:fld>
            <a:endParaRPr lang="en-US" dirty="0"/>
          </a:p>
        </p:txBody>
      </p:sp>
    </p:spTree>
    <p:extLst>
      <p:ext uri="{BB962C8B-B14F-4D97-AF65-F5344CB8AC3E}">
        <p14:creationId xmlns:p14="http://schemas.microsoft.com/office/powerpoint/2010/main" val="28659679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1BABA6E0-89E4-429A-81B3-821B55B4E3D8}" type="datetime1">
              <a:rPr lang="en-US"/>
              <a:pPr>
                <a:defRPr/>
              </a:pPr>
              <a:t>8/1/2022</a:t>
            </a:fld>
            <a:endParaRPr lang="en-US" dirty="0"/>
          </a:p>
        </p:txBody>
      </p:sp>
      <p:sp>
        <p:nvSpPr>
          <p:cNvPr id="28676"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059EE265-D607-49AA-A1E4-38CADC22C3FF}" type="slidenum">
              <a:rPr lang="en-US"/>
              <a:pPr>
                <a:defRPr/>
              </a:pPr>
              <a:t>‹#›</a:t>
            </a:fld>
            <a:endParaRPr lang="en-US" dirty="0"/>
          </a:p>
        </p:txBody>
      </p:sp>
    </p:spTree>
    <p:extLst>
      <p:ext uri="{BB962C8B-B14F-4D97-AF65-F5344CB8AC3E}">
        <p14:creationId xmlns:p14="http://schemas.microsoft.com/office/powerpoint/2010/main" val="1723633155"/>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pPr defTabSz="930275"/>
            <a:fld id="{0B8C3F24-A87F-48D9-9CF8-C10D302E2D23}" type="slidenum">
              <a:rPr lang="en-US" smtClean="0">
                <a:ea typeface="MS PGothic" pitchFamily="34" charset="-128"/>
              </a:rPr>
              <a:pPr defTabSz="930275"/>
              <a:t>1</a:t>
            </a:fld>
            <a:endParaRPr lang="en-US" dirty="0">
              <a:ea typeface="MS PGothic" pitchFamily="34" charset="-128"/>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814872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2</a:t>
            </a:fld>
            <a:endParaRPr lang="en-US" dirty="0">
              <a:latin typeface="Arial" pitchFamily="34" charset="0"/>
            </a:endParaRPr>
          </a:p>
        </p:txBody>
      </p:sp>
    </p:spTree>
    <p:extLst>
      <p:ext uri="{BB962C8B-B14F-4D97-AF65-F5344CB8AC3E}">
        <p14:creationId xmlns:p14="http://schemas.microsoft.com/office/powerpoint/2010/main" val="549304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3</a:t>
            </a:fld>
            <a:endParaRPr lang="en-US" dirty="0">
              <a:latin typeface="Arial" pitchFamily="34" charset="0"/>
            </a:endParaRPr>
          </a:p>
        </p:txBody>
      </p:sp>
    </p:spTree>
    <p:extLst>
      <p:ext uri="{BB962C8B-B14F-4D97-AF65-F5344CB8AC3E}">
        <p14:creationId xmlns:p14="http://schemas.microsoft.com/office/powerpoint/2010/main" val="581297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4</a:t>
            </a:fld>
            <a:endParaRPr lang="en-US" dirty="0"/>
          </a:p>
        </p:txBody>
      </p:sp>
    </p:spTree>
    <p:extLst>
      <p:ext uri="{BB962C8B-B14F-4D97-AF65-F5344CB8AC3E}">
        <p14:creationId xmlns:p14="http://schemas.microsoft.com/office/powerpoint/2010/main" val="3805102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Emails are generated by different types of devices and methods. Most commonly, a user composes a message on his or her computer and then sends it to his or her mail server. At this point, the user’s computer is finished with the job, but the mail server still has to deliver the message. The mail server sends and receives electronic mail. Most of the time, the mail server is separate from the computer where the mail was composed.</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 sender’s mail server forwards the message through the organization’s network and/or the Internet to the recipient’s mail server. The message then resides on that second mail server and is available to the recipient. The software program used to compose and read email messages is the email client.</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On the Internet, an email</a:t>
            </a:r>
            <a:r>
              <a:rPr lang="en-US" sz="1200" kern="1200" baseline="0" dirty="0">
                <a:solidFill>
                  <a:schemeClr val="tx1"/>
                </a:solidFill>
                <a:effectLst/>
                <a:latin typeface="Times New Roman" pitchFamily="18" charset="0"/>
                <a:ea typeface="+mn-ea"/>
                <a:cs typeface="+mn-cs"/>
              </a:rPr>
              <a:t> message can travel through </a:t>
            </a:r>
            <a:r>
              <a:rPr lang="en-US" sz="1200" kern="1200" dirty="0">
                <a:solidFill>
                  <a:schemeClr val="tx1"/>
                </a:solidFill>
                <a:effectLst/>
                <a:latin typeface="Times New Roman" pitchFamily="18" charset="0"/>
                <a:ea typeface="+mn-ea"/>
                <a:cs typeface="+mn-cs"/>
              </a:rPr>
              <a:t>many servers, referred to as "hops," that relay the message from the sender to the recipient. </a:t>
            </a:r>
          </a:p>
          <a:p>
            <a:r>
              <a:rPr lang="en-US" sz="1200" kern="1200" dirty="0">
                <a:solidFill>
                  <a:schemeClr val="tx1"/>
                </a:solidFill>
                <a:effectLst/>
                <a:latin typeface="Times New Roman" pitchFamily="18" charset="0"/>
                <a:ea typeface="+mn-ea"/>
                <a:cs typeface="+mn-cs"/>
              </a:rPr>
              <a:t> </a:t>
            </a: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5</a:t>
            </a:fld>
            <a:endParaRPr lang="en-US" dirty="0"/>
          </a:p>
        </p:txBody>
      </p:sp>
    </p:spTree>
    <p:extLst>
      <p:ext uri="{BB962C8B-B14F-4D97-AF65-F5344CB8AC3E}">
        <p14:creationId xmlns:p14="http://schemas.microsoft.com/office/powerpoint/2010/main" val="3866650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171450" indent="-171450">
              <a:buFont typeface="Arial" panose="020B0604020202020204" pitchFamily="34" charset="0"/>
              <a:buChar char="•"/>
            </a:pPr>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6</a:t>
            </a:fld>
            <a:endParaRPr lang="en-US" dirty="0"/>
          </a:p>
        </p:txBody>
      </p:sp>
    </p:spTree>
    <p:extLst>
      <p:ext uri="{BB962C8B-B14F-4D97-AF65-F5344CB8AC3E}">
        <p14:creationId xmlns:p14="http://schemas.microsoft.com/office/powerpoint/2010/main" val="1866799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7</a:t>
            </a:fld>
            <a:endParaRPr lang="en-US" dirty="0"/>
          </a:p>
        </p:txBody>
      </p:sp>
    </p:spTree>
    <p:extLst>
      <p:ext uri="{BB962C8B-B14F-4D97-AF65-F5344CB8AC3E}">
        <p14:creationId xmlns:p14="http://schemas.microsoft.com/office/powerpoint/2010/main" val="681844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8</a:t>
            </a:fld>
            <a:endParaRPr lang="en-US" dirty="0"/>
          </a:p>
        </p:txBody>
      </p:sp>
    </p:spTree>
    <p:extLst>
      <p:ext uri="{BB962C8B-B14F-4D97-AF65-F5344CB8AC3E}">
        <p14:creationId xmlns:p14="http://schemas.microsoft.com/office/powerpoint/2010/main" val="502329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Latest version of IMAP is similar to POP3</a:t>
            </a:r>
            <a:r>
              <a:rPr lang="en-US" baseline="0" dirty="0"/>
              <a:t> but supports more features</a:t>
            </a:r>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9</a:t>
            </a:fld>
            <a:endParaRPr lang="en-US" dirty="0"/>
          </a:p>
        </p:txBody>
      </p:sp>
    </p:spTree>
    <p:extLst>
      <p:ext uri="{BB962C8B-B14F-4D97-AF65-F5344CB8AC3E}">
        <p14:creationId xmlns:p14="http://schemas.microsoft.com/office/powerpoint/2010/main" val="3957689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endParaRPr lang="en-US" dirty="0"/>
          </a:p>
        </p:txBody>
      </p:sp>
      <p:sp>
        <p:nvSpPr>
          <p:cNvPr id="32772" name="Date Placeholder 3"/>
          <p:cNvSpPr>
            <a:spLocks noGrp="1"/>
          </p:cNvSpPr>
          <p:nvPr>
            <p:ph type="dt" sz="quarter" idx="1"/>
          </p:nvPr>
        </p:nvSpPr>
        <p:spPr>
          <a:noFill/>
        </p:spPr>
        <p:txBody>
          <a:bodyPr/>
          <a:lstStyle/>
          <a:p>
            <a:pPr defTabSz="931863"/>
            <a:fld id="{B0F72054-E9AF-4A16-ABB2-3A471199CB17}" type="datetime1">
              <a:rPr lang="en-US" smtClean="0"/>
              <a:pPr defTabSz="931863"/>
              <a:t>8/1/2022</a:t>
            </a:fld>
            <a:endParaRPr lang="en-US" dirty="0"/>
          </a:p>
        </p:txBody>
      </p:sp>
      <p:sp>
        <p:nvSpPr>
          <p:cNvPr id="32774" name="Slide Number Placeholder 5"/>
          <p:cNvSpPr>
            <a:spLocks noGrp="1"/>
          </p:cNvSpPr>
          <p:nvPr>
            <p:ph type="sldNum" sz="quarter" idx="5"/>
          </p:nvPr>
        </p:nvSpPr>
        <p:spPr>
          <a:noFill/>
        </p:spPr>
        <p:txBody>
          <a:bodyPr/>
          <a:lstStyle/>
          <a:p>
            <a:pPr defTabSz="931863"/>
            <a:fld id="{451DC782-C62A-4333-88FD-6371F8834CEC}" type="slidenum">
              <a:rPr lang="en-US" smtClean="0"/>
              <a:pPr defTabSz="931863"/>
              <a:t>10</a:t>
            </a:fld>
            <a:endParaRPr lang="en-US" dirty="0"/>
          </a:p>
        </p:txBody>
      </p:sp>
    </p:spTree>
    <p:extLst>
      <p:ext uri="{BB962C8B-B14F-4D97-AF65-F5344CB8AC3E}">
        <p14:creationId xmlns:p14="http://schemas.microsoft.com/office/powerpoint/2010/main" val="803323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endParaRPr lang="en-US" dirty="0"/>
          </a:p>
        </p:txBody>
      </p:sp>
      <p:sp>
        <p:nvSpPr>
          <p:cNvPr id="32772" name="Date Placeholder 3"/>
          <p:cNvSpPr>
            <a:spLocks noGrp="1"/>
          </p:cNvSpPr>
          <p:nvPr>
            <p:ph type="dt" sz="quarter" idx="1"/>
          </p:nvPr>
        </p:nvSpPr>
        <p:spPr>
          <a:noFill/>
        </p:spPr>
        <p:txBody>
          <a:bodyPr/>
          <a:lstStyle/>
          <a:p>
            <a:pPr defTabSz="931863"/>
            <a:fld id="{B0F72054-E9AF-4A16-ABB2-3A471199CB17}" type="datetime1">
              <a:rPr lang="en-US" smtClean="0"/>
              <a:pPr defTabSz="931863"/>
              <a:t>8/1/2022</a:t>
            </a:fld>
            <a:endParaRPr lang="en-US" dirty="0"/>
          </a:p>
        </p:txBody>
      </p:sp>
      <p:sp>
        <p:nvSpPr>
          <p:cNvPr id="32774" name="Slide Number Placeholder 5"/>
          <p:cNvSpPr>
            <a:spLocks noGrp="1"/>
          </p:cNvSpPr>
          <p:nvPr>
            <p:ph type="sldNum" sz="quarter" idx="5"/>
          </p:nvPr>
        </p:nvSpPr>
        <p:spPr>
          <a:noFill/>
        </p:spPr>
        <p:txBody>
          <a:bodyPr/>
          <a:lstStyle/>
          <a:p>
            <a:pPr defTabSz="931863"/>
            <a:fld id="{451DC782-C62A-4333-88FD-6371F8834CEC}" type="slidenum">
              <a:rPr lang="en-US" smtClean="0"/>
              <a:pPr defTabSz="931863"/>
              <a:t>11</a:t>
            </a:fld>
            <a:endParaRPr lang="en-US" dirty="0"/>
          </a:p>
        </p:txBody>
      </p:sp>
    </p:spTree>
    <p:extLst>
      <p:ext uri="{BB962C8B-B14F-4D97-AF65-F5344CB8AC3E}">
        <p14:creationId xmlns:p14="http://schemas.microsoft.com/office/powerpoint/2010/main" val="29468354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lvl="0"/>
            <a:r>
              <a:rPr lang="en-US" sz="1200" kern="1200" dirty="0">
                <a:solidFill>
                  <a:schemeClr val="tx1"/>
                </a:solidFill>
                <a:effectLst/>
                <a:latin typeface="Times New Roman" pitchFamily="18" charset="0"/>
                <a:ea typeface="+mn-ea"/>
                <a:cs typeface="+mn-cs"/>
              </a:rPr>
              <a:t>Spoofing involves making an email message appear to come from someone or someplace other than the real sender or location. The email sender uses a software tool to cut out his or her IP address and replace it with someone else’s IP address. </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However, the first machine to receive the spoofed message records the machine’s real IP address. Thus, the header contains both the faked IP and the real IP address—unless, of course, the perpetrator is clever enough to have also spoofed his or her actual IP address.</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12</a:t>
            </a:fld>
            <a:endParaRPr lang="en-US" dirty="0"/>
          </a:p>
        </p:txBody>
      </p:sp>
    </p:spTree>
    <p:extLst>
      <p:ext uri="{BB962C8B-B14F-4D97-AF65-F5344CB8AC3E}">
        <p14:creationId xmlns:p14="http://schemas.microsoft.com/office/powerpoint/2010/main" val="4770719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lvl="0"/>
            <a:r>
              <a:rPr lang="en-US" sz="1200" kern="1200" dirty="0">
                <a:solidFill>
                  <a:schemeClr val="tx1"/>
                </a:solidFill>
                <a:effectLst/>
                <a:latin typeface="Times New Roman" pitchFamily="18" charset="0"/>
                <a:ea typeface="+mn-ea"/>
                <a:cs typeface="+mn-cs"/>
              </a:rPr>
              <a:t>This is an attempt to throw tracing or tracking attempts off the trail. A suspect using this technique sends an email message to an anonymizer, an email server that strips identifying information from an email message before forwarding it with the anonymous mailing computer’s IP address. </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To find out who sent remailed email, look at any logs maintained by these remailer or anonymizer companies. Unfortunately, these services usually do not maintain logs. You can also closely analyze the message for embedded information that might give clues to the user or system that sent the message. </a:t>
            </a:r>
            <a:r>
              <a:rPr lang="en-GB" sz="1200" kern="1200" dirty="0">
                <a:solidFill>
                  <a:schemeClr val="tx1"/>
                </a:solidFill>
                <a:effectLst/>
                <a:latin typeface="Times New Roman" pitchFamily="18" charset="0"/>
                <a:ea typeface="+mn-ea"/>
                <a:cs typeface="+mn-cs"/>
              </a:rPr>
              <a:t>Often the remailing servers are outside of the jurisdiction of U.S. law enforcement and may even be on another continent.</a:t>
            </a:r>
            <a:endParaRPr lang="en-US" sz="1200" kern="1200" dirty="0">
              <a:solidFill>
                <a:schemeClr val="tx1"/>
              </a:solidFill>
              <a:effectLst/>
              <a:latin typeface="Times New Roman" pitchFamily="18" charset="0"/>
              <a:ea typeface="+mn-ea"/>
              <a:cs typeface="+mn-cs"/>
            </a:endParaRP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13</a:t>
            </a:fld>
            <a:endParaRPr lang="en-US" dirty="0"/>
          </a:p>
        </p:txBody>
      </p:sp>
    </p:spTree>
    <p:extLst>
      <p:ext uri="{BB962C8B-B14F-4D97-AF65-F5344CB8AC3E}">
        <p14:creationId xmlns:p14="http://schemas.microsoft.com/office/powerpoint/2010/main" val="39733504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Emails may appear to be from a trusted source and seem to be valid in every respect, except for the content of the message. The email passes all of the normal validity checks such as header structure and content, and even comes from a good known nonspam email server. However, the message is suspicious. The website uniform resource locator (URL) pointed to in the message may be a hacker or phishing site. These messages usually contain no hidden URL, pictures, or attachments and are very short. However, clicking the URL can unleash malicious software or other negative results. </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14</a:t>
            </a:fld>
            <a:endParaRPr lang="en-US" dirty="0"/>
          </a:p>
        </p:txBody>
      </p:sp>
    </p:spTree>
    <p:extLst>
      <p:ext uri="{BB962C8B-B14F-4D97-AF65-F5344CB8AC3E}">
        <p14:creationId xmlns:p14="http://schemas.microsoft.com/office/powerpoint/2010/main" val="23353607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Find a free public Wi-Fi in an area at least one hour from your home.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Spoof both your IP address and MAC address.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Send the email through an anonymous email account set up for that purpose.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Times New Roman" pitchFamily="18"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It is, however, very common for criminals to actually send emails from their own computers without even bothering to spoof their IP address or MAC address. Even computer-savvy criminals, who think to spoof their IP addresses, might not think to spoof the MAC address.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Times New Roman" pitchFamily="18"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Email address spoofing is only one kind of spoofing. </a:t>
            </a:r>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15</a:t>
            </a:fld>
            <a:endParaRPr lang="en-US" dirty="0"/>
          </a:p>
        </p:txBody>
      </p:sp>
    </p:spTree>
    <p:extLst>
      <p:ext uri="{BB962C8B-B14F-4D97-AF65-F5344CB8AC3E}">
        <p14:creationId xmlns:p14="http://schemas.microsoft.com/office/powerpoint/2010/main" val="14565883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16</a:t>
            </a:fld>
            <a:endParaRPr lang="en-US" dirty="0"/>
          </a:p>
        </p:txBody>
      </p:sp>
    </p:spTree>
    <p:extLst>
      <p:ext uri="{BB962C8B-B14F-4D97-AF65-F5344CB8AC3E}">
        <p14:creationId xmlns:p14="http://schemas.microsoft.com/office/powerpoint/2010/main" val="27241052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8/1/2022</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17</a:t>
            </a:fld>
            <a:endParaRPr lang="en-US" dirty="0"/>
          </a:p>
        </p:txBody>
      </p:sp>
    </p:spTree>
    <p:extLst>
      <p:ext uri="{BB962C8B-B14F-4D97-AF65-F5344CB8AC3E}">
        <p14:creationId xmlns:p14="http://schemas.microsoft.com/office/powerpoint/2010/main" val="1837936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18</a:t>
            </a:fld>
            <a:endParaRPr lang="en-US" dirty="0"/>
          </a:p>
        </p:txBody>
      </p:sp>
    </p:spTree>
    <p:extLst>
      <p:ext uri="{BB962C8B-B14F-4D97-AF65-F5344CB8AC3E}">
        <p14:creationId xmlns:p14="http://schemas.microsoft.com/office/powerpoint/2010/main" val="20068812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header for an email message tells you a great deal about the email. The header keeps a record of the message’s journey as it travels through the communications network. As the message is routed through one or more mail servers, each server adds its own information to the message header. Each device in a network has an Internet Protocol (IP) address that identifies the device and can be resolved to a location address. A forensic investigator may be able to identify IP addresses from a message header and use this information to determine who sent the message. So, the message header provides an audit trail of every machine through which the email has passed.</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19</a:t>
            </a:fld>
            <a:endParaRPr lang="en-US" dirty="0"/>
          </a:p>
        </p:txBody>
      </p:sp>
    </p:spTree>
    <p:extLst>
      <p:ext uri="{BB962C8B-B14F-4D97-AF65-F5344CB8AC3E}">
        <p14:creationId xmlns:p14="http://schemas.microsoft.com/office/powerpoint/2010/main" val="4747847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20</a:t>
            </a:fld>
            <a:endParaRPr lang="en-US" dirty="0"/>
          </a:p>
        </p:txBody>
      </p:sp>
    </p:spTree>
    <p:extLst>
      <p:ext uri="{BB962C8B-B14F-4D97-AF65-F5344CB8AC3E}">
        <p14:creationId xmlns:p14="http://schemas.microsoft.com/office/powerpoint/2010/main" val="35409241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In-Reply-To field: The message-ID of the message that this is a reply to; used to link related messages together</a:t>
            </a:r>
            <a:endParaRPr lang="en-US" sz="1100" dirty="0"/>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21</a:t>
            </a:fld>
            <a:endParaRPr lang="en-US" dirty="0"/>
          </a:p>
        </p:txBody>
      </p:sp>
    </p:spTree>
    <p:extLst>
      <p:ext uri="{BB962C8B-B14F-4D97-AF65-F5344CB8AC3E}">
        <p14:creationId xmlns:p14="http://schemas.microsoft.com/office/powerpoint/2010/main" val="2514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RFC 3864 describes message header field names. Common header fields for email include:</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 To—The email address and, optionally, name of the message’s primary recipient(s)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 Subject—A brief summary of the topic of the message</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 Cc—Carbon copy; a copy is sent to secondary recipients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 Bcc—Blind carbon copy; a copy is sent to addresses added to the SMTP delivery list while the Bcc address remains invisible to other recipients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 Content-Type—Information about how the message is to be displayed, usually</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a Multipurpose Internet Mail Extensions (MIME) type</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 Precedence—Commonly with values “bulk,” “junk,” or “list”; used to indicate that automated “vacation” or “out of office” responses should not be returned for this mail, for example, to prevent vacation notices from being sent to all other subscribers of a mailing list</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 Received—Tracking information generated by mail servers that have previously handled a message, in reverse order (last handler first)</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 References—Message-ID of the message to which this is a reply</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 Reply-To—Address that should be used to reply to the message</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 Sender—Address of the actual sender acting on behalf of the author listed in the From field</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22</a:t>
            </a:fld>
            <a:endParaRPr lang="en-US" dirty="0"/>
          </a:p>
        </p:txBody>
      </p:sp>
    </p:spTree>
    <p:extLst>
      <p:ext uri="{BB962C8B-B14F-4D97-AF65-F5344CB8AC3E}">
        <p14:creationId xmlns:p14="http://schemas.microsoft.com/office/powerpoint/2010/main" val="30979344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It is relatively easy to view the headers using Outlook.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With a specific message open, select File and then Info. Then select Properties and you will be able to view the headers.</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Older versions of Outlook have a different method to get to headers. With Outlook 2000/2003/2007, there are two methods:</a:t>
            </a:r>
          </a:p>
          <a:p>
            <a:pPr lvl="0"/>
            <a:r>
              <a:rPr lang="en-US" sz="1200" kern="1200" dirty="0">
                <a:solidFill>
                  <a:schemeClr val="tx1"/>
                </a:solidFill>
                <a:effectLst/>
                <a:latin typeface="Times New Roman" pitchFamily="18" charset="0"/>
                <a:ea typeface="+mn-ea"/>
                <a:cs typeface="+mn-cs"/>
              </a:rPr>
              <a:t>Method #1—Right-click the message in the folder view, and then choose Options. </a:t>
            </a:r>
          </a:p>
          <a:p>
            <a:pPr lvl="0"/>
            <a:r>
              <a:rPr lang="en-US" sz="1200" kern="1200" dirty="0">
                <a:solidFill>
                  <a:schemeClr val="tx1"/>
                </a:solidFill>
                <a:effectLst/>
                <a:latin typeface="Times New Roman" pitchFamily="18" charset="0"/>
                <a:ea typeface="+mn-ea"/>
                <a:cs typeface="+mn-cs"/>
              </a:rPr>
              <a:t>Method #2—In an open message, choose View and then Options.</a:t>
            </a:r>
          </a:p>
          <a:p>
            <a:r>
              <a:rPr lang="en-US" sz="1200" kern="1200" dirty="0">
                <a:solidFill>
                  <a:schemeClr val="tx1"/>
                </a:solidFill>
                <a:effectLst/>
                <a:latin typeface="Times New Roman" pitchFamily="18" charset="0"/>
                <a:ea typeface="+mn-ea"/>
                <a:cs typeface="+mn-cs"/>
              </a:rPr>
              <a:t>With either method, you will see the Internet headers portion of the Message Options dialog box. </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23</a:t>
            </a:fld>
            <a:endParaRPr lang="en-US" dirty="0"/>
          </a:p>
        </p:txBody>
      </p:sp>
    </p:spTree>
    <p:extLst>
      <p:ext uri="{BB962C8B-B14F-4D97-AF65-F5344CB8AC3E}">
        <p14:creationId xmlns:p14="http://schemas.microsoft.com/office/powerpoint/2010/main" val="19541235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It is relatively easy to view the headers using Outlook.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With a specific message open, select File and then Info. Then select Properties and you will be able to view the headers.</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Older versions of Outlook have a different method to get to headers. With Outlook 2000/2003/2007, there are two methods:</a:t>
            </a:r>
          </a:p>
          <a:p>
            <a:pPr lvl="0"/>
            <a:r>
              <a:rPr lang="en-US" sz="1200" kern="1200" dirty="0">
                <a:solidFill>
                  <a:schemeClr val="tx1"/>
                </a:solidFill>
                <a:effectLst/>
                <a:latin typeface="Times New Roman" pitchFamily="18" charset="0"/>
                <a:ea typeface="+mn-ea"/>
                <a:cs typeface="+mn-cs"/>
              </a:rPr>
              <a:t>Method #1—Right-click the message in the folder view, and then choose Options. </a:t>
            </a:r>
          </a:p>
          <a:p>
            <a:pPr lvl="0"/>
            <a:r>
              <a:rPr lang="en-US" sz="1200" kern="1200" dirty="0">
                <a:solidFill>
                  <a:schemeClr val="tx1"/>
                </a:solidFill>
                <a:effectLst/>
                <a:latin typeface="Times New Roman" pitchFamily="18" charset="0"/>
                <a:ea typeface="+mn-ea"/>
                <a:cs typeface="+mn-cs"/>
              </a:rPr>
              <a:t>Method #2—In an open message, choose View and then Options.</a:t>
            </a:r>
          </a:p>
          <a:p>
            <a:r>
              <a:rPr lang="en-US" sz="1200" kern="1200" dirty="0">
                <a:solidFill>
                  <a:schemeClr val="tx1"/>
                </a:solidFill>
                <a:effectLst/>
                <a:latin typeface="Times New Roman" pitchFamily="18" charset="0"/>
                <a:ea typeface="+mn-ea"/>
                <a:cs typeface="+mn-cs"/>
              </a:rPr>
              <a:t>With either method, you will see the Internet headers portion of the Message Options dialog box. </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24</a:t>
            </a:fld>
            <a:endParaRPr lang="en-US" dirty="0"/>
          </a:p>
        </p:txBody>
      </p:sp>
    </p:spTree>
    <p:extLst>
      <p:ext uri="{BB962C8B-B14F-4D97-AF65-F5344CB8AC3E}">
        <p14:creationId xmlns:p14="http://schemas.microsoft.com/office/powerpoint/2010/main" val="7578824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It is relatively easy to view the headers using Outlook.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With a specific message open, select File and then Info. Then select Properties and you will be able to view the headers.</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Older versions of Outlook have a different method to get to headers. With Outlook 2000/2003/2007, there are two methods:</a:t>
            </a:r>
          </a:p>
          <a:p>
            <a:pPr lvl="0"/>
            <a:r>
              <a:rPr lang="en-US" sz="1200" kern="1200" dirty="0">
                <a:solidFill>
                  <a:schemeClr val="tx1"/>
                </a:solidFill>
                <a:effectLst/>
                <a:latin typeface="Times New Roman" pitchFamily="18" charset="0"/>
                <a:ea typeface="+mn-ea"/>
                <a:cs typeface="+mn-cs"/>
              </a:rPr>
              <a:t>Method #1—Right-click the message in the folder view, and then choose Options. </a:t>
            </a:r>
          </a:p>
          <a:p>
            <a:pPr lvl="0"/>
            <a:r>
              <a:rPr lang="en-US" sz="1200" kern="1200" dirty="0">
                <a:solidFill>
                  <a:schemeClr val="tx1"/>
                </a:solidFill>
                <a:effectLst/>
                <a:latin typeface="Times New Roman" pitchFamily="18" charset="0"/>
                <a:ea typeface="+mn-ea"/>
                <a:cs typeface="+mn-cs"/>
              </a:rPr>
              <a:t>Method #2—In an open message, choose View and then Options.</a:t>
            </a:r>
          </a:p>
          <a:p>
            <a:r>
              <a:rPr lang="en-US" sz="1200" kern="1200" dirty="0">
                <a:solidFill>
                  <a:schemeClr val="tx1"/>
                </a:solidFill>
                <a:effectLst/>
                <a:latin typeface="Times New Roman" pitchFamily="18" charset="0"/>
                <a:ea typeface="+mn-ea"/>
                <a:cs typeface="+mn-cs"/>
              </a:rPr>
              <a:t>With either method, you will see the Internet headers portion of the Message Options dialog box. </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25</a:t>
            </a:fld>
            <a:endParaRPr lang="en-US" dirty="0"/>
          </a:p>
        </p:txBody>
      </p:sp>
    </p:spTree>
    <p:extLst>
      <p:ext uri="{BB962C8B-B14F-4D97-AF65-F5344CB8AC3E}">
        <p14:creationId xmlns:p14="http://schemas.microsoft.com/office/powerpoint/2010/main" val="31471795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First open the message. On the lower right, there is a link named Full Headers. Clicking on that link allows you to see the headers for that email.</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26</a:t>
            </a:fld>
            <a:endParaRPr lang="en-US" dirty="0"/>
          </a:p>
        </p:txBody>
      </p:sp>
    </p:spTree>
    <p:extLst>
      <p:ext uri="{BB962C8B-B14F-4D97-AF65-F5344CB8AC3E}">
        <p14:creationId xmlns:p14="http://schemas.microsoft.com/office/powerpoint/2010/main" val="532553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27</a:t>
            </a:fld>
            <a:endParaRPr lang="en-US" dirty="0"/>
          </a:p>
        </p:txBody>
      </p:sp>
    </p:spTree>
    <p:extLst>
      <p:ext uri="{BB962C8B-B14F-4D97-AF65-F5344CB8AC3E}">
        <p14:creationId xmlns:p14="http://schemas.microsoft.com/office/powerpoint/2010/main" val="238081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Viewing email headers in Gmail is fairly simple. Follow these steps:</a:t>
            </a:r>
          </a:p>
          <a:p>
            <a:r>
              <a:rPr lang="en-US" sz="1200" kern="1200" dirty="0">
                <a:solidFill>
                  <a:schemeClr val="tx1"/>
                </a:solidFill>
                <a:effectLst/>
                <a:latin typeface="Times New Roman" pitchFamily="18" charset="0"/>
                <a:ea typeface="+mn-ea"/>
                <a:cs typeface="+mn-cs"/>
              </a:rPr>
              <a:t>1.  Log on to Gmail.</a:t>
            </a:r>
          </a:p>
          <a:p>
            <a:r>
              <a:rPr lang="en-US" sz="1200" kern="1200" dirty="0">
                <a:solidFill>
                  <a:schemeClr val="tx1"/>
                </a:solidFill>
                <a:effectLst/>
                <a:latin typeface="Times New Roman" pitchFamily="18" charset="0"/>
                <a:ea typeface="+mn-ea"/>
                <a:cs typeface="+mn-cs"/>
              </a:rPr>
              <a:t>2.  Open the message for which you want to view headers.</a:t>
            </a:r>
          </a:p>
          <a:p>
            <a:r>
              <a:rPr lang="en-US" sz="1200" kern="1200" dirty="0">
                <a:solidFill>
                  <a:schemeClr val="tx1"/>
                </a:solidFill>
                <a:effectLst/>
                <a:latin typeface="Times New Roman" pitchFamily="18" charset="0"/>
                <a:ea typeface="+mn-ea"/>
                <a:cs typeface="+mn-cs"/>
              </a:rPr>
              <a:t>3.  Click the down arrow next to Reply, at the top of the message pane. </a:t>
            </a:r>
          </a:p>
          <a:p>
            <a:r>
              <a:rPr lang="en-US" sz="1200" kern="1200" dirty="0">
                <a:solidFill>
                  <a:schemeClr val="tx1"/>
                </a:solidFill>
                <a:effectLst/>
                <a:latin typeface="Times New Roman" pitchFamily="18" charset="0"/>
                <a:ea typeface="+mn-ea"/>
                <a:cs typeface="+mn-cs"/>
              </a:rPr>
              <a:t>4.  Select Show Original.</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 headers appear in a separate window.</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28</a:t>
            </a:fld>
            <a:endParaRPr lang="en-US" dirty="0"/>
          </a:p>
        </p:txBody>
      </p:sp>
    </p:spTree>
    <p:extLst>
      <p:ext uri="{BB962C8B-B14F-4D97-AF65-F5344CB8AC3E}">
        <p14:creationId xmlns:p14="http://schemas.microsoft.com/office/powerpoint/2010/main" val="21651621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b="0" i="0" u="none" strike="noStrike" kern="1200" baseline="0" dirty="0">
                <a:solidFill>
                  <a:schemeClr val="tx1"/>
                </a:solidFill>
                <a:latin typeface="Times New Roman" pitchFamily="18" charset="0"/>
                <a:ea typeface="+mn-ea"/>
                <a:cs typeface="+mn-cs"/>
              </a:rPr>
              <a:t>The headers appear in a separate window.</a:t>
            </a:r>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29</a:t>
            </a:fld>
            <a:endParaRPr lang="en-US" dirty="0"/>
          </a:p>
        </p:txBody>
      </p:sp>
    </p:spTree>
    <p:extLst>
      <p:ext uri="{BB962C8B-B14F-4D97-AF65-F5344CB8AC3E}">
        <p14:creationId xmlns:p14="http://schemas.microsoft.com/office/powerpoint/2010/main" val="16559573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30</a:t>
            </a:fld>
            <a:endParaRPr lang="en-US" dirty="0"/>
          </a:p>
        </p:txBody>
      </p:sp>
    </p:spTree>
    <p:extLst>
      <p:ext uri="{BB962C8B-B14F-4D97-AF65-F5344CB8AC3E}">
        <p14:creationId xmlns:p14="http://schemas.microsoft.com/office/powerpoint/2010/main" val="25238268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31</a:t>
            </a:fld>
            <a:endParaRPr lang="en-US" dirty="0"/>
          </a:p>
        </p:txBody>
      </p:sp>
    </p:spTree>
    <p:extLst>
      <p:ext uri="{BB962C8B-B14F-4D97-AF65-F5344CB8AC3E}">
        <p14:creationId xmlns:p14="http://schemas.microsoft.com/office/powerpoint/2010/main" val="4428123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32</a:t>
            </a:fld>
            <a:endParaRPr lang="en-US" dirty="0"/>
          </a:p>
        </p:txBody>
      </p:sp>
    </p:spTree>
    <p:extLst>
      <p:ext uri="{BB962C8B-B14F-4D97-AF65-F5344CB8AC3E}">
        <p14:creationId xmlns:p14="http://schemas.microsoft.com/office/powerpoint/2010/main" val="20836994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33</a:t>
            </a:fld>
            <a:endParaRPr lang="en-US" dirty="0"/>
          </a:p>
        </p:txBody>
      </p:sp>
    </p:spTree>
    <p:extLst>
      <p:ext uri="{BB962C8B-B14F-4D97-AF65-F5344CB8AC3E}">
        <p14:creationId xmlns:p14="http://schemas.microsoft.com/office/powerpoint/2010/main" val="9340960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When you first start Paraben, you select New and then create a new case.</a:t>
            </a:r>
          </a:p>
          <a:p>
            <a:endParaRPr lang="en-US" dirty="0"/>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34</a:t>
            </a:fld>
            <a:endParaRPr lang="en-US" dirty="0"/>
          </a:p>
        </p:txBody>
      </p:sp>
    </p:spTree>
    <p:extLst>
      <p:ext uri="{BB962C8B-B14F-4D97-AF65-F5344CB8AC3E}">
        <p14:creationId xmlns:p14="http://schemas.microsoft.com/office/powerpoint/2010/main" val="24716024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Paraben will associate information about the investigator along with the case information.</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35</a:t>
            </a:fld>
            <a:endParaRPr lang="en-US" dirty="0"/>
          </a:p>
        </p:txBody>
      </p:sp>
    </p:spTree>
    <p:extLst>
      <p:ext uri="{BB962C8B-B14F-4D97-AF65-F5344CB8AC3E}">
        <p14:creationId xmlns:p14="http://schemas.microsoft.com/office/powerpoint/2010/main" val="30082365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Next, select the type of email database you are going to be working with. The major email clients are all represented.</a:t>
            </a:r>
          </a:p>
          <a:p>
            <a:endParaRPr lang="en-US" dirty="0"/>
          </a:p>
          <a:p>
            <a:r>
              <a:rPr lang="en-US" dirty="0"/>
              <a:t>At this point, you select the database you want to work with, and it is added to the case.</a:t>
            </a:r>
          </a:p>
          <a:p>
            <a:r>
              <a:rPr lang="en-US" dirty="0"/>
              <a:t>From within Paraben, you can sort, search, scan, and otherwise work with the email data.</a:t>
            </a:r>
          </a:p>
          <a:p>
            <a:endParaRPr lang="en-US" dirty="0"/>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36</a:t>
            </a:fld>
            <a:endParaRPr lang="en-US" dirty="0"/>
          </a:p>
        </p:txBody>
      </p:sp>
    </p:spTree>
    <p:extLst>
      <p:ext uri="{BB962C8B-B14F-4D97-AF65-F5344CB8AC3E}">
        <p14:creationId xmlns:p14="http://schemas.microsoft.com/office/powerpoint/2010/main" val="30261889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Tracing email In some ways, forensic email tracing is similar to traditional detective work. Tracing email involves looking at each point through which an email passed and working step by step back to the originating computer and, eventually, the perpetrator.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Email header information is typically examined to look for clues about where a message has been. Investigators often use audits or paper trails of email traffic as evidence in court. Many investigators recommend use of the tracert command. However, because of the dynamic nature of the Internet, tracert does not provide reliable, consistent, or accurate routing information for an email.</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It may also be useful to determine the ownership of the source email server for a message. A number of whois databases are available on the Web that an investigator can use to find out to whom a given IP address is registered.</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37</a:t>
            </a:fld>
            <a:endParaRPr lang="en-US" dirty="0"/>
          </a:p>
        </p:txBody>
      </p:sp>
    </p:spTree>
    <p:extLst>
      <p:ext uri="{BB962C8B-B14F-4D97-AF65-F5344CB8AC3E}">
        <p14:creationId xmlns:p14="http://schemas.microsoft.com/office/powerpoint/2010/main" val="37635106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At some point, you will need to check the email server. Even if the sender and the recipient have deleted the relevant emails, there is a good chance a copy is still on the email server. Many servers have a retention policy, which may be governed by law in certain industries. There are a variety of email server programs that could be in use. Microsoft Exchange is a very common server. Lotus Notes and Novell GroupWise are also popular email server products.</a:t>
            </a:r>
            <a:endParaRPr lang="en-US" dirty="0"/>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38</a:t>
            </a:fld>
            <a:endParaRPr lang="en-US" dirty="0"/>
          </a:p>
        </p:txBody>
      </p:sp>
    </p:spTree>
    <p:extLst>
      <p:ext uri="{BB962C8B-B14F-4D97-AF65-F5344CB8AC3E}">
        <p14:creationId xmlns:p14="http://schemas.microsoft.com/office/powerpoint/2010/main" val="37618177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b="1" kern="1200" dirty="0">
                <a:solidFill>
                  <a:schemeClr val="tx1"/>
                </a:solidFill>
                <a:effectLst/>
                <a:latin typeface="Times New Roman" pitchFamily="18" charset="0"/>
                <a:ea typeface="+mn-ea"/>
                <a:cs typeface="+mn-cs"/>
              </a:rPr>
              <a:t>The Fourth Amendment to the U.S. Constitution</a:t>
            </a:r>
          </a:p>
          <a:p>
            <a:r>
              <a:rPr lang="en-US" sz="1200" kern="1200" dirty="0">
                <a:solidFill>
                  <a:schemeClr val="tx1"/>
                </a:solidFill>
                <a:effectLst/>
                <a:latin typeface="Times New Roman" pitchFamily="18" charset="0"/>
                <a:ea typeface="+mn-ea"/>
                <a:cs typeface="+mn-cs"/>
              </a:rPr>
              <a:t>The Fourth Amendment to the U.S. Constitution as well as state requirements govern the seizure and collection of any email messages that reside on a sender’s or recipient’s computer or other device. Does the person on whose computer the evidence resides have a reasonable expectation of privacy on that computer? If so, the Fourth Amendment requires a search warrant or one of the recognized exceptions to the search warrant requirements, such as consent from the device owner. </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The Electronic Communications Privacy Act</a:t>
            </a:r>
          </a:p>
          <a:p>
            <a:r>
              <a:rPr lang="en-US" sz="1200" kern="1200" dirty="0">
                <a:solidFill>
                  <a:schemeClr val="tx1"/>
                </a:solidFill>
                <a:effectLst/>
                <a:latin typeface="Times New Roman" pitchFamily="18" charset="0"/>
                <a:ea typeface="+mn-ea"/>
                <a:cs typeface="+mn-cs"/>
              </a:rPr>
              <a:t>If an Internet service provider (ISP) or any other communications network stores an email, retrieval of that evidence must be analyzed under the Electronic Communications Privacy Act (ECPA). The ECPA creates statutory restrictions on government access to such evidence from ISPs or other electronic communications service providers.</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 ECPA requires different legal processes to obtain specific types of information:</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Basic subscriber information—This information includes name, address, billing information, telephone number, etc. An investigator can obtain this type of information with a subpoena, court order, or search warrant.</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Transactional information—This information includes websites visited, email addresses of others with whom the subscriber exchanged email, and buddy lists. An investigator can obtain this type of information with a court order or search warrant.</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Content information—An investigator who has a search warrant can obtain content information from retrieved email messages and also acquire unretrieved stored emails.</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Real-time access—To intercept traffic as it is sent or received, an investigator needs to obtain a wiretap order.</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The CAN-SPAM Act</a:t>
            </a:r>
          </a:p>
          <a:p>
            <a:r>
              <a:rPr lang="en-US" sz="1200" kern="1200" dirty="0">
                <a:solidFill>
                  <a:schemeClr val="tx1"/>
                </a:solidFill>
                <a:effectLst/>
                <a:latin typeface="Times New Roman" pitchFamily="18" charset="0"/>
                <a:ea typeface="+mn-ea"/>
                <a:cs typeface="+mn-cs"/>
              </a:rPr>
              <a:t>This was the first law meant to curtail unsolicited email, referred to as spam. However, the law has loopholes. </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You do not need permission before sending email. This means that unsolicited email is not prohibited. </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It applies only to commercial emails—emails that are trying to sell some product or service. Therefore, mass emailings for political, religious, or ideological purposes are not covered by the Act.</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 only requirement of CAN-SPAM is that the sender must provide some mechanism whereby the receiver can opt out of future emails and that method cannot require the receiver to pay in order to opt out.</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Restrictions on how the sender can acquire the recipient’s email address and how the sender can actually transmit the email:</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A message cannot be sent through an open relay.</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A message cannot be sent to a harvested email address.</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A message cannot contain a false header.</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These methods are often used by people who send spam email. Tracking down the original sender of the email is the first step in investigating spam. Unfortunately, the email is sometimes sent from offshore sites or relayed through an innocent third party’s servers. This makes prosecuting spam very difficult and enforcing a judgment almost impossible in most cases.</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18 U.S.C. 2252B</a:t>
            </a:r>
          </a:p>
          <a:p>
            <a:pPr marL="17145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This law is about perpetrators who attempt to hide the pornographic nature of their website, often to make it more accessible to minors.</a:t>
            </a:r>
          </a:p>
          <a:p>
            <a:pPr marL="17145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This is a very serious concern, and one that sometimes arises in child predator cases.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1" kern="1200" dirty="0">
              <a:solidFill>
                <a:schemeClr val="tx1"/>
              </a:solidFill>
              <a:effectLst/>
              <a:latin typeface="Times New Roman" pitchFamily="18"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kern="1200" dirty="0">
                <a:solidFill>
                  <a:schemeClr val="tx1"/>
                </a:solidFill>
                <a:effectLst/>
                <a:latin typeface="Times New Roman" pitchFamily="18" charset="0"/>
                <a:ea typeface="+mn-ea"/>
                <a:cs typeface="+mn-cs"/>
              </a:rPr>
              <a:t>Communication Assistance for Law Enforcement Act (CALEA)</a:t>
            </a:r>
          </a:p>
          <a:p>
            <a:r>
              <a:rPr lang="en-US" sz="1200" kern="1200" dirty="0">
                <a:solidFill>
                  <a:schemeClr val="tx1"/>
                </a:solidFill>
                <a:effectLst/>
                <a:latin typeface="Times New Roman" pitchFamily="18" charset="0"/>
                <a:ea typeface="+mn-ea"/>
                <a:cs typeface="+mn-cs"/>
              </a:rPr>
              <a:t>CALEA is a U.S. wiretapping law. Its purpose is to allow law enforcement and intelligence agencies to lawfully conduct electronic surveillance by requiring that telecommunications carriers and manufacturers of telecommunications equipment modify and design their equipment, facilities, and services to ensure that they have built-in surveillance capabilities, allowing federal agencies to monitor all telephone, broadband Internet, and VoIP traffic in real time.</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Foreign Intelligence Surveillance Act (FISA)</a:t>
            </a:r>
          </a:p>
          <a:p>
            <a:r>
              <a:rPr lang="en-US" sz="1200" kern="1200" dirty="0">
                <a:solidFill>
                  <a:schemeClr val="tx1"/>
                </a:solidFill>
                <a:effectLst/>
                <a:latin typeface="Times New Roman" pitchFamily="18" charset="0"/>
                <a:ea typeface="+mn-ea"/>
                <a:cs typeface="+mn-cs"/>
              </a:rPr>
              <a:t>This U.S. law prescribes procedures for the physical and electronic surveillance and collection of “foreign intelligence information” between foreign powers and agents of foreign powers, which may include American citizens and permanent residents suspected of espionage or terrorism.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 law does not apply outside the United States but may be encountered by a forensic investigator in researching intelligence even if it does not specifically regard espionage or terrorism. The law is an important part of many agencies’ approaches to information gathering. It has been amended frequently so it is important to stay current on the latest revisions and court cases.</a:t>
            </a:r>
          </a:p>
          <a:p>
            <a:r>
              <a:rPr lang="en-US" sz="1200" kern="1200" dirty="0">
                <a:solidFill>
                  <a:schemeClr val="tx1"/>
                </a:solidFill>
                <a:effectLst/>
                <a:latin typeface="Times New Roman" pitchFamily="18" charset="0"/>
                <a:ea typeface="+mn-ea"/>
                <a:cs typeface="+mn-cs"/>
              </a:rPr>
              <a:t> </a:t>
            </a:r>
          </a:p>
          <a:p>
            <a:r>
              <a:rPr lang="en-US" sz="1200" b="1" kern="1200" dirty="0">
                <a:solidFill>
                  <a:schemeClr val="tx1"/>
                </a:solidFill>
                <a:effectLst/>
                <a:latin typeface="Times New Roman" pitchFamily="18" charset="0"/>
                <a:ea typeface="+mn-ea"/>
                <a:cs typeface="+mn-cs"/>
              </a:rPr>
              <a:t>The USA PATRIOT Act</a:t>
            </a:r>
          </a:p>
          <a:p>
            <a:r>
              <a:rPr lang="en-US" sz="1200" kern="1200" dirty="0">
                <a:solidFill>
                  <a:schemeClr val="tx1"/>
                </a:solidFill>
                <a:effectLst/>
                <a:latin typeface="Times New Roman" pitchFamily="18" charset="0"/>
                <a:ea typeface="+mn-ea"/>
                <a:cs typeface="+mn-cs"/>
              </a:rPr>
              <a:t>The USA PATRIOT Act of 2001 was passed into law as a response to the terrorist attacks of September 11, 2001. The Act:</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Reduced restrictions on law enforcement agencies’ intelligence gathering within the United States</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Expanded the Secretary of the Treasury’s authority to regulate financial transactions</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Broadened the discretion of law enforcement and immigration authorities in detaining and/or deporting immigrants suspected of terrorism and related acts</a:t>
            </a:r>
          </a:p>
          <a:p>
            <a:pPr marL="171450" lvl="0" indent="-171450">
              <a:buFont typeface="Arial" panose="020B0604020202020204" pitchFamily="34" charset="0"/>
              <a:buChar char="•"/>
            </a:pPr>
            <a:r>
              <a:rPr lang="en-US" sz="1200" kern="1200" dirty="0">
                <a:solidFill>
                  <a:schemeClr val="tx1"/>
                </a:solidFill>
                <a:effectLst/>
                <a:latin typeface="Times New Roman" pitchFamily="18" charset="0"/>
                <a:ea typeface="+mn-ea"/>
                <a:cs typeface="+mn-cs"/>
              </a:rPr>
              <a:t>Expanded the definition of terrorism to include domestic terrorism, thus enlarging the number of activities to which the PATRIOT Act’s extended law enforcement powers can be applied</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In May of 2011, President Barack Obama signed a four-year extension of three key provisions in the USA PATRIOT Act: roving wiretaps, searches of business records, and conducting surveillance of individuals suspected of terrorist-related activities not linked to terrorist groups.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 PATRIOT Act gives law enforcement dramatically enhanced powers for information gathering and should be a part of the knowledge base for any forensic investigator.</a:t>
            </a: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8/1/2022</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39</a:t>
            </a:fld>
            <a:endParaRPr lang="en-US" dirty="0"/>
          </a:p>
        </p:txBody>
      </p:sp>
    </p:spTree>
    <p:extLst>
      <p:ext uri="{BB962C8B-B14F-4D97-AF65-F5344CB8AC3E}">
        <p14:creationId xmlns:p14="http://schemas.microsoft.com/office/powerpoint/2010/main" val="39753857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4" name="TextBox 3"/>
          <p:cNvSpPr txBox="1"/>
          <p:nvPr userDrawn="1"/>
        </p:nvSpPr>
        <p:spPr>
          <a:xfrm>
            <a:off x="3607327" y="6496050"/>
            <a:ext cx="3014768" cy="215444"/>
          </a:xfrm>
          <a:prstGeom prst="rect">
            <a:avLst/>
          </a:prstGeom>
          <a:noFill/>
        </p:spPr>
        <p:txBody>
          <a:bodyPr wrap="none" rtlCol="0">
            <a:spAutoFit/>
          </a:bodyPr>
          <a:lstStyle/>
          <a:p>
            <a:r>
              <a:rPr lang="en-US" sz="800" dirty="0">
                <a:solidFill>
                  <a:schemeClr val="accent5"/>
                </a:solidFill>
              </a:rPr>
              <a:t>© 2012 Jones and Bartlett </a:t>
            </a:r>
            <a:r>
              <a:rPr lang="en-US" sz="800" i="0" dirty="0">
                <a:solidFill>
                  <a:schemeClr val="accent5"/>
                </a:solidFill>
              </a:rPr>
              <a:t>Learning, LLC  www.jblearning.com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659141" y="63327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userDrawn="1"/>
        </p:nvPicPr>
        <p:blipFill>
          <a:blip r:embed="rId5"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Text Box 6"/>
          <p:cNvSpPr txBox="1">
            <a:spLocks noChangeArrowheads="1"/>
          </p:cNvSpPr>
          <p:nvPr/>
        </p:nvSpPr>
        <p:spPr bwMode="auto">
          <a:xfrm>
            <a:off x="8382000" y="6496050"/>
            <a:ext cx="581025" cy="215900"/>
          </a:xfrm>
          <a:prstGeom prst="rect">
            <a:avLst/>
          </a:prstGeom>
          <a:noFill/>
          <a:ln>
            <a:noFill/>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C4F20969-4C03-463E-8346-60A56C879725}"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userDrawn="1"/>
        </p:nvSpPr>
        <p:spPr bwMode="auto">
          <a:xfrm>
            <a:off x="95250" y="6478588"/>
            <a:ext cx="3302000" cy="4778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userDrawn="1"/>
        </p:nvSpPr>
        <p:spPr>
          <a:xfrm>
            <a:off x="4136813" y="63962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138" r:id="rId1"/>
    <p:sldLayoutId id="2147484137" r:id="rId2"/>
    <p:sldLayoutId id="2147484140" r:id="rId3"/>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3"/>
          <p:cNvSpPr>
            <a:spLocks noGrp="1"/>
          </p:cNvSpPr>
          <p:nvPr>
            <p:ph type="subTitle" idx="1"/>
          </p:nvPr>
        </p:nvSpPr>
        <p:spPr>
          <a:xfrm>
            <a:off x="401638" y="2133600"/>
            <a:ext cx="8053387" cy="3096232"/>
          </a:xfrm>
        </p:spPr>
        <p:txBody>
          <a:bodyPr/>
          <a:lstStyle/>
          <a:p>
            <a:pPr algn="ctr"/>
            <a:r>
              <a:rPr lang="en-US" sz="4000" b="1" dirty="0"/>
              <a:t>System Forensics, Investigation, and Response</a:t>
            </a:r>
          </a:p>
          <a:p>
            <a:pPr algn="ctr"/>
            <a:endParaRPr lang="en-US" b="1" dirty="0"/>
          </a:p>
          <a:p>
            <a:pPr algn="ctr"/>
            <a:r>
              <a:rPr lang="en-US" b="1" dirty="0"/>
              <a:t>Lesson 7</a:t>
            </a:r>
          </a:p>
          <a:p>
            <a:pPr algn="ctr"/>
            <a:r>
              <a:rPr lang="en-US" b="1" dirty="0"/>
              <a:t>Email Forensics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Learning Objective</a:t>
            </a:r>
          </a:p>
        </p:txBody>
      </p:sp>
      <p:sp>
        <p:nvSpPr>
          <p:cNvPr id="6147" name="Content Placeholder 2"/>
          <p:cNvSpPr>
            <a:spLocks noGrp="1"/>
          </p:cNvSpPr>
          <p:nvPr>
            <p:ph idx="1"/>
          </p:nvPr>
        </p:nvSpPr>
        <p:spPr>
          <a:xfrm>
            <a:off x="539750" y="1828800"/>
            <a:ext cx="8299450" cy="4326340"/>
          </a:xfrm>
        </p:spPr>
        <p:txBody>
          <a:bodyPr/>
          <a:lstStyle/>
          <a:p>
            <a:r>
              <a:rPr lang="en-US" sz="2800" dirty="0"/>
              <a:t>Summarize various types of digital forensics.</a:t>
            </a:r>
          </a:p>
          <a:p>
            <a:pPr>
              <a:buFont typeface="Wingdings" pitchFamily="2" charset="2"/>
              <a:buNone/>
            </a:pPr>
            <a:endParaRPr lang="en-US" sz="1000" dirty="0"/>
          </a:p>
          <a:p>
            <a:pPr>
              <a:buFont typeface="Wingdings" pitchFamily="2" charset="2"/>
              <a:buNone/>
            </a:pPr>
            <a:endParaRPr lang="en-US" sz="3200" b="1" dirty="0"/>
          </a:p>
          <a:p>
            <a:endParaRPr lang="en-US" sz="28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Key Concepts</a:t>
            </a:r>
          </a:p>
        </p:txBody>
      </p:sp>
      <p:sp>
        <p:nvSpPr>
          <p:cNvPr id="6147" name="Content Placeholder 2"/>
          <p:cNvSpPr>
            <a:spLocks noGrp="1"/>
          </p:cNvSpPr>
          <p:nvPr>
            <p:ph idx="1"/>
          </p:nvPr>
        </p:nvSpPr>
        <p:spPr>
          <a:xfrm>
            <a:off x="539750" y="1828800"/>
            <a:ext cx="8299450" cy="4326340"/>
          </a:xfrm>
        </p:spPr>
        <p:txBody>
          <a:bodyPr/>
          <a:lstStyle/>
          <a:p>
            <a:r>
              <a:rPr lang="en-US" sz="2800" dirty="0"/>
              <a:t>Email clients and servers </a:t>
            </a:r>
          </a:p>
          <a:p>
            <a:r>
              <a:rPr lang="en-US" sz="2800" dirty="0"/>
              <a:t>Email headers</a:t>
            </a:r>
          </a:p>
          <a:p>
            <a:r>
              <a:rPr lang="en-US" sz="2800" dirty="0"/>
              <a:t>Email tracing</a:t>
            </a:r>
          </a:p>
          <a:p>
            <a:r>
              <a:rPr lang="en-US" sz="2800" dirty="0"/>
              <a:t>Email server forensic examination</a:t>
            </a:r>
          </a:p>
          <a:p>
            <a:r>
              <a:rPr lang="en-US" sz="2800" dirty="0"/>
              <a:t>Laws related to email investigations</a:t>
            </a:r>
          </a:p>
          <a:p>
            <a:pPr>
              <a:buFont typeface="Wingdings" pitchFamily="2" charset="2"/>
              <a:buNone/>
            </a:pPr>
            <a:endParaRPr lang="en-US" sz="3200" b="1" dirty="0"/>
          </a:p>
          <a:p>
            <a:endParaRPr lang="en-US" sz="2800" dirty="0"/>
          </a:p>
        </p:txBody>
      </p:sp>
    </p:spTree>
    <p:extLst>
      <p:ext uri="{BB962C8B-B14F-4D97-AF65-F5344CB8AC3E}">
        <p14:creationId xmlns:p14="http://schemas.microsoft.com/office/powerpoint/2010/main" val="173531844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How Email Works</a:t>
            </a:r>
          </a:p>
        </p:txBody>
      </p:sp>
      <p:sp>
        <p:nvSpPr>
          <p:cNvPr id="9219" name="Content Placeholder 2"/>
          <p:cNvSpPr>
            <a:spLocks noGrp="1"/>
          </p:cNvSpPr>
          <p:nvPr>
            <p:ph idx="1"/>
          </p:nvPr>
        </p:nvSpPr>
        <p:spPr>
          <a:xfrm>
            <a:off x="539750" y="1255594"/>
            <a:ext cx="8299450" cy="4465756"/>
          </a:xfrm>
        </p:spPr>
        <p:txBody>
          <a:bodyPr/>
          <a:lstStyle/>
          <a:p>
            <a:pPr marL="514350" indent="-514350">
              <a:buFont typeface="+mj-lt"/>
              <a:buAutoNum type="arabicPeriod"/>
            </a:pPr>
            <a:r>
              <a:rPr lang="en-US" sz="3200" dirty="0"/>
              <a:t>Sender uses a mail client to send a message</a:t>
            </a:r>
          </a:p>
          <a:p>
            <a:pPr marL="514350" indent="-514350">
              <a:buFont typeface="+mj-lt"/>
              <a:buAutoNum type="arabicPeriod"/>
            </a:pPr>
            <a:r>
              <a:rPr lang="en-US" sz="3200" dirty="0"/>
              <a:t>Message travels to multiple mail servers</a:t>
            </a:r>
          </a:p>
          <a:p>
            <a:pPr lvl="1"/>
            <a:r>
              <a:rPr lang="en-US" sz="3000" dirty="0"/>
              <a:t>Each mail server sends the message closer to its destination</a:t>
            </a:r>
          </a:p>
          <a:p>
            <a:pPr marL="514350" indent="-514350">
              <a:buFont typeface="+mj-lt"/>
              <a:buAutoNum type="arabicPeriod"/>
            </a:pPr>
            <a:r>
              <a:rPr lang="en-US" sz="3200" dirty="0"/>
              <a:t>Destination mail server stores the message</a:t>
            </a:r>
          </a:p>
          <a:p>
            <a:pPr marL="514350" indent="-514350">
              <a:buFont typeface="+mj-lt"/>
              <a:buAutoNum type="arabicPeriod"/>
            </a:pPr>
            <a:r>
              <a:rPr lang="en-US" sz="3200" dirty="0"/>
              <a:t>Receiver uses a mail client to retrieve the message from mail server</a:t>
            </a:r>
          </a:p>
        </p:txBody>
      </p:sp>
    </p:spTree>
    <p:extLst>
      <p:ext uri="{BB962C8B-B14F-4D97-AF65-F5344CB8AC3E}">
        <p14:creationId xmlns:p14="http://schemas.microsoft.com/office/powerpoint/2010/main" val="354830561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How Email Works</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61106" y="1976328"/>
            <a:ext cx="7450338" cy="200488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What an Email Review Can Reveal</a:t>
            </a:r>
          </a:p>
        </p:txBody>
      </p:sp>
      <p:sp>
        <p:nvSpPr>
          <p:cNvPr id="2" name="Content Placeholder 1"/>
          <p:cNvSpPr>
            <a:spLocks noGrp="1"/>
          </p:cNvSpPr>
          <p:nvPr>
            <p:ph idx="1"/>
          </p:nvPr>
        </p:nvSpPr>
        <p:spPr>
          <a:xfrm>
            <a:off x="539750" y="1815152"/>
            <a:ext cx="8299450" cy="4128448"/>
          </a:xfrm>
        </p:spPr>
        <p:txBody>
          <a:bodyPr/>
          <a:lstStyle/>
          <a:p>
            <a:r>
              <a:rPr lang="en-US" sz="3200" dirty="0"/>
              <a:t>Email messages related to the investigation</a:t>
            </a:r>
          </a:p>
          <a:p>
            <a:r>
              <a:rPr lang="en-US" sz="3200" dirty="0"/>
              <a:t>Email addresses related to the investigation</a:t>
            </a:r>
          </a:p>
          <a:p>
            <a:r>
              <a:rPr lang="en-US" sz="3200" dirty="0">
                <a:solidFill>
                  <a:srgbClr val="000000"/>
                </a:solidFill>
              </a:rPr>
              <a:t>Sender and recipient information</a:t>
            </a:r>
          </a:p>
          <a:p>
            <a:r>
              <a:rPr lang="en-US" sz="3200" dirty="0">
                <a:solidFill>
                  <a:srgbClr val="000000"/>
                </a:solidFill>
              </a:rPr>
              <a:t>Information about those copied on the email</a:t>
            </a:r>
          </a:p>
          <a:p>
            <a:r>
              <a:rPr lang="en-US" sz="3200" dirty="0">
                <a:solidFill>
                  <a:srgbClr val="000000"/>
                </a:solidFill>
              </a:rPr>
              <a:t>Content of the communications</a:t>
            </a:r>
          </a:p>
          <a:p>
            <a:r>
              <a:rPr lang="en-US" sz="3200" dirty="0">
                <a:solidFill>
                  <a:srgbClr val="000000"/>
                </a:solidFill>
              </a:rPr>
              <a:t>Internet Protocol (IP) addresses</a:t>
            </a:r>
          </a:p>
        </p:txBody>
      </p:sp>
      <p:pic>
        <p:nvPicPr>
          <p:cNvPr id="4" name="Picture 4" descr="C:\Users\Kim\AppData\Local\Microsoft\Windows\Temporary Internet Files\Content.IE5\EI0U9W1P\MC900432605[1].png">
            <a:extLst>
              <a:ext uri="{FF2B5EF4-FFF2-40B4-BE49-F238E27FC236}">
                <a16:creationId xmlns:a16="http://schemas.microsoft.com/office/drawing/2014/main" id="{1B19EF12-74D0-468D-9D6F-BF1A9F0187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4405263"/>
            <a:ext cx="18288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2639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What an Email Review Can Reveal (Cont.)</a:t>
            </a:r>
          </a:p>
        </p:txBody>
      </p:sp>
      <p:sp>
        <p:nvSpPr>
          <p:cNvPr id="2" name="Content Placeholder 1"/>
          <p:cNvSpPr>
            <a:spLocks noGrp="1"/>
          </p:cNvSpPr>
          <p:nvPr>
            <p:ph idx="1"/>
          </p:nvPr>
        </p:nvSpPr>
        <p:spPr>
          <a:xfrm>
            <a:off x="539750" y="1815152"/>
            <a:ext cx="8299450" cy="4128448"/>
          </a:xfrm>
        </p:spPr>
        <p:txBody>
          <a:bodyPr/>
          <a:lstStyle/>
          <a:p>
            <a:r>
              <a:rPr lang="en-US" sz="3200" dirty="0">
                <a:solidFill>
                  <a:srgbClr val="000000"/>
                </a:solidFill>
              </a:rPr>
              <a:t>Date and time information</a:t>
            </a:r>
          </a:p>
          <a:p>
            <a:r>
              <a:rPr lang="en-US" sz="3200" dirty="0">
                <a:solidFill>
                  <a:srgbClr val="000000"/>
                </a:solidFill>
              </a:rPr>
              <a:t>User information</a:t>
            </a:r>
          </a:p>
          <a:p>
            <a:r>
              <a:rPr lang="en-US" sz="3200" dirty="0">
                <a:solidFill>
                  <a:srgbClr val="000000"/>
                </a:solidFill>
              </a:rPr>
              <a:t>Attachments</a:t>
            </a:r>
          </a:p>
          <a:p>
            <a:r>
              <a:rPr lang="en-US" sz="3200" dirty="0">
                <a:solidFill>
                  <a:srgbClr val="000000"/>
                </a:solidFill>
              </a:rPr>
              <a:t>Passwords</a:t>
            </a:r>
          </a:p>
          <a:p>
            <a:r>
              <a:rPr lang="en-US" sz="3200" dirty="0">
                <a:solidFill>
                  <a:srgbClr val="000000"/>
                </a:solidFill>
              </a:rPr>
              <a:t>Application logs that show </a:t>
            </a:r>
            <a:br>
              <a:rPr lang="en-US" sz="3200" dirty="0">
                <a:solidFill>
                  <a:srgbClr val="000000"/>
                </a:solidFill>
              </a:rPr>
            </a:br>
            <a:r>
              <a:rPr lang="en-US" sz="3200" dirty="0">
                <a:solidFill>
                  <a:srgbClr val="000000"/>
                </a:solidFill>
              </a:rPr>
              <a:t>evidence of spoofing</a:t>
            </a:r>
          </a:p>
        </p:txBody>
      </p:sp>
      <p:pic>
        <p:nvPicPr>
          <p:cNvPr id="1028" name="Picture 4" descr="C:\Users\Kim\AppData\Local\Microsoft\Windows\Temporary Internet Files\Content.IE5\EI0U9W1P\MC900432605[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4405263"/>
            <a:ext cx="18288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695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Email Protocols</a:t>
            </a:r>
          </a:p>
        </p:txBody>
      </p:sp>
      <p:sp>
        <p:nvSpPr>
          <p:cNvPr id="11267" name="Content Placeholder 2"/>
          <p:cNvSpPr>
            <a:spLocks noGrp="1"/>
          </p:cNvSpPr>
          <p:nvPr>
            <p:ph idx="1"/>
          </p:nvPr>
        </p:nvSpPr>
        <p:spPr>
          <a:xfrm>
            <a:off x="539750" y="1214650"/>
            <a:ext cx="8299450" cy="4506699"/>
          </a:xfrm>
        </p:spPr>
        <p:txBody>
          <a:bodyPr/>
          <a:lstStyle/>
          <a:p>
            <a:r>
              <a:rPr lang="en-US" sz="3200" dirty="0"/>
              <a:t>Simple Mail Transfer Protocol (SMTP)</a:t>
            </a:r>
          </a:p>
          <a:p>
            <a:pPr lvl="1"/>
            <a:r>
              <a:rPr lang="en-US" sz="3000" dirty="0"/>
              <a:t>Used to send email from a client to a mail server, and between servers</a:t>
            </a:r>
          </a:p>
          <a:p>
            <a:pPr lvl="1"/>
            <a:r>
              <a:rPr lang="en-US" sz="3000" dirty="0"/>
              <a:t>Typically operates on port 25</a:t>
            </a:r>
          </a:p>
          <a:p>
            <a:pPr lvl="1"/>
            <a:r>
              <a:rPr lang="en-US" sz="3000" dirty="0"/>
              <a:t>SMTPS (secure) operates on port 465</a:t>
            </a:r>
            <a:endParaRPr lang="en-US" sz="3200" dirty="0"/>
          </a:p>
        </p:txBody>
      </p:sp>
    </p:spTree>
    <p:extLst>
      <p:ext uri="{BB962C8B-B14F-4D97-AF65-F5344CB8AC3E}">
        <p14:creationId xmlns:p14="http://schemas.microsoft.com/office/powerpoint/2010/main" val="2455405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Email Protocols (Cont.)</a:t>
            </a:r>
          </a:p>
        </p:txBody>
      </p:sp>
      <p:sp>
        <p:nvSpPr>
          <p:cNvPr id="11267" name="Content Placeholder 2"/>
          <p:cNvSpPr>
            <a:spLocks noGrp="1"/>
          </p:cNvSpPr>
          <p:nvPr>
            <p:ph idx="1"/>
          </p:nvPr>
        </p:nvSpPr>
        <p:spPr>
          <a:xfrm>
            <a:off x="539750" y="1214650"/>
            <a:ext cx="8299450" cy="4506699"/>
          </a:xfrm>
        </p:spPr>
        <p:txBody>
          <a:bodyPr/>
          <a:lstStyle/>
          <a:p>
            <a:r>
              <a:rPr lang="en-US" sz="3200" dirty="0"/>
              <a:t>Post Office Protocol version 3 (POP3)</a:t>
            </a:r>
          </a:p>
          <a:p>
            <a:pPr lvl="1"/>
            <a:r>
              <a:rPr lang="en-US" sz="2600" dirty="0"/>
              <a:t>Used to receive email</a:t>
            </a:r>
          </a:p>
          <a:p>
            <a:pPr lvl="1"/>
            <a:r>
              <a:rPr lang="en-US" sz="2600" dirty="0"/>
              <a:t>Operates on port 110, or 995 (secure)</a:t>
            </a:r>
          </a:p>
          <a:p>
            <a:pPr lvl="1"/>
            <a:r>
              <a:rPr lang="en-US" sz="2600" dirty="0"/>
              <a:t>Designed to delete email on server as soon as user downloads email</a:t>
            </a:r>
          </a:p>
          <a:p>
            <a:r>
              <a:rPr lang="en-US" sz="3200" dirty="0"/>
              <a:t>Internet Message Access Protocol (IMAP)</a:t>
            </a:r>
          </a:p>
          <a:p>
            <a:pPr marL="688975" lvl="2" indent="-233363">
              <a:buFont typeface="Wingdings" pitchFamily="2" charset="2"/>
              <a:buChar char="§"/>
            </a:pPr>
            <a:r>
              <a:rPr lang="en-US" sz="2600" dirty="0"/>
              <a:t>Used to receive email</a:t>
            </a:r>
          </a:p>
          <a:p>
            <a:pPr marL="688975" lvl="2" indent="-233363">
              <a:buFont typeface="Wingdings" pitchFamily="2" charset="2"/>
              <a:buChar char="§"/>
            </a:pPr>
            <a:r>
              <a:rPr lang="en-US" sz="2600" dirty="0"/>
              <a:t>Operates on port 143</a:t>
            </a:r>
          </a:p>
          <a:p>
            <a:pPr marL="688975" lvl="2" indent="-233363">
              <a:buFont typeface="Wingdings" pitchFamily="2" charset="2"/>
              <a:buChar char="§"/>
            </a:pPr>
            <a:r>
              <a:rPr lang="en-US" sz="2600" dirty="0"/>
              <a:t>User views email on the server, decides whether to download the mail; email is retained on server</a:t>
            </a:r>
          </a:p>
          <a:p>
            <a:pPr marL="0" indent="0">
              <a:buNone/>
            </a:pPr>
            <a:endParaRPr lang="en-US" sz="3200" dirty="0"/>
          </a:p>
        </p:txBody>
      </p:sp>
    </p:spTree>
    <p:extLst>
      <p:ext uri="{BB962C8B-B14F-4D97-AF65-F5344CB8AC3E}">
        <p14:creationId xmlns:p14="http://schemas.microsoft.com/office/powerpoint/2010/main" val="4206948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476250"/>
          </a:xfrm>
        </p:spPr>
        <p:txBody>
          <a:bodyPr/>
          <a:lstStyle/>
          <a:p>
            <a:r>
              <a:rPr lang="en-US" sz="4000" dirty="0">
                <a:solidFill>
                  <a:schemeClr val="tx2"/>
                </a:solidFill>
              </a:rPr>
              <a:t>Email Protocol Process</a:t>
            </a:r>
          </a:p>
        </p:txBody>
      </p:sp>
      <p:sp>
        <p:nvSpPr>
          <p:cNvPr id="2" name="Right Arrow 1"/>
          <p:cNvSpPr/>
          <p:nvPr/>
        </p:nvSpPr>
        <p:spPr bwMode="auto">
          <a:xfrm>
            <a:off x="2502088" y="4844106"/>
            <a:ext cx="1282889" cy="730250"/>
          </a:xfrm>
          <a:prstGeom prst="rightArrow">
            <a:avLst/>
          </a:prstGeom>
          <a:solidFill>
            <a:srgbClr val="14AC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SMTP</a:t>
            </a:r>
          </a:p>
        </p:txBody>
      </p:sp>
      <p:grpSp>
        <p:nvGrpSpPr>
          <p:cNvPr id="3" name="Group 2"/>
          <p:cNvGrpSpPr/>
          <p:nvPr/>
        </p:nvGrpSpPr>
        <p:grpSpPr>
          <a:xfrm>
            <a:off x="7003577" y="1964149"/>
            <a:ext cx="1828800" cy="1081088"/>
            <a:chOff x="6325738" y="1252512"/>
            <a:chExt cx="1828800" cy="1081088"/>
          </a:xfrm>
        </p:grpSpPr>
        <p:pic>
          <p:nvPicPr>
            <p:cNvPr id="7"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5738" y="1252512"/>
              <a:ext cx="182880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29"/>
            <p:cNvSpPr txBox="1">
              <a:spLocks noChangeArrowheads="1"/>
            </p:cNvSpPr>
            <p:nvPr/>
          </p:nvSpPr>
          <p:spPr bwMode="auto">
            <a:xfrm>
              <a:off x="6743251" y="1665262"/>
              <a:ext cx="103028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b="1" dirty="0">
                  <a:solidFill>
                    <a:schemeClr val="tx1"/>
                  </a:solidFill>
                </a:rPr>
                <a:t>Internet</a:t>
              </a:r>
            </a:p>
          </p:txBody>
        </p:sp>
      </p:grpSp>
      <p:sp>
        <p:nvSpPr>
          <p:cNvPr id="10" name="Right Arrow 9"/>
          <p:cNvSpPr/>
          <p:nvPr/>
        </p:nvSpPr>
        <p:spPr bwMode="auto">
          <a:xfrm>
            <a:off x="5570562" y="2228762"/>
            <a:ext cx="1282889" cy="730250"/>
          </a:xfrm>
          <a:prstGeom prst="rightArrow">
            <a:avLst/>
          </a:prstGeom>
          <a:solidFill>
            <a:srgbClr val="14AC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SMTP</a:t>
            </a:r>
          </a:p>
        </p:txBody>
      </p:sp>
      <p:grpSp>
        <p:nvGrpSpPr>
          <p:cNvPr id="11" name="Group 10"/>
          <p:cNvGrpSpPr/>
          <p:nvPr/>
        </p:nvGrpSpPr>
        <p:grpSpPr>
          <a:xfrm>
            <a:off x="331229" y="4655039"/>
            <a:ext cx="1828800" cy="1081088"/>
            <a:chOff x="6325738" y="1252512"/>
            <a:chExt cx="1828800" cy="1081088"/>
          </a:xfrm>
        </p:grpSpPr>
        <p:pic>
          <p:nvPicPr>
            <p:cNvPr id="12"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5738" y="1252512"/>
              <a:ext cx="182880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29"/>
            <p:cNvSpPr txBox="1">
              <a:spLocks noChangeArrowheads="1"/>
            </p:cNvSpPr>
            <p:nvPr/>
          </p:nvSpPr>
          <p:spPr bwMode="auto">
            <a:xfrm>
              <a:off x="6743251" y="1665262"/>
              <a:ext cx="103028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b="1" dirty="0">
                  <a:solidFill>
                    <a:schemeClr val="tx1"/>
                  </a:solidFill>
                </a:rPr>
                <a:t>Internet</a:t>
              </a:r>
            </a:p>
          </p:txBody>
        </p:sp>
      </p:grpSp>
      <p:sp>
        <p:nvSpPr>
          <p:cNvPr id="14" name="Right Arrow 13"/>
          <p:cNvSpPr/>
          <p:nvPr/>
        </p:nvSpPr>
        <p:spPr bwMode="auto">
          <a:xfrm>
            <a:off x="2499814" y="2291968"/>
            <a:ext cx="1282889" cy="730250"/>
          </a:xfrm>
          <a:prstGeom prst="rightArrow">
            <a:avLst/>
          </a:prstGeom>
          <a:solidFill>
            <a:srgbClr val="14AC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SMTP</a:t>
            </a:r>
          </a:p>
        </p:txBody>
      </p:sp>
      <p:grpSp>
        <p:nvGrpSpPr>
          <p:cNvPr id="17" name="Group 16"/>
          <p:cNvGrpSpPr/>
          <p:nvPr/>
        </p:nvGrpSpPr>
        <p:grpSpPr>
          <a:xfrm>
            <a:off x="4069026" y="1843660"/>
            <a:ext cx="1535658" cy="1659606"/>
            <a:chOff x="4069026" y="1243148"/>
            <a:chExt cx="1535658" cy="1659606"/>
          </a:xfrm>
        </p:grpSpPr>
        <p:pic>
          <p:nvPicPr>
            <p:cNvPr id="6"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9026" y="1243148"/>
              <a:ext cx="1535658" cy="1282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22"/>
            <p:cNvSpPr txBox="1">
              <a:spLocks noChangeArrowheads="1"/>
            </p:cNvSpPr>
            <p:nvPr/>
          </p:nvSpPr>
          <p:spPr bwMode="auto">
            <a:xfrm>
              <a:off x="4123618" y="2556679"/>
              <a:ext cx="9144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eaLnBrk="1"/>
              <a:r>
                <a:rPr lang="en-US" dirty="0">
                  <a:solidFill>
                    <a:srgbClr val="000000"/>
                  </a:solidFill>
                </a:rPr>
                <a:t>Server</a:t>
              </a:r>
            </a:p>
          </p:txBody>
        </p:sp>
      </p:grpSp>
      <p:grpSp>
        <p:nvGrpSpPr>
          <p:cNvPr id="9" name="Group 8"/>
          <p:cNvGrpSpPr/>
          <p:nvPr/>
        </p:nvGrpSpPr>
        <p:grpSpPr>
          <a:xfrm>
            <a:off x="730819" y="2139567"/>
            <a:ext cx="1315476" cy="1404474"/>
            <a:chOff x="730819" y="1539055"/>
            <a:chExt cx="1315476" cy="1404474"/>
          </a:xfrm>
        </p:grpSpPr>
        <p:pic>
          <p:nvPicPr>
            <p:cNvPr id="5"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0819" y="1539055"/>
              <a:ext cx="1315476" cy="95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6" name="Text Box 22"/>
            <p:cNvSpPr txBox="1">
              <a:spLocks noChangeArrowheads="1"/>
            </p:cNvSpPr>
            <p:nvPr/>
          </p:nvSpPr>
          <p:spPr bwMode="auto">
            <a:xfrm>
              <a:off x="1054189" y="2597454"/>
              <a:ext cx="9144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eaLnBrk="1"/>
              <a:r>
                <a:rPr lang="en-US" dirty="0">
                  <a:solidFill>
                    <a:srgbClr val="000000"/>
                  </a:solidFill>
                </a:rPr>
                <a:t>User</a:t>
              </a:r>
            </a:p>
          </p:txBody>
        </p:sp>
      </p:grpSp>
      <p:grpSp>
        <p:nvGrpSpPr>
          <p:cNvPr id="19" name="Group 18"/>
          <p:cNvGrpSpPr/>
          <p:nvPr/>
        </p:nvGrpSpPr>
        <p:grpSpPr>
          <a:xfrm>
            <a:off x="4086941" y="4365780"/>
            <a:ext cx="1535658" cy="1659606"/>
            <a:chOff x="4069026" y="1243148"/>
            <a:chExt cx="1535658" cy="1659606"/>
          </a:xfrm>
        </p:grpSpPr>
        <p:pic>
          <p:nvPicPr>
            <p:cNvPr id="2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9026" y="1243148"/>
              <a:ext cx="1535658" cy="1282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Box 22"/>
            <p:cNvSpPr txBox="1">
              <a:spLocks noChangeArrowheads="1"/>
            </p:cNvSpPr>
            <p:nvPr/>
          </p:nvSpPr>
          <p:spPr bwMode="auto">
            <a:xfrm>
              <a:off x="4123618" y="2556679"/>
              <a:ext cx="9144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eaLnBrk="1"/>
              <a:r>
                <a:rPr lang="en-US" dirty="0">
                  <a:solidFill>
                    <a:srgbClr val="000000"/>
                  </a:solidFill>
                </a:rPr>
                <a:t>Server</a:t>
              </a:r>
            </a:p>
          </p:txBody>
        </p:sp>
      </p:grpSp>
      <p:sp>
        <p:nvSpPr>
          <p:cNvPr id="22" name="Right Arrow 21"/>
          <p:cNvSpPr/>
          <p:nvPr/>
        </p:nvSpPr>
        <p:spPr bwMode="auto">
          <a:xfrm>
            <a:off x="5709316" y="4464274"/>
            <a:ext cx="1592238" cy="1210650"/>
          </a:xfrm>
          <a:prstGeom prst="rightArrow">
            <a:avLst/>
          </a:prstGeom>
          <a:solidFill>
            <a:srgbClr val="14AC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b="1" dirty="0">
                <a:solidFill>
                  <a:schemeClr val="bg1"/>
                </a:solidFill>
                <a:latin typeface="Arial" charset="0"/>
              </a:rPr>
              <a:t>POP3/</a:t>
            </a:r>
            <a:br>
              <a:rPr lang="en-US" b="1" dirty="0">
                <a:solidFill>
                  <a:schemeClr val="bg1"/>
                </a:solidFill>
                <a:latin typeface="Arial" charset="0"/>
              </a:rPr>
            </a:br>
            <a:r>
              <a:rPr lang="en-US" b="1" dirty="0">
                <a:solidFill>
                  <a:schemeClr val="bg1"/>
                </a:solidFill>
                <a:latin typeface="Arial" charset="0"/>
              </a:rPr>
              <a:t>IMAP</a:t>
            </a:r>
            <a:endParaRPr kumimoji="0" lang="en-US" sz="1800" b="1" i="0" u="none" strike="noStrike" cap="none" normalizeH="0" baseline="0" dirty="0">
              <a:ln>
                <a:noFill/>
              </a:ln>
              <a:solidFill>
                <a:schemeClr val="bg1"/>
              </a:solidFill>
              <a:effectLst/>
              <a:latin typeface="Arial" charset="0"/>
            </a:endParaRPr>
          </a:p>
        </p:txBody>
      </p:sp>
      <p:grpSp>
        <p:nvGrpSpPr>
          <p:cNvPr id="23" name="Group 22"/>
          <p:cNvGrpSpPr/>
          <p:nvPr/>
        </p:nvGrpSpPr>
        <p:grpSpPr>
          <a:xfrm>
            <a:off x="7502978" y="4506994"/>
            <a:ext cx="1315476" cy="1404474"/>
            <a:chOff x="730819" y="1539055"/>
            <a:chExt cx="1315476" cy="1404474"/>
          </a:xfrm>
        </p:grpSpPr>
        <p:pic>
          <p:nvPicPr>
            <p:cNvPr id="24"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0819" y="1539055"/>
              <a:ext cx="1315476" cy="95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25" name="Text Box 22"/>
            <p:cNvSpPr txBox="1">
              <a:spLocks noChangeArrowheads="1"/>
            </p:cNvSpPr>
            <p:nvPr/>
          </p:nvSpPr>
          <p:spPr bwMode="auto">
            <a:xfrm>
              <a:off x="1054189" y="2597454"/>
              <a:ext cx="9144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eaLnBrk="1"/>
              <a:r>
                <a:rPr lang="en-US" dirty="0">
                  <a:solidFill>
                    <a:srgbClr val="000000"/>
                  </a:solidFill>
                </a:rPr>
                <a:t>User</a:t>
              </a:r>
            </a:p>
          </p:txBody>
        </p:sp>
      </p:grpSp>
      <p:sp>
        <p:nvSpPr>
          <p:cNvPr id="18" name="TextBox 17"/>
          <p:cNvSpPr txBox="1"/>
          <p:nvPr/>
        </p:nvSpPr>
        <p:spPr>
          <a:xfrm>
            <a:off x="539750" y="1419370"/>
            <a:ext cx="3063259" cy="369332"/>
          </a:xfrm>
          <a:prstGeom prst="rect">
            <a:avLst/>
          </a:prstGeom>
          <a:noFill/>
        </p:spPr>
        <p:txBody>
          <a:bodyPr wrap="square" rtlCol="0">
            <a:spAutoFit/>
          </a:bodyPr>
          <a:lstStyle/>
          <a:p>
            <a:r>
              <a:rPr lang="en-US" b="1" dirty="0">
                <a:solidFill>
                  <a:srgbClr val="14ACC0"/>
                </a:solidFill>
              </a:rPr>
              <a:t>Outbound Email</a:t>
            </a:r>
          </a:p>
        </p:txBody>
      </p:sp>
      <p:sp>
        <p:nvSpPr>
          <p:cNvPr id="27" name="TextBox 26"/>
          <p:cNvSpPr txBox="1"/>
          <p:nvPr/>
        </p:nvSpPr>
        <p:spPr>
          <a:xfrm>
            <a:off x="514665" y="4094942"/>
            <a:ext cx="3063259" cy="369332"/>
          </a:xfrm>
          <a:prstGeom prst="rect">
            <a:avLst/>
          </a:prstGeom>
          <a:noFill/>
        </p:spPr>
        <p:txBody>
          <a:bodyPr wrap="square" rtlCol="0">
            <a:spAutoFit/>
          </a:bodyPr>
          <a:lstStyle/>
          <a:p>
            <a:r>
              <a:rPr lang="en-US" b="1" dirty="0">
                <a:solidFill>
                  <a:srgbClr val="14ACC0"/>
                </a:solidFill>
              </a:rPr>
              <a:t>Inbound Email</a:t>
            </a:r>
          </a:p>
        </p:txBody>
      </p:sp>
    </p:spTree>
    <p:extLst>
      <p:ext uri="{BB962C8B-B14F-4D97-AF65-F5344CB8AC3E}">
        <p14:creationId xmlns:p14="http://schemas.microsoft.com/office/powerpoint/2010/main" val="3469896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476250"/>
          </a:xfrm>
        </p:spPr>
        <p:txBody>
          <a:bodyPr/>
          <a:lstStyle/>
          <a:p>
            <a:r>
              <a:rPr lang="en-US" sz="4000" dirty="0">
                <a:solidFill>
                  <a:schemeClr val="tx2"/>
                </a:solidFill>
              </a:rPr>
              <a:t>Faking Emails</a:t>
            </a:r>
          </a:p>
        </p:txBody>
      </p:sp>
      <p:graphicFrame>
        <p:nvGraphicFramePr>
          <p:cNvPr id="4" name="Diagram 3"/>
          <p:cNvGraphicFramePr/>
          <p:nvPr>
            <p:extLst>
              <p:ext uri="{D42A27DB-BD31-4B8C-83A1-F6EECF244321}">
                <p14:modId xmlns:p14="http://schemas.microsoft.com/office/powerpoint/2010/main" val="863309056"/>
              </p:ext>
            </p:extLst>
          </p:nvPr>
        </p:nvGraphicFramePr>
        <p:xfrm>
          <a:off x="430036" y="1473958"/>
          <a:ext cx="8409163" cy="42271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90177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Spoofing</a:t>
            </a:r>
          </a:p>
        </p:txBody>
      </p:sp>
      <p:sp>
        <p:nvSpPr>
          <p:cNvPr id="11267" name="Content Placeholder 2"/>
          <p:cNvSpPr>
            <a:spLocks noGrp="1"/>
          </p:cNvSpPr>
          <p:nvPr>
            <p:ph idx="1"/>
          </p:nvPr>
        </p:nvSpPr>
        <p:spPr>
          <a:xfrm>
            <a:off x="539750" y="1214650"/>
            <a:ext cx="8299450" cy="4506699"/>
          </a:xfrm>
        </p:spPr>
        <p:txBody>
          <a:bodyPr/>
          <a:lstStyle/>
          <a:p>
            <a:r>
              <a:rPr lang="en-US" sz="3200" dirty="0"/>
              <a:t>Making an email message appear to come from someone or someplace other than the real sender or location</a:t>
            </a:r>
          </a:p>
          <a:p>
            <a:r>
              <a:rPr lang="en-US" sz="3200" dirty="0"/>
              <a:t>First machine to receive spoofed message records machine’s real IP address</a:t>
            </a:r>
          </a:p>
          <a:p>
            <a:r>
              <a:rPr lang="en-US" sz="3200" dirty="0"/>
              <a:t>Header contains both the faked IP and the real IP address</a:t>
            </a:r>
          </a:p>
          <a:p>
            <a:endParaRPr lang="en-US" sz="3200" dirty="0"/>
          </a:p>
        </p:txBody>
      </p:sp>
    </p:spTree>
    <p:extLst>
      <p:ext uri="{BB962C8B-B14F-4D97-AF65-F5344CB8AC3E}">
        <p14:creationId xmlns:p14="http://schemas.microsoft.com/office/powerpoint/2010/main" val="3663097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Anonymous Remailing</a:t>
            </a:r>
          </a:p>
        </p:txBody>
      </p:sp>
      <p:sp>
        <p:nvSpPr>
          <p:cNvPr id="11267" name="Content Placeholder 2"/>
          <p:cNvSpPr>
            <a:spLocks noGrp="1"/>
          </p:cNvSpPr>
          <p:nvPr>
            <p:ph idx="1"/>
          </p:nvPr>
        </p:nvSpPr>
        <p:spPr>
          <a:xfrm>
            <a:off x="539750" y="1214650"/>
            <a:ext cx="8299450" cy="4506699"/>
          </a:xfrm>
        </p:spPr>
        <p:txBody>
          <a:bodyPr/>
          <a:lstStyle/>
          <a:p>
            <a:r>
              <a:rPr lang="en-US" sz="3200" dirty="0"/>
              <a:t>Suspect sends an email message to an anonymizer</a:t>
            </a:r>
          </a:p>
          <a:p>
            <a:pPr lvl="1"/>
            <a:r>
              <a:rPr lang="en-US" sz="3000" dirty="0"/>
              <a:t>Anonymizer is email server that strips identifying information from message before forwarding it with anonymous mailing computer’s IP address</a:t>
            </a:r>
          </a:p>
          <a:p>
            <a:r>
              <a:rPr lang="en-US" sz="3200" dirty="0"/>
              <a:t>To find out who sent remailed email, must examine logs maintained by remailer or anonymizer companies</a:t>
            </a:r>
          </a:p>
          <a:p>
            <a:endParaRPr lang="en-US" sz="3200" dirty="0"/>
          </a:p>
        </p:txBody>
      </p:sp>
    </p:spTree>
    <p:extLst>
      <p:ext uri="{BB962C8B-B14F-4D97-AF65-F5344CB8AC3E}">
        <p14:creationId xmlns:p14="http://schemas.microsoft.com/office/powerpoint/2010/main" val="2465023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"Valid" Emails</a:t>
            </a:r>
          </a:p>
        </p:txBody>
      </p:sp>
      <p:sp>
        <p:nvSpPr>
          <p:cNvPr id="11267" name="Content Placeholder 2"/>
          <p:cNvSpPr>
            <a:spLocks noGrp="1"/>
          </p:cNvSpPr>
          <p:nvPr>
            <p:ph idx="1"/>
          </p:nvPr>
        </p:nvSpPr>
        <p:spPr>
          <a:xfrm>
            <a:off x="539750" y="1214650"/>
            <a:ext cx="8299450" cy="4506699"/>
          </a:xfrm>
        </p:spPr>
        <p:txBody>
          <a:bodyPr/>
          <a:lstStyle/>
          <a:p>
            <a:r>
              <a:rPr lang="en-US" sz="3200" dirty="0"/>
              <a:t>Appears as through mail is from trusted source</a:t>
            </a:r>
          </a:p>
          <a:p>
            <a:r>
              <a:rPr lang="en-US" sz="3200" dirty="0"/>
              <a:t>Message content is suspicious</a:t>
            </a:r>
          </a:p>
          <a:p>
            <a:r>
              <a:rPr lang="en-US" sz="3200" dirty="0"/>
              <a:t>Content may contain URL that points to malicious site</a:t>
            </a:r>
          </a:p>
          <a:p>
            <a:endParaRPr lang="en-US" sz="3200" dirty="0"/>
          </a:p>
        </p:txBody>
      </p:sp>
    </p:spTree>
    <p:extLst>
      <p:ext uri="{BB962C8B-B14F-4D97-AF65-F5344CB8AC3E}">
        <p14:creationId xmlns:p14="http://schemas.microsoft.com/office/powerpoint/2010/main" val="14374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How to Fake an Email</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775694783"/>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35368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Email Message Components</a:t>
            </a:r>
          </a:p>
        </p:txBody>
      </p:sp>
      <p:sp>
        <p:nvSpPr>
          <p:cNvPr id="9219" name="Content Placeholder 2"/>
          <p:cNvSpPr>
            <a:spLocks noGrp="1"/>
          </p:cNvSpPr>
          <p:nvPr>
            <p:ph idx="1"/>
          </p:nvPr>
        </p:nvSpPr>
        <p:spPr>
          <a:xfrm>
            <a:off x="539750" y="1255594"/>
            <a:ext cx="8299450" cy="4465756"/>
          </a:xfrm>
        </p:spPr>
        <p:txBody>
          <a:bodyPr/>
          <a:lstStyle/>
          <a:p>
            <a:r>
              <a:rPr lang="en-US" sz="3200" dirty="0"/>
              <a:t>Header</a:t>
            </a:r>
          </a:p>
          <a:p>
            <a:pPr lvl="1"/>
            <a:r>
              <a:rPr lang="en-US" sz="3000" dirty="0"/>
              <a:t>Addressing information</a:t>
            </a:r>
          </a:p>
          <a:p>
            <a:pPr lvl="1"/>
            <a:r>
              <a:rPr lang="en-US" sz="3000" dirty="0"/>
              <a:t>Source and destination</a:t>
            </a:r>
          </a:p>
          <a:p>
            <a:r>
              <a:rPr lang="en-US" sz="3200" dirty="0"/>
              <a:t>Body</a:t>
            </a:r>
          </a:p>
          <a:p>
            <a:pPr lvl="1"/>
            <a:r>
              <a:rPr lang="en-US" sz="3000" dirty="0"/>
              <a:t>Contents of the message</a:t>
            </a:r>
          </a:p>
          <a:p>
            <a:r>
              <a:rPr lang="en-US" sz="3200" dirty="0"/>
              <a:t>Attachments</a:t>
            </a:r>
          </a:p>
          <a:p>
            <a:pPr lvl="1"/>
            <a:r>
              <a:rPr lang="en-US" sz="3000" dirty="0"/>
              <a:t>External data that travels along with each message</a:t>
            </a:r>
          </a:p>
        </p:txBody>
      </p:sp>
    </p:spTree>
    <p:extLst>
      <p:ext uri="{BB962C8B-B14F-4D97-AF65-F5344CB8AC3E}">
        <p14:creationId xmlns:p14="http://schemas.microsoft.com/office/powerpoint/2010/main" val="106173126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Email Message Components</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19240" y="1295400"/>
            <a:ext cx="6340469" cy="4648200"/>
          </a:xfrm>
        </p:spPr>
      </p:pic>
    </p:spTree>
    <p:extLst>
      <p:ext uri="{BB962C8B-B14F-4D97-AF65-F5344CB8AC3E}">
        <p14:creationId xmlns:p14="http://schemas.microsoft.com/office/powerpoint/2010/main" val="412328303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Email Headers</a:t>
            </a:r>
          </a:p>
        </p:txBody>
      </p:sp>
      <p:sp>
        <p:nvSpPr>
          <p:cNvPr id="3" name="Content Placeholder 2"/>
          <p:cNvSpPr>
            <a:spLocks noGrp="1"/>
          </p:cNvSpPr>
          <p:nvPr>
            <p:ph idx="1"/>
          </p:nvPr>
        </p:nvSpPr>
        <p:spPr/>
        <p:txBody>
          <a:bodyPr/>
          <a:lstStyle/>
          <a:p>
            <a:pPr lvl="0"/>
            <a:r>
              <a:rPr lang="en-US" sz="3200" dirty="0">
                <a:solidFill>
                  <a:srgbClr val="000000"/>
                </a:solidFill>
              </a:rPr>
              <a:t>RFC 2822</a:t>
            </a:r>
          </a:p>
          <a:p>
            <a:pPr lvl="1"/>
            <a:r>
              <a:rPr lang="en-US" sz="3000" dirty="0">
                <a:solidFill>
                  <a:srgbClr val="000000"/>
                </a:solidFill>
              </a:rPr>
              <a:t>Standard for email format, including headers</a:t>
            </a:r>
          </a:p>
          <a:p>
            <a:pPr lvl="0"/>
            <a:r>
              <a:rPr lang="en-US" sz="3200" dirty="0">
                <a:solidFill>
                  <a:srgbClr val="000000"/>
                </a:solidFill>
              </a:rPr>
              <a:t>All email programs use the same email format, regardless of operating system</a:t>
            </a:r>
          </a:p>
          <a:p>
            <a:pPr lvl="1"/>
            <a:r>
              <a:rPr lang="en-US" sz="3000" dirty="0">
                <a:solidFill>
                  <a:srgbClr val="000000"/>
                </a:solidFill>
              </a:rPr>
              <a:t>Email from Outlook on a Windows 10 PC can be read by recipient using Hotmail on Android phone</a:t>
            </a:r>
          </a:p>
          <a:p>
            <a:pPr marL="0" lvl="0" indent="0">
              <a:buNone/>
            </a:pPr>
            <a:endParaRPr lang="en-US" sz="3200" dirty="0">
              <a:solidFill>
                <a:srgbClr val="000000"/>
              </a:solidFill>
            </a:endParaRPr>
          </a:p>
        </p:txBody>
      </p:sp>
    </p:spTree>
    <p:extLst>
      <p:ext uri="{BB962C8B-B14F-4D97-AF65-F5344CB8AC3E}">
        <p14:creationId xmlns:p14="http://schemas.microsoft.com/office/powerpoint/2010/main" val="3435589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Email Headers (Cont.)</a:t>
            </a:r>
          </a:p>
        </p:txBody>
      </p:sp>
      <p:sp>
        <p:nvSpPr>
          <p:cNvPr id="3" name="Content Placeholder 2"/>
          <p:cNvSpPr>
            <a:spLocks noGrp="1"/>
          </p:cNvSpPr>
          <p:nvPr>
            <p:ph idx="1"/>
          </p:nvPr>
        </p:nvSpPr>
        <p:spPr/>
        <p:txBody>
          <a:bodyPr/>
          <a:lstStyle/>
          <a:p>
            <a:pPr lvl="0"/>
            <a:r>
              <a:rPr lang="en-US" sz="3200" dirty="0">
                <a:solidFill>
                  <a:srgbClr val="000000"/>
                </a:solidFill>
              </a:rPr>
              <a:t>Header keeps record of the message’s journey networks and mail servers</a:t>
            </a:r>
          </a:p>
          <a:p>
            <a:pPr lvl="0"/>
            <a:r>
              <a:rPr lang="en-US" sz="3200" dirty="0">
                <a:solidFill>
                  <a:srgbClr val="000000"/>
                </a:solidFill>
              </a:rPr>
              <a:t>Each server adds information to the header</a:t>
            </a:r>
          </a:p>
          <a:p>
            <a:pPr lvl="0"/>
            <a:r>
              <a:rPr lang="en-US" sz="3200" dirty="0">
                <a:solidFill>
                  <a:srgbClr val="000000"/>
                </a:solidFill>
              </a:rPr>
              <a:t>Each network device has an Internet Protocol (IP) address</a:t>
            </a:r>
          </a:p>
          <a:p>
            <a:pPr lvl="1"/>
            <a:r>
              <a:rPr lang="en-US" sz="3000" dirty="0">
                <a:solidFill>
                  <a:srgbClr val="000000"/>
                </a:solidFill>
              </a:rPr>
              <a:t>Identifies device</a:t>
            </a:r>
          </a:p>
          <a:p>
            <a:pPr lvl="1"/>
            <a:r>
              <a:rPr lang="en-US" sz="3000" dirty="0">
                <a:solidFill>
                  <a:srgbClr val="000000"/>
                </a:solidFill>
              </a:rPr>
              <a:t>Can be resolved to a </a:t>
            </a:r>
            <a:br>
              <a:rPr lang="en-US" sz="3000" dirty="0">
                <a:solidFill>
                  <a:srgbClr val="000000"/>
                </a:solidFill>
              </a:rPr>
            </a:br>
            <a:r>
              <a:rPr lang="en-US" sz="3000" dirty="0">
                <a:solidFill>
                  <a:srgbClr val="000000"/>
                </a:solidFill>
              </a:rPr>
              <a:t>location address</a:t>
            </a:r>
          </a:p>
          <a:p>
            <a:pPr lvl="0"/>
            <a:endParaRPr lang="en-US" sz="3200" dirty="0">
              <a:solidFill>
                <a:srgbClr val="000000"/>
              </a:solidFill>
            </a:endParaRPr>
          </a:p>
        </p:txBody>
      </p:sp>
      <p:pic>
        <p:nvPicPr>
          <p:cNvPr id="4" name="Picture 3" descr="C:\Users\Kim\AppData\Local\Microsoft\Windows\Temporary Internet Files\Content.IE5\WE1HY378\MC900441455[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0316" y="3766782"/>
            <a:ext cx="2384775" cy="238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0764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RFC 2822 Specifications for </a:t>
            </a:r>
            <a:br>
              <a:rPr lang="en-US" sz="4000" dirty="0">
                <a:solidFill>
                  <a:schemeClr val="tx2"/>
                </a:solidFill>
              </a:rPr>
            </a:br>
            <a:r>
              <a:rPr lang="en-US" sz="4000" dirty="0">
                <a:solidFill>
                  <a:schemeClr val="tx2"/>
                </a:solidFill>
              </a:rPr>
              <a:t>Email Headers</a:t>
            </a:r>
          </a:p>
        </p:txBody>
      </p:sp>
      <p:graphicFrame>
        <p:nvGraphicFramePr>
          <p:cNvPr id="4" name="Diagram 3"/>
          <p:cNvGraphicFramePr/>
          <p:nvPr>
            <p:extLst>
              <p:ext uri="{D42A27DB-BD31-4B8C-83A1-F6EECF244321}">
                <p14:modId xmlns:p14="http://schemas.microsoft.com/office/powerpoint/2010/main" val="779820479"/>
              </p:ext>
            </p:extLst>
          </p:nvPr>
        </p:nvGraphicFramePr>
        <p:xfrm>
          <a:off x="641445" y="2006221"/>
          <a:ext cx="7874758" cy="3084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4757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RFC 2822 Specifications for </a:t>
            </a:r>
            <a:br>
              <a:rPr lang="en-US" sz="4000" dirty="0">
                <a:solidFill>
                  <a:schemeClr val="tx2"/>
                </a:solidFill>
              </a:rPr>
            </a:br>
            <a:r>
              <a:rPr lang="en-US" sz="4000" dirty="0">
                <a:solidFill>
                  <a:schemeClr val="tx2"/>
                </a:solidFill>
              </a:rPr>
              <a:t>Email Headers (Cont.)</a:t>
            </a:r>
          </a:p>
        </p:txBody>
      </p:sp>
      <p:graphicFrame>
        <p:nvGraphicFramePr>
          <p:cNvPr id="4" name="Diagram 3"/>
          <p:cNvGraphicFramePr/>
          <p:nvPr>
            <p:extLst>
              <p:ext uri="{D42A27DB-BD31-4B8C-83A1-F6EECF244321}">
                <p14:modId xmlns:p14="http://schemas.microsoft.com/office/powerpoint/2010/main" val="262973978"/>
              </p:ext>
            </p:extLst>
          </p:nvPr>
        </p:nvGraphicFramePr>
        <p:xfrm>
          <a:off x="641445" y="2006221"/>
          <a:ext cx="7874758" cy="3084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7449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Email Header Fields (RFC 3864)</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755046842"/>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05347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Find Microsoft Outlook 2010 Headers</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84077" y="1806528"/>
            <a:ext cx="4765136" cy="3939179"/>
          </a:xfrm>
        </p:spPr>
      </p:pic>
      <p:sp>
        <p:nvSpPr>
          <p:cNvPr id="6" name="Content Placeholder 2"/>
          <p:cNvSpPr txBox="1">
            <a:spLocks/>
          </p:cNvSpPr>
          <p:nvPr/>
        </p:nvSpPr>
        <p:spPr bwMode="auto">
          <a:xfrm>
            <a:off x="416920" y="5745707"/>
            <a:ext cx="8299450" cy="4322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0" indent="0" algn="ctr">
              <a:buNone/>
            </a:pPr>
            <a:r>
              <a:rPr lang="en-US" sz="2400" kern="0" dirty="0"/>
              <a:t>Step 1</a:t>
            </a:r>
          </a:p>
        </p:txBody>
      </p:sp>
      <p:sp>
        <p:nvSpPr>
          <p:cNvPr id="5" name="TextBox 4"/>
          <p:cNvSpPr txBox="1"/>
          <p:nvPr/>
        </p:nvSpPr>
        <p:spPr>
          <a:xfrm rot="5400000">
            <a:off x="5900197" y="4750012"/>
            <a:ext cx="2156344" cy="230832"/>
          </a:xfrm>
          <a:prstGeom prst="rect">
            <a:avLst/>
          </a:prstGeom>
          <a:noFill/>
        </p:spPr>
        <p:txBody>
          <a:bodyPr wrap="square" rtlCol="0">
            <a:spAutoFit/>
          </a:bodyPr>
          <a:lstStyle/>
          <a:p>
            <a:r>
              <a:rPr lang="en-US" sz="900" dirty="0">
                <a:solidFill>
                  <a:schemeClr val="bg1">
                    <a:lumMod val="75000"/>
                  </a:schemeClr>
                </a:solidFill>
              </a:rPr>
              <a:t>Used with permission from Microsoft</a:t>
            </a:r>
          </a:p>
        </p:txBody>
      </p:sp>
    </p:spTree>
    <p:extLst>
      <p:ext uri="{BB962C8B-B14F-4D97-AF65-F5344CB8AC3E}">
        <p14:creationId xmlns:p14="http://schemas.microsoft.com/office/powerpoint/2010/main" val="4167910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View Outlook 2010 Headers</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34528" y="1115420"/>
            <a:ext cx="5264233" cy="4728210"/>
          </a:xfrm>
        </p:spPr>
      </p:pic>
      <p:sp>
        <p:nvSpPr>
          <p:cNvPr id="7" name="Content Placeholder 2"/>
          <p:cNvSpPr txBox="1">
            <a:spLocks/>
          </p:cNvSpPr>
          <p:nvPr/>
        </p:nvSpPr>
        <p:spPr bwMode="auto">
          <a:xfrm>
            <a:off x="416920" y="5786651"/>
            <a:ext cx="8299450" cy="4322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0" indent="0" algn="ctr">
              <a:buNone/>
            </a:pPr>
            <a:r>
              <a:rPr lang="en-US" sz="2400" kern="0" dirty="0"/>
              <a:t>Step 2</a:t>
            </a:r>
          </a:p>
        </p:txBody>
      </p:sp>
      <p:sp>
        <p:nvSpPr>
          <p:cNvPr id="5" name="TextBox 4"/>
          <p:cNvSpPr txBox="1"/>
          <p:nvPr/>
        </p:nvSpPr>
        <p:spPr>
          <a:xfrm rot="5400000">
            <a:off x="6204825" y="4872844"/>
            <a:ext cx="2156344" cy="230832"/>
          </a:xfrm>
          <a:prstGeom prst="rect">
            <a:avLst/>
          </a:prstGeom>
          <a:noFill/>
        </p:spPr>
        <p:txBody>
          <a:bodyPr wrap="square" rtlCol="0">
            <a:spAutoFit/>
          </a:bodyPr>
          <a:lstStyle/>
          <a:p>
            <a:r>
              <a:rPr lang="en-US" sz="900" dirty="0">
                <a:solidFill>
                  <a:schemeClr val="bg1">
                    <a:lumMod val="75000"/>
                  </a:schemeClr>
                </a:solidFill>
              </a:rPr>
              <a:t>Used with permission from Microsoft</a:t>
            </a:r>
          </a:p>
        </p:txBody>
      </p:sp>
    </p:spTree>
    <p:extLst>
      <p:ext uri="{BB962C8B-B14F-4D97-AF65-F5344CB8AC3E}">
        <p14:creationId xmlns:p14="http://schemas.microsoft.com/office/powerpoint/2010/main" val="19635096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Microsoft Outlook 2010 Headers</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41442" y="1115420"/>
            <a:ext cx="5050404" cy="4728210"/>
          </a:xfrm>
        </p:spPr>
      </p:pic>
      <p:sp>
        <p:nvSpPr>
          <p:cNvPr id="4" name="TextBox 3"/>
          <p:cNvSpPr txBox="1"/>
          <p:nvPr/>
        </p:nvSpPr>
        <p:spPr>
          <a:xfrm rot="5400000">
            <a:off x="6121754" y="4859196"/>
            <a:ext cx="2156344" cy="230832"/>
          </a:xfrm>
          <a:prstGeom prst="rect">
            <a:avLst/>
          </a:prstGeom>
          <a:noFill/>
        </p:spPr>
        <p:txBody>
          <a:bodyPr wrap="square" rtlCol="0">
            <a:spAutoFit/>
          </a:bodyPr>
          <a:lstStyle/>
          <a:p>
            <a:r>
              <a:rPr lang="en-US" sz="900" dirty="0">
                <a:solidFill>
                  <a:schemeClr val="bg1">
                    <a:lumMod val="75000"/>
                  </a:schemeClr>
                </a:solidFill>
              </a:rPr>
              <a:t>Used with permission from Microsoft</a:t>
            </a:r>
          </a:p>
        </p:txBody>
      </p:sp>
    </p:spTree>
    <p:extLst>
      <p:ext uri="{BB962C8B-B14F-4D97-AF65-F5344CB8AC3E}">
        <p14:creationId xmlns:p14="http://schemas.microsoft.com/office/powerpoint/2010/main" val="3063958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Find Yahoo! Headers</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55339" y="2196322"/>
            <a:ext cx="7389831" cy="1993107"/>
          </a:xfrm>
        </p:spPr>
      </p:pic>
      <p:sp>
        <p:nvSpPr>
          <p:cNvPr id="4" name="TextBox 3"/>
          <p:cNvSpPr txBox="1"/>
          <p:nvPr/>
        </p:nvSpPr>
        <p:spPr>
          <a:xfrm>
            <a:off x="7262091" y="4313875"/>
            <a:ext cx="1328743" cy="230832"/>
          </a:xfrm>
          <a:prstGeom prst="rect">
            <a:avLst/>
          </a:prstGeom>
          <a:noFill/>
        </p:spPr>
        <p:txBody>
          <a:bodyPr wrap="square" rtlCol="0">
            <a:spAutoFit/>
          </a:bodyPr>
          <a:lstStyle/>
          <a:p>
            <a:r>
              <a:rPr lang="en-US" sz="900" dirty="0">
                <a:solidFill>
                  <a:schemeClr val="bg1">
                    <a:lumMod val="75000"/>
                  </a:schemeClr>
                </a:solidFill>
              </a:rPr>
              <a:t>Courtesy of Yahoo!</a:t>
            </a:r>
          </a:p>
        </p:txBody>
      </p:sp>
    </p:spTree>
    <p:extLst>
      <p:ext uri="{BB962C8B-B14F-4D97-AF65-F5344CB8AC3E}">
        <p14:creationId xmlns:p14="http://schemas.microsoft.com/office/powerpoint/2010/main" val="861375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View Yahoo! Headers</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9622" y="1706092"/>
            <a:ext cx="8299450" cy="3826815"/>
          </a:xfrm>
        </p:spPr>
      </p:pic>
      <p:sp>
        <p:nvSpPr>
          <p:cNvPr id="5" name="TextBox 4"/>
          <p:cNvSpPr txBox="1"/>
          <p:nvPr/>
        </p:nvSpPr>
        <p:spPr>
          <a:xfrm rot="5400000">
            <a:off x="8159633" y="5016147"/>
            <a:ext cx="1289709" cy="230832"/>
          </a:xfrm>
          <a:prstGeom prst="rect">
            <a:avLst/>
          </a:prstGeom>
          <a:noFill/>
        </p:spPr>
        <p:txBody>
          <a:bodyPr wrap="square" rtlCol="0">
            <a:spAutoFit/>
          </a:bodyPr>
          <a:lstStyle/>
          <a:p>
            <a:r>
              <a:rPr lang="en-US" sz="900" dirty="0">
                <a:solidFill>
                  <a:schemeClr val="bg1">
                    <a:lumMod val="75000"/>
                  </a:schemeClr>
                </a:solidFill>
              </a:rPr>
              <a:t>Courtesy of Yahoo!</a:t>
            </a:r>
          </a:p>
        </p:txBody>
      </p:sp>
    </p:spTree>
    <p:extLst>
      <p:ext uri="{BB962C8B-B14F-4D97-AF65-F5344CB8AC3E}">
        <p14:creationId xmlns:p14="http://schemas.microsoft.com/office/powerpoint/2010/main" val="5880737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Find Gmail Headers</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31562" y="1364775"/>
            <a:ext cx="4243319" cy="4326340"/>
          </a:xfrm>
        </p:spPr>
      </p:pic>
      <p:sp>
        <p:nvSpPr>
          <p:cNvPr id="5" name="TextBox 4"/>
          <p:cNvSpPr txBox="1"/>
          <p:nvPr/>
        </p:nvSpPr>
        <p:spPr>
          <a:xfrm>
            <a:off x="313903" y="5934627"/>
            <a:ext cx="7028597" cy="369332"/>
          </a:xfrm>
          <a:prstGeom prst="rect">
            <a:avLst/>
          </a:prstGeom>
          <a:noFill/>
        </p:spPr>
        <p:txBody>
          <a:bodyPr wrap="square" rtlCol="0">
            <a:spAutoFit/>
          </a:bodyPr>
          <a:lstStyle/>
          <a:p>
            <a:r>
              <a:rPr lang="en-US" sz="900" dirty="0">
                <a:solidFill>
                  <a:schemeClr val="bg1">
                    <a:lumMod val="75000"/>
                  </a:schemeClr>
                </a:solidFill>
              </a:rPr>
              <a:t>Google and the Google logo are registered trademarks of Google Inc.,</a:t>
            </a:r>
          </a:p>
          <a:p>
            <a:r>
              <a:rPr lang="en-US" sz="900" dirty="0">
                <a:solidFill>
                  <a:schemeClr val="bg1">
                    <a:lumMod val="75000"/>
                  </a:schemeClr>
                </a:solidFill>
              </a:rPr>
              <a:t>used with permission</a:t>
            </a:r>
          </a:p>
        </p:txBody>
      </p:sp>
    </p:spTree>
    <p:extLst>
      <p:ext uri="{BB962C8B-B14F-4D97-AF65-F5344CB8AC3E}">
        <p14:creationId xmlns:p14="http://schemas.microsoft.com/office/powerpoint/2010/main" val="2730404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View Gmail Headers</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3904" y="1736394"/>
            <a:ext cx="8531081" cy="3656177"/>
          </a:xfrm>
        </p:spPr>
      </p:pic>
      <p:sp>
        <p:nvSpPr>
          <p:cNvPr id="5" name="TextBox 4"/>
          <p:cNvSpPr txBox="1"/>
          <p:nvPr/>
        </p:nvSpPr>
        <p:spPr>
          <a:xfrm>
            <a:off x="313903" y="5870731"/>
            <a:ext cx="7028597" cy="369332"/>
          </a:xfrm>
          <a:prstGeom prst="rect">
            <a:avLst/>
          </a:prstGeom>
          <a:noFill/>
        </p:spPr>
        <p:txBody>
          <a:bodyPr wrap="square" rtlCol="0">
            <a:spAutoFit/>
          </a:bodyPr>
          <a:lstStyle/>
          <a:p>
            <a:r>
              <a:rPr lang="en-US" sz="900" dirty="0">
                <a:solidFill>
                  <a:schemeClr val="bg1">
                    <a:lumMod val="75000"/>
                  </a:schemeClr>
                </a:solidFill>
              </a:rPr>
              <a:t>Google and the Google logo are registered trademarks of Google Inc.,</a:t>
            </a:r>
          </a:p>
          <a:p>
            <a:r>
              <a:rPr lang="en-US" sz="900" dirty="0">
                <a:solidFill>
                  <a:schemeClr val="bg1">
                    <a:lumMod val="75000"/>
                  </a:schemeClr>
                </a:solidFill>
              </a:rPr>
              <a:t>used with permission</a:t>
            </a:r>
          </a:p>
        </p:txBody>
      </p:sp>
    </p:spTree>
    <p:extLst>
      <p:ext uri="{BB962C8B-B14F-4D97-AF65-F5344CB8AC3E}">
        <p14:creationId xmlns:p14="http://schemas.microsoft.com/office/powerpoint/2010/main" val="24330894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View Hotmail Email Headers</a:t>
            </a:r>
          </a:p>
        </p:txBody>
      </p:sp>
      <p:sp>
        <p:nvSpPr>
          <p:cNvPr id="11267" name="Content Placeholder 2"/>
          <p:cNvSpPr>
            <a:spLocks noGrp="1"/>
          </p:cNvSpPr>
          <p:nvPr>
            <p:ph idx="1"/>
          </p:nvPr>
        </p:nvSpPr>
        <p:spPr>
          <a:xfrm>
            <a:off x="539750" y="1214650"/>
            <a:ext cx="8299450" cy="4506699"/>
          </a:xfrm>
        </p:spPr>
        <p:txBody>
          <a:bodyPr/>
          <a:lstStyle/>
          <a:p>
            <a:pPr marL="514350" indent="-514350">
              <a:buFont typeface="+mj-lt"/>
              <a:buAutoNum type="arabicPeriod"/>
            </a:pPr>
            <a:r>
              <a:rPr lang="en-US" sz="3200" dirty="0"/>
              <a:t>Select Inbox from the menu on the left.</a:t>
            </a:r>
          </a:p>
          <a:p>
            <a:pPr marL="514350" indent="-514350">
              <a:buFont typeface="+mj-lt"/>
              <a:buAutoNum type="arabicPeriod"/>
            </a:pPr>
            <a:r>
              <a:rPr lang="en-US" sz="3200" dirty="0"/>
              <a:t>Right-click the message for which you want to view headers, and select View Message Source.</a:t>
            </a:r>
          </a:p>
          <a:p>
            <a:pPr marL="0" indent="0">
              <a:buNone/>
            </a:pPr>
            <a:endParaRPr lang="en-US" sz="3200" dirty="0"/>
          </a:p>
          <a:p>
            <a:pPr marL="0" indent="0">
              <a:buNone/>
            </a:pPr>
            <a:r>
              <a:rPr lang="en-US" sz="3200" dirty="0"/>
              <a:t>The full headers will appear in a new window.</a:t>
            </a:r>
          </a:p>
        </p:txBody>
      </p:sp>
    </p:spTree>
    <p:extLst>
      <p:ext uri="{BB962C8B-B14F-4D97-AF65-F5344CB8AC3E}">
        <p14:creationId xmlns:p14="http://schemas.microsoft.com/office/powerpoint/2010/main" val="3777889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View Apple Mail Email Headers</a:t>
            </a:r>
          </a:p>
        </p:txBody>
      </p:sp>
      <p:sp>
        <p:nvSpPr>
          <p:cNvPr id="11267" name="Content Placeholder 2"/>
          <p:cNvSpPr>
            <a:spLocks noGrp="1"/>
          </p:cNvSpPr>
          <p:nvPr>
            <p:ph idx="1"/>
          </p:nvPr>
        </p:nvSpPr>
        <p:spPr>
          <a:xfrm>
            <a:off x="539750" y="1214650"/>
            <a:ext cx="8299450" cy="4506699"/>
          </a:xfrm>
        </p:spPr>
        <p:txBody>
          <a:bodyPr/>
          <a:lstStyle/>
          <a:p>
            <a:pPr marL="514350" indent="-514350">
              <a:buFont typeface="+mj-lt"/>
              <a:buAutoNum type="arabicPeriod"/>
            </a:pPr>
            <a:r>
              <a:rPr lang="en-US" sz="2800" dirty="0"/>
              <a:t>Open Apple Mail.</a:t>
            </a:r>
          </a:p>
          <a:p>
            <a:pPr marL="514350" indent="-514350">
              <a:buFont typeface="+mj-lt"/>
              <a:buAutoNum type="arabicPeriod"/>
            </a:pPr>
            <a:r>
              <a:rPr lang="en-US" sz="2800" dirty="0"/>
              <a:t>Click on the message for which you want to view headers.</a:t>
            </a:r>
          </a:p>
          <a:p>
            <a:pPr marL="514350" indent="-514350">
              <a:buFont typeface="+mj-lt"/>
              <a:buAutoNum type="arabicPeriod"/>
            </a:pPr>
            <a:r>
              <a:rPr lang="en-US" sz="2800" dirty="0"/>
              <a:t>Go to the View menu.</a:t>
            </a:r>
          </a:p>
          <a:p>
            <a:pPr marL="514350" indent="-514350">
              <a:buFont typeface="+mj-lt"/>
              <a:buAutoNum type="arabicPeriod"/>
            </a:pPr>
            <a:r>
              <a:rPr lang="en-US" sz="2800" dirty="0"/>
              <a:t>Select Message, then Long Headers.</a:t>
            </a:r>
          </a:p>
          <a:p>
            <a:pPr marL="0" indent="0">
              <a:buNone/>
            </a:pPr>
            <a:endParaRPr lang="en-US" sz="2800" dirty="0"/>
          </a:p>
          <a:p>
            <a:pPr marL="0" indent="0">
              <a:buNone/>
            </a:pPr>
            <a:r>
              <a:rPr lang="en-US" sz="2800" dirty="0"/>
              <a:t>The full headers will appear in the window below your Inbox.</a:t>
            </a:r>
          </a:p>
        </p:txBody>
      </p:sp>
    </p:spTree>
    <p:extLst>
      <p:ext uri="{BB962C8B-B14F-4D97-AF65-F5344CB8AC3E}">
        <p14:creationId xmlns:p14="http://schemas.microsoft.com/office/powerpoint/2010/main" val="1437658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Email Files</a:t>
            </a:r>
          </a:p>
        </p:txBody>
      </p:sp>
      <p:graphicFrame>
        <p:nvGraphicFramePr>
          <p:cNvPr id="4" name="Content Placeholder 3">
            <a:extLst>
              <a:ext uri="{FF2B5EF4-FFF2-40B4-BE49-F238E27FC236}">
                <a16:creationId xmlns:a16="http://schemas.microsoft.com/office/drawing/2014/main" id="{5726751C-9A13-4E77-B148-239944DD53F1}"/>
              </a:ext>
            </a:extLst>
          </p:cNvPr>
          <p:cNvGraphicFramePr>
            <a:graphicFrameLocks noGrp="1"/>
          </p:cNvGraphicFramePr>
          <p:nvPr>
            <p:ph idx="1"/>
            <p:extLst>
              <p:ext uri="{D42A27DB-BD31-4B8C-83A1-F6EECF244321}">
                <p14:modId xmlns:p14="http://schemas.microsoft.com/office/powerpoint/2010/main" val="2830195053"/>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905529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Paraben’s Email Examiner</a:t>
            </a:r>
          </a:p>
        </p:txBody>
      </p:sp>
      <p:sp>
        <p:nvSpPr>
          <p:cNvPr id="11267" name="Content Placeholder 2"/>
          <p:cNvSpPr>
            <a:spLocks noGrp="1"/>
          </p:cNvSpPr>
          <p:nvPr>
            <p:ph idx="1"/>
          </p:nvPr>
        </p:nvSpPr>
        <p:spPr>
          <a:xfrm>
            <a:off x="539750" y="1214650"/>
            <a:ext cx="8299450" cy="4506699"/>
          </a:xfrm>
        </p:spPr>
        <p:txBody>
          <a:bodyPr/>
          <a:lstStyle/>
          <a:p>
            <a:r>
              <a:rPr lang="en-US" sz="2800" dirty="0"/>
              <a:t>Exclusively for email forensics</a:t>
            </a:r>
          </a:p>
          <a:p>
            <a:r>
              <a:rPr lang="en-US" sz="2800" dirty="0"/>
              <a:t>Works like the more complete forensic suites (Forensic Toolkit and EnCase) in that evidence is grouped by case</a:t>
            </a:r>
          </a:p>
          <a:p>
            <a:endParaRPr lang="en-US" sz="2800" dirty="0"/>
          </a:p>
        </p:txBody>
      </p:sp>
    </p:spTree>
    <p:extLst>
      <p:ext uri="{BB962C8B-B14F-4D97-AF65-F5344CB8AC3E}">
        <p14:creationId xmlns:p14="http://schemas.microsoft.com/office/powerpoint/2010/main" val="1955331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Creating a Paraben Case</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83165" y="1433016"/>
            <a:ext cx="5386454" cy="4068738"/>
          </a:xfrm>
        </p:spPr>
      </p:pic>
      <p:sp>
        <p:nvSpPr>
          <p:cNvPr id="5" name="TextBox 4"/>
          <p:cNvSpPr txBox="1"/>
          <p:nvPr/>
        </p:nvSpPr>
        <p:spPr>
          <a:xfrm rot="5400000">
            <a:off x="6189611" y="4715496"/>
            <a:ext cx="2156344" cy="230832"/>
          </a:xfrm>
          <a:prstGeom prst="rect">
            <a:avLst/>
          </a:prstGeom>
          <a:noFill/>
        </p:spPr>
        <p:txBody>
          <a:bodyPr wrap="square" rtlCol="0">
            <a:spAutoFit/>
          </a:bodyPr>
          <a:lstStyle/>
          <a:p>
            <a:r>
              <a:rPr lang="en-US" sz="900" dirty="0">
                <a:solidFill>
                  <a:schemeClr val="bg1">
                    <a:lumMod val="75000"/>
                  </a:schemeClr>
                </a:solidFill>
              </a:rPr>
              <a:t>Courtesy of Paraben Corporation</a:t>
            </a:r>
          </a:p>
        </p:txBody>
      </p:sp>
    </p:spTree>
    <p:extLst>
      <p:ext uri="{BB962C8B-B14F-4D97-AF65-F5344CB8AC3E}">
        <p14:creationId xmlns:p14="http://schemas.microsoft.com/office/powerpoint/2010/main" val="14319246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Adding the Investigator</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83165" y="1449372"/>
            <a:ext cx="5386454" cy="4036025"/>
          </a:xfrm>
        </p:spPr>
      </p:pic>
      <p:sp>
        <p:nvSpPr>
          <p:cNvPr id="5" name="TextBox 4"/>
          <p:cNvSpPr txBox="1"/>
          <p:nvPr/>
        </p:nvSpPr>
        <p:spPr>
          <a:xfrm rot="5400000">
            <a:off x="6189611" y="4715496"/>
            <a:ext cx="2156344" cy="230832"/>
          </a:xfrm>
          <a:prstGeom prst="rect">
            <a:avLst/>
          </a:prstGeom>
          <a:noFill/>
        </p:spPr>
        <p:txBody>
          <a:bodyPr wrap="square" rtlCol="0">
            <a:spAutoFit/>
          </a:bodyPr>
          <a:lstStyle/>
          <a:p>
            <a:r>
              <a:rPr lang="en-US" sz="900" dirty="0">
                <a:solidFill>
                  <a:schemeClr val="bg1">
                    <a:lumMod val="75000"/>
                  </a:schemeClr>
                </a:solidFill>
              </a:rPr>
              <a:t>Courtesy of Paraben Corporation</a:t>
            </a:r>
          </a:p>
        </p:txBody>
      </p:sp>
    </p:spTree>
    <p:extLst>
      <p:ext uri="{BB962C8B-B14F-4D97-AF65-F5344CB8AC3E}">
        <p14:creationId xmlns:p14="http://schemas.microsoft.com/office/powerpoint/2010/main" val="17997297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Selecting an Email Database</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28722" y="1433016"/>
            <a:ext cx="5095340" cy="4068738"/>
          </a:xfrm>
        </p:spPr>
      </p:pic>
      <p:sp>
        <p:nvSpPr>
          <p:cNvPr id="5" name="TextBox 4"/>
          <p:cNvSpPr txBox="1"/>
          <p:nvPr/>
        </p:nvSpPr>
        <p:spPr>
          <a:xfrm rot="5400000">
            <a:off x="6051595" y="4724122"/>
            <a:ext cx="2156344" cy="230832"/>
          </a:xfrm>
          <a:prstGeom prst="rect">
            <a:avLst/>
          </a:prstGeom>
          <a:noFill/>
        </p:spPr>
        <p:txBody>
          <a:bodyPr wrap="square" rtlCol="0">
            <a:spAutoFit/>
          </a:bodyPr>
          <a:lstStyle/>
          <a:p>
            <a:r>
              <a:rPr lang="en-US" sz="900" dirty="0">
                <a:solidFill>
                  <a:schemeClr val="bg1">
                    <a:lumMod val="75000"/>
                  </a:schemeClr>
                </a:solidFill>
              </a:rPr>
              <a:t>Courtesy of Paraben Corporation</a:t>
            </a:r>
          </a:p>
        </p:txBody>
      </p:sp>
    </p:spTree>
    <p:extLst>
      <p:ext uri="{BB962C8B-B14F-4D97-AF65-F5344CB8AC3E}">
        <p14:creationId xmlns:p14="http://schemas.microsoft.com/office/powerpoint/2010/main" val="4175743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Tracing Email</a:t>
            </a:r>
          </a:p>
        </p:txBody>
      </p:sp>
      <p:sp>
        <p:nvSpPr>
          <p:cNvPr id="11267" name="Content Placeholder 2"/>
          <p:cNvSpPr>
            <a:spLocks noGrp="1"/>
          </p:cNvSpPr>
          <p:nvPr>
            <p:ph idx="1"/>
          </p:nvPr>
        </p:nvSpPr>
        <p:spPr>
          <a:xfrm>
            <a:off x="539750" y="1439333"/>
            <a:ext cx="8299450" cy="4282016"/>
          </a:xfrm>
        </p:spPr>
        <p:txBody>
          <a:bodyPr/>
          <a:lstStyle/>
          <a:p>
            <a:r>
              <a:rPr lang="en-US" sz="3200" dirty="0"/>
              <a:t>Looking at each point through which an email passed and working step by step back to the originating computer</a:t>
            </a:r>
          </a:p>
          <a:p>
            <a:endParaRPr lang="en-US" sz="3200" dirty="0"/>
          </a:p>
        </p:txBody>
      </p:sp>
    </p:spTree>
    <p:extLst>
      <p:ext uri="{BB962C8B-B14F-4D97-AF65-F5344CB8AC3E}">
        <p14:creationId xmlns:p14="http://schemas.microsoft.com/office/powerpoint/2010/main" val="15942080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Email Server Forensics</a:t>
            </a:r>
          </a:p>
        </p:txBody>
      </p:sp>
      <p:sp>
        <p:nvSpPr>
          <p:cNvPr id="11267" name="Content Placeholder 2"/>
          <p:cNvSpPr>
            <a:spLocks noGrp="1"/>
          </p:cNvSpPr>
          <p:nvPr>
            <p:ph idx="1"/>
          </p:nvPr>
        </p:nvSpPr>
        <p:spPr>
          <a:xfrm>
            <a:off x="539750" y="1405467"/>
            <a:ext cx="8299450" cy="4315882"/>
          </a:xfrm>
        </p:spPr>
        <p:txBody>
          <a:bodyPr/>
          <a:lstStyle/>
          <a:p>
            <a:r>
              <a:rPr lang="en-US" sz="3200" dirty="0"/>
              <a:t>Examining email servers</a:t>
            </a:r>
          </a:p>
          <a:p>
            <a:pPr lvl="1"/>
            <a:r>
              <a:rPr lang="en-US" sz="3000" dirty="0"/>
              <a:t>Searching through deleted emails retained by the server</a:t>
            </a:r>
          </a:p>
          <a:p>
            <a:r>
              <a:rPr lang="en-US" sz="3200" dirty="0"/>
              <a:t>Many servers have a retention policy</a:t>
            </a:r>
          </a:p>
          <a:p>
            <a:endParaRPr lang="en-US" sz="3200" dirty="0"/>
          </a:p>
        </p:txBody>
      </p:sp>
    </p:spTree>
    <p:extLst>
      <p:ext uri="{BB962C8B-B14F-4D97-AF65-F5344CB8AC3E}">
        <p14:creationId xmlns:p14="http://schemas.microsoft.com/office/powerpoint/2010/main" val="31255197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Email Laws</a:t>
            </a:r>
          </a:p>
        </p:txBody>
      </p:sp>
      <p:sp>
        <p:nvSpPr>
          <p:cNvPr id="11267" name="Content Placeholder 2"/>
          <p:cNvSpPr>
            <a:spLocks noGrp="1"/>
          </p:cNvSpPr>
          <p:nvPr>
            <p:ph idx="1"/>
          </p:nvPr>
        </p:nvSpPr>
        <p:spPr>
          <a:xfrm>
            <a:off x="539750" y="1214650"/>
            <a:ext cx="8299450" cy="4506699"/>
          </a:xfrm>
        </p:spPr>
        <p:txBody>
          <a:bodyPr/>
          <a:lstStyle/>
          <a:p>
            <a:pPr lvl="0"/>
            <a:r>
              <a:rPr lang="en-US" sz="2800" dirty="0"/>
              <a:t>The Fourth Amendment to the U.S. Constitution</a:t>
            </a:r>
          </a:p>
          <a:p>
            <a:pPr lvl="0"/>
            <a:r>
              <a:rPr lang="en-US" sz="2800" dirty="0"/>
              <a:t>The Electronic Communications Privacy Act (ECPA)</a:t>
            </a:r>
          </a:p>
          <a:p>
            <a:pPr lvl="0"/>
            <a:r>
              <a:rPr lang="en-US" sz="2800" dirty="0"/>
              <a:t>The CAN-SPAM Act</a:t>
            </a:r>
          </a:p>
          <a:p>
            <a:pPr lvl="0"/>
            <a:r>
              <a:rPr lang="en-US" sz="2800" dirty="0"/>
              <a:t>18 U.S.C. 2252B</a:t>
            </a:r>
          </a:p>
          <a:p>
            <a:pPr lvl="0"/>
            <a:r>
              <a:rPr lang="en-US" sz="2800" dirty="0"/>
              <a:t>Communication Assistance for Law Enforcement Act (CALEA)</a:t>
            </a:r>
          </a:p>
          <a:p>
            <a:pPr lvl="0"/>
            <a:r>
              <a:rPr lang="en-US" sz="2800" dirty="0"/>
              <a:t>Foreign Intelligence Surveillance Act (FISA)</a:t>
            </a:r>
          </a:p>
          <a:p>
            <a:r>
              <a:rPr lang="en-US" sz="2800" dirty="0"/>
              <a:t>The USA PATRIOT Act</a:t>
            </a:r>
          </a:p>
        </p:txBody>
      </p:sp>
    </p:spTree>
    <p:extLst>
      <p:ext uri="{BB962C8B-B14F-4D97-AF65-F5344CB8AC3E}">
        <p14:creationId xmlns:p14="http://schemas.microsoft.com/office/powerpoint/2010/main" val="33437223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539750" y="301625"/>
            <a:ext cx="8299450" cy="990600"/>
          </a:xfrm>
        </p:spPr>
        <p:txBody>
          <a:bodyPr/>
          <a:lstStyle/>
          <a:p>
            <a:r>
              <a:rPr lang="en-US" sz="4000" dirty="0">
                <a:ea typeface="MS PGothic" pitchFamily="34" charset="-128"/>
              </a:rPr>
              <a:t>Summary</a:t>
            </a:r>
          </a:p>
        </p:txBody>
      </p:sp>
      <p:sp>
        <p:nvSpPr>
          <p:cNvPr id="27651"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Email clients and servers </a:t>
            </a:r>
          </a:p>
          <a:p>
            <a:pPr marL="233363" indent="-233363" eaLnBrk="0" hangingPunct="0">
              <a:spcBef>
                <a:spcPct val="20000"/>
              </a:spcBef>
              <a:buClr>
                <a:srgbClr val="ED6E2E"/>
              </a:buClr>
              <a:buFont typeface="Wingdings" pitchFamily="2" charset="2"/>
              <a:buChar char="§"/>
            </a:pPr>
            <a:r>
              <a:rPr lang="en-US" sz="3200" dirty="0"/>
              <a:t>Email headers</a:t>
            </a:r>
          </a:p>
          <a:p>
            <a:pPr marL="233363" indent="-233363" eaLnBrk="0" hangingPunct="0">
              <a:spcBef>
                <a:spcPct val="20000"/>
              </a:spcBef>
              <a:buClr>
                <a:srgbClr val="ED6E2E"/>
              </a:buClr>
              <a:buFont typeface="Wingdings" pitchFamily="2" charset="2"/>
              <a:buChar char="§"/>
            </a:pPr>
            <a:r>
              <a:rPr lang="en-US" sz="3200" dirty="0"/>
              <a:t>Email tracing</a:t>
            </a:r>
          </a:p>
          <a:p>
            <a:pPr marL="233363" indent="-233363" eaLnBrk="0" hangingPunct="0">
              <a:spcBef>
                <a:spcPct val="20000"/>
              </a:spcBef>
              <a:buClr>
                <a:srgbClr val="ED6E2E"/>
              </a:buClr>
              <a:buFont typeface="Wingdings" pitchFamily="2" charset="2"/>
              <a:buChar char="§"/>
            </a:pPr>
            <a:r>
              <a:rPr lang="en-US" sz="3200" dirty="0"/>
              <a:t>Email server forensic examination</a:t>
            </a:r>
          </a:p>
          <a:p>
            <a:pPr marL="233363" indent="-233363" eaLnBrk="0" hangingPunct="0">
              <a:spcBef>
                <a:spcPct val="20000"/>
              </a:spcBef>
              <a:buClr>
                <a:srgbClr val="ED6E2E"/>
              </a:buClr>
              <a:buFont typeface="Wingdings" pitchFamily="2" charset="2"/>
              <a:buChar char="§"/>
            </a:pPr>
            <a:r>
              <a:rPr lang="en-US" sz="3200" dirty="0"/>
              <a:t>Laws related to email investigations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40251</TotalTime>
  <Words>3816</Words>
  <Application>Microsoft Office PowerPoint</Application>
  <PresentationFormat>On-screen Show (4:3)</PresentationFormat>
  <Paragraphs>391</Paragraphs>
  <Slides>40</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Times</vt:lpstr>
      <vt:lpstr>Times New Roman</vt:lpstr>
      <vt:lpstr>Wingdings</vt:lpstr>
      <vt:lpstr>Blank Presentation</vt:lpstr>
      <vt:lpstr>PowerPoint Presentation</vt:lpstr>
      <vt:lpstr>Learning Objective</vt:lpstr>
      <vt:lpstr>Key Concepts</vt:lpstr>
      <vt:lpstr>How Email Works</vt:lpstr>
      <vt:lpstr>How Email Works</vt:lpstr>
      <vt:lpstr>What an Email Review Can Reveal</vt:lpstr>
      <vt:lpstr>What an Email Review Can Reveal (Cont.)</vt:lpstr>
      <vt:lpstr>Email Protocols</vt:lpstr>
      <vt:lpstr>Email Protocols (Cont.)</vt:lpstr>
      <vt:lpstr>Email Protocol Process</vt:lpstr>
      <vt:lpstr>Faking Emails</vt:lpstr>
      <vt:lpstr>Spoofing</vt:lpstr>
      <vt:lpstr>Anonymous Remailing</vt:lpstr>
      <vt:lpstr>"Valid" Emails</vt:lpstr>
      <vt:lpstr>How to Fake an Email</vt:lpstr>
      <vt:lpstr>Email Message Components</vt:lpstr>
      <vt:lpstr>Email Message Components</vt:lpstr>
      <vt:lpstr>Email Headers</vt:lpstr>
      <vt:lpstr>Email Headers (Cont.)</vt:lpstr>
      <vt:lpstr>RFC 2822 Specifications for  Email Headers</vt:lpstr>
      <vt:lpstr>RFC 2822 Specifications for  Email Headers (Cont.)</vt:lpstr>
      <vt:lpstr>Email Header Fields (RFC 3864)</vt:lpstr>
      <vt:lpstr>Find Microsoft Outlook 2010 Headers</vt:lpstr>
      <vt:lpstr>View Outlook 2010 Headers</vt:lpstr>
      <vt:lpstr>Microsoft Outlook 2010 Headers</vt:lpstr>
      <vt:lpstr>Find Yahoo! Headers</vt:lpstr>
      <vt:lpstr>View Yahoo! Headers</vt:lpstr>
      <vt:lpstr>Find Gmail Headers</vt:lpstr>
      <vt:lpstr>View Gmail Headers</vt:lpstr>
      <vt:lpstr>View Hotmail Email Headers</vt:lpstr>
      <vt:lpstr>View Apple Mail Email Headers</vt:lpstr>
      <vt:lpstr>Email Files</vt:lpstr>
      <vt:lpstr>Paraben’s Email Examiner</vt:lpstr>
      <vt:lpstr>Creating a Paraben Case</vt:lpstr>
      <vt:lpstr>Adding the Investigator</vt:lpstr>
      <vt:lpstr>Selecting an Email Database</vt:lpstr>
      <vt:lpstr>Tracing Email</vt:lpstr>
      <vt:lpstr>Email Server Forensics</vt:lpstr>
      <vt:lpstr>Email Laws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Kim</dc:creator>
  <cp:lastModifiedBy>Angela Vizzi</cp:lastModifiedBy>
  <cp:revision>3225</cp:revision>
  <cp:lastPrinted>2008-07-07T18:08:55Z</cp:lastPrinted>
  <dcterms:created xsi:type="dcterms:W3CDTF">2010-11-23T16:40:46Z</dcterms:created>
  <dcterms:modified xsi:type="dcterms:W3CDTF">2022-08-01T22:39:45Z</dcterms:modified>
</cp:coreProperties>
</file>