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60"/>
  </p:notesMasterIdLst>
  <p:handoutMasterIdLst>
    <p:handoutMasterId r:id="rId61"/>
  </p:handoutMasterIdLst>
  <p:sldIdLst>
    <p:sldId id="1512" r:id="rId2"/>
    <p:sldId id="1535" r:id="rId3"/>
    <p:sldId id="1536" r:id="rId4"/>
    <p:sldId id="1510" r:id="rId5"/>
    <p:sldId id="1543" r:id="rId6"/>
    <p:sldId id="1544" r:id="rId7"/>
    <p:sldId id="1545" r:id="rId8"/>
    <p:sldId id="1546" r:id="rId9"/>
    <p:sldId id="1523" r:id="rId10"/>
    <p:sldId id="1547" r:id="rId11"/>
    <p:sldId id="1548" r:id="rId12"/>
    <p:sldId id="1569" r:id="rId13"/>
    <p:sldId id="1571" r:id="rId14"/>
    <p:sldId id="1572" r:id="rId15"/>
    <p:sldId id="1573" r:id="rId16"/>
    <p:sldId id="1574" r:id="rId17"/>
    <p:sldId id="1549" r:id="rId18"/>
    <p:sldId id="1550" r:id="rId19"/>
    <p:sldId id="1552" r:id="rId20"/>
    <p:sldId id="1559" r:id="rId21"/>
    <p:sldId id="1560" r:id="rId22"/>
    <p:sldId id="1553" r:id="rId23"/>
    <p:sldId id="1561" r:id="rId24"/>
    <p:sldId id="1554" r:id="rId25"/>
    <p:sldId id="1588" r:id="rId26"/>
    <p:sldId id="1590" r:id="rId27"/>
    <p:sldId id="1591" r:id="rId28"/>
    <p:sldId id="1592" r:id="rId29"/>
    <p:sldId id="1555" r:id="rId30"/>
    <p:sldId id="1562" r:id="rId31"/>
    <p:sldId id="1558" r:id="rId32"/>
    <p:sldId id="1557" r:id="rId33"/>
    <p:sldId id="1585" r:id="rId34"/>
    <p:sldId id="1594" r:id="rId35"/>
    <p:sldId id="1586" r:id="rId36"/>
    <p:sldId id="1575" r:id="rId37"/>
    <p:sldId id="1595" r:id="rId38"/>
    <p:sldId id="1576" r:id="rId39"/>
    <p:sldId id="1570" r:id="rId40"/>
    <p:sldId id="1577" r:id="rId41"/>
    <p:sldId id="1578" r:id="rId42"/>
    <p:sldId id="1579" r:id="rId43"/>
    <p:sldId id="1580" r:id="rId44"/>
    <p:sldId id="1581" r:id="rId45"/>
    <p:sldId id="1587" r:id="rId46"/>
    <p:sldId id="1589" r:id="rId47"/>
    <p:sldId id="1582" r:id="rId48"/>
    <p:sldId id="1593" r:id="rId49"/>
    <p:sldId id="1583" r:id="rId50"/>
    <p:sldId id="1584" r:id="rId51"/>
    <p:sldId id="1563" r:id="rId52"/>
    <p:sldId id="1596" r:id="rId53"/>
    <p:sldId id="1564" r:id="rId54"/>
    <p:sldId id="1566" r:id="rId55"/>
    <p:sldId id="1565" r:id="rId56"/>
    <p:sldId id="1567" r:id="rId57"/>
    <p:sldId id="1568" r:id="rId58"/>
    <p:sldId id="1537" r:id="rId59"/>
  </p:sldIdLst>
  <p:sldSz cx="9144000" cy="6858000" type="screen4x3"/>
  <p:notesSz cx="7010400" cy="9296400"/>
  <p:custDataLst>
    <p:tags r:id="rId62"/>
  </p:custDataLst>
  <p:defaultTex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192">
          <p15:clr>
            <a:srgbClr val="A4A3A4"/>
          </p15:clr>
        </p15:guide>
        <p15:guide id="2" orient="horz" pos="2748">
          <p15:clr>
            <a:srgbClr val="A4A3A4"/>
          </p15:clr>
        </p15:guide>
        <p15:guide id="3" pos="4627">
          <p15:clr>
            <a:srgbClr val="A4A3A4"/>
          </p15:clr>
        </p15:guide>
        <p15:guide id="4" pos="1452">
          <p15:clr>
            <a:srgbClr val="A4A3A4"/>
          </p15:clr>
        </p15:guide>
        <p15:guide id="5" pos="2346">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3BBC9"/>
    <a:srgbClr val="D2E4B2"/>
    <a:srgbClr val="DDDDDD"/>
    <a:srgbClr val="FFCCFF"/>
    <a:srgbClr val="FFCCCC"/>
    <a:srgbClr val="423498"/>
    <a:srgbClr val="FFFF00"/>
    <a:srgbClr val="B4E7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7206" autoAdjust="0"/>
    <p:restoredTop sz="93542" autoAdjust="0"/>
  </p:normalViewPr>
  <p:slideViewPr>
    <p:cSldViewPr snapToGrid="0" snapToObjects="1">
      <p:cViewPr>
        <p:scale>
          <a:sx n="60" d="100"/>
          <a:sy n="60" d="100"/>
        </p:scale>
        <p:origin x="1536" y="156"/>
      </p:cViewPr>
      <p:guideLst>
        <p:guide orient="horz" pos="192"/>
        <p:guide orient="horz" pos="2748"/>
        <p:guide pos="4627"/>
        <p:guide pos="1452"/>
        <p:guide pos="2346"/>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16446"/>
    </p:cViewPr>
  </p:sorterViewPr>
  <p:notesViewPr>
    <p:cSldViewPr snapToGrid="0" snapToObjects="1">
      <p:cViewPr varScale="1">
        <p:scale>
          <a:sx n="52" d="100"/>
          <a:sy n="52" d="100"/>
        </p:scale>
        <p:origin x="-2868" y="-96"/>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gs" Target="tags/tag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5023F9E-C439-4E36-877F-19CAE9F7656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476AAFEA-31BD-4598-871A-A4C2B25FE0D7}">
      <dgm:prSet phldrT="[Text]"/>
      <dgm:spPr/>
      <dgm:t>
        <a:bodyPr/>
        <a:lstStyle/>
        <a:p>
          <a:r>
            <a:rPr lang="en-US" dirty="0"/>
            <a:t>Payload</a:t>
          </a:r>
        </a:p>
      </dgm:t>
    </dgm:pt>
    <dgm:pt modelId="{F0FB449B-A0DD-41F3-94B0-6DD17A1E9EE6}" type="parTrans" cxnId="{2028FAA4-AA46-4551-9CE8-B789999D59BC}">
      <dgm:prSet/>
      <dgm:spPr/>
      <dgm:t>
        <a:bodyPr/>
        <a:lstStyle/>
        <a:p>
          <a:endParaRPr lang="en-US"/>
        </a:p>
      </dgm:t>
    </dgm:pt>
    <dgm:pt modelId="{F190FAF5-2E20-4676-BCB7-57A1ACC63EF7}" type="sibTrans" cxnId="{2028FAA4-AA46-4551-9CE8-B789999D59BC}">
      <dgm:prSet/>
      <dgm:spPr/>
      <dgm:t>
        <a:bodyPr/>
        <a:lstStyle/>
        <a:p>
          <a:endParaRPr lang="en-US"/>
        </a:p>
      </dgm:t>
    </dgm:pt>
    <dgm:pt modelId="{505ABB27-C63B-4119-B091-D9DCDF9DA2AF}">
      <dgm:prSet phldrT="[Text]"/>
      <dgm:spPr/>
      <dgm:t>
        <a:bodyPr/>
        <a:lstStyle/>
        <a:p>
          <a:r>
            <a:rPr lang="en-US" dirty="0"/>
            <a:t>Carrier</a:t>
          </a:r>
        </a:p>
      </dgm:t>
    </dgm:pt>
    <dgm:pt modelId="{743D0D0A-84A4-4A91-BB37-4F904091E0BA}" type="parTrans" cxnId="{FC5BD25B-9425-43FB-BAF3-2798017EE79A}">
      <dgm:prSet/>
      <dgm:spPr/>
      <dgm:t>
        <a:bodyPr/>
        <a:lstStyle/>
        <a:p>
          <a:endParaRPr lang="en-US"/>
        </a:p>
      </dgm:t>
    </dgm:pt>
    <dgm:pt modelId="{A465A083-ADEE-49CD-8CDC-5AF94CC8425A}" type="sibTrans" cxnId="{FC5BD25B-9425-43FB-BAF3-2798017EE79A}">
      <dgm:prSet/>
      <dgm:spPr/>
      <dgm:t>
        <a:bodyPr/>
        <a:lstStyle/>
        <a:p>
          <a:endParaRPr lang="en-US"/>
        </a:p>
      </dgm:t>
    </dgm:pt>
    <dgm:pt modelId="{9EF240C2-DE44-4D96-A898-F443DB4DEED3}">
      <dgm:prSet phldrT="[Text]"/>
      <dgm:spPr/>
      <dgm:t>
        <a:bodyPr/>
        <a:lstStyle/>
        <a:p>
          <a:r>
            <a:rPr lang="en-US" dirty="0"/>
            <a:t>Channel</a:t>
          </a:r>
        </a:p>
      </dgm:t>
    </dgm:pt>
    <dgm:pt modelId="{4E81AE30-D05E-4461-B458-BC4DCDB9BC7B}" type="parTrans" cxnId="{37DC6BC2-8B32-4582-864C-9F8AA5DDFE75}">
      <dgm:prSet/>
      <dgm:spPr/>
      <dgm:t>
        <a:bodyPr/>
        <a:lstStyle/>
        <a:p>
          <a:endParaRPr lang="en-US"/>
        </a:p>
      </dgm:t>
    </dgm:pt>
    <dgm:pt modelId="{02800B9F-B8F5-4B53-91FD-C319BF598C6D}" type="sibTrans" cxnId="{37DC6BC2-8B32-4582-864C-9F8AA5DDFE75}">
      <dgm:prSet/>
      <dgm:spPr/>
      <dgm:t>
        <a:bodyPr/>
        <a:lstStyle/>
        <a:p>
          <a:endParaRPr lang="en-US"/>
        </a:p>
      </dgm:t>
    </dgm:pt>
    <dgm:pt modelId="{6F7C03F1-1570-4A67-8185-DFD084837B83}" type="pres">
      <dgm:prSet presAssocID="{75023F9E-C439-4E36-877F-19CAE9F76568}" presName="linear" presStyleCnt="0">
        <dgm:presLayoutVars>
          <dgm:dir/>
          <dgm:animLvl val="lvl"/>
          <dgm:resizeHandles val="exact"/>
        </dgm:presLayoutVars>
      </dgm:prSet>
      <dgm:spPr/>
    </dgm:pt>
    <dgm:pt modelId="{AD162634-1C55-4F04-B4AA-28CB5373C943}" type="pres">
      <dgm:prSet presAssocID="{476AAFEA-31BD-4598-871A-A4C2B25FE0D7}" presName="parentLin" presStyleCnt="0"/>
      <dgm:spPr/>
    </dgm:pt>
    <dgm:pt modelId="{5A108F3C-BF14-43B8-B12F-2599B1DC96EF}" type="pres">
      <dgm:prSet presAssocID="{476AAFEA-31BD-4598-871A-A4C2B25FE0D7}" presName="parentLeftMargin" presStyleLbl="node1" presStyleIdx="0" presStyleCnt="3"/>
      <dgm:spPr/>
    </dgm:pt>
    <dgm:pt modelId="{28E0F18D-3BF1-4130-8BCD-4462D250C2AA}" type="pres">
      <dgm:prSet presAssocID="{476AAFEA-31BD-4598-871A-A4C2B25FE0D7}" presName="parentText" presStyleLbl="node1" presStyleIdx="0" presStyleCnt="3">
        <dgm:presLayoutVars>
          <dgm:chMax val="0"/>
          <dgm:bulletEnabled val="1"/>
        </dgm:presLayoutVars>
      </dgm:prSet>
      <dgm:spPr/>
    </dgm:pt>
    <dgm:pt modelId="{7ABB8F6A-B8E7-4CF4-A53C-1C2186B42042}" type="pres">
      <dgm:prSet presAssocID="{476AAFEA-31BD-4598-871A-A4C2B25FE0D7}" presName="negativeSpace" presStyleCnt="0"/>
      <dgm:spPr/>
    </dgm:pt>
    <dgm:pt modelId="{E14C9785-7AD9-46B9-BB79-5AF104696DE0}" type="pres">
      <dgm:prSet presAssocID="{476AAFEA-31BD-4598-871A-A4C2B25FE0D7}" presName="childText" presStyleLbl="conFgAcc1" presStyleIdx="0" presStyleCnt="3">
        <dgm:presLayoutVars>
          <dgm:bulletEnabled val="1"/>
        </dgm:presLayoutVars>
      </dgm:prSet>
      <dgm:spPr/>
    </dgm:pt>
    <dgm:pt modelId="{4BC5B9F0-E832-4892-8776-B8B5EBAA86D6}" type="pres">
      <dgm:prSet presAssocID="{F190FAF5-2E20-4676-BCB7-57A1ACC63EF7}" presName="spaceBetweenRectangles" presStyleCnt="0"/>
      <dgm:spPr/>
    </dgm:pt>
    <dgm:pt modelId="{0CD54A6F-576E-43A0-8D8B-69622A3E285B}" type="pres">
      <dgm:prSet presAssocID="{505ABB27-C63B-4119-B091-D9DCDF9DA2AF}" presName="parentLin" presStyleCnt="0"/>
      <dgm:spPr/>
    </dgm:pt>
    <dgm:pt modelId="{D34DCC17-CF52-431E-8C80-133D33FA9CC4}" type="pres">
      <dgm:prSet presAssocID="{505ABB27-C63B-4119-B091-D9DCDF9DA2AF}" presName="parentLeftMargin" presStyleLbl="node1" presStyleIdx="0" presStyleCnt="3"/>
      <dgm:spPr/>
    </dgm:pt>
    <dgm:pt modelId="{913E1891-3D8C-494A-8790-6735E86E634E}" type="pres">
      <dgm:prSet presAssocID="{505ABB27-C63B-4119-B091-D9DCDF9DA2AF}" presName="parentText" presStyleLbl="node1" presStyleIdx="1" presStyleCnt="3">
        <dgm:presLayoutVars>
          <dgm:chMax val="0"/>
          <dgm:bulletEnabled val="1"/>
        </dgm:presLayoutVars>
      </dgm:prSet>
      <dgm:spPr/>
    </dgm:pt>
    <dgm:pt modelId="{83901F58-DEA0-40F6-A7FB-B71D55427EC9}" type="pres">
      <dgm:prSet presAssocID="{505ABB27-C63B-4119-B091-D9DCDF9DA2AF}" presName="negativeSpace" presStyleCnt="0"/>
      <dgm:spPr/>
    </dgm:pt>
    <dgm:pt modelId="{B92ECA57-BC94-4895-9678-7B3B2C981571}" type="pres">
      <dgm:prSet presAssocID="{505ABB27-C63B-4119-B091-D9DCDF9DA2AF}" presName="childText" presStyleLbl="conFgAcc1" presStyleIdx="1" presStyleCnt="3">
        <dgm:presLayoutVars>
          <dgm:bulletEnabled val="1"/>
        </dgm:presLayoutVars>
      </dgm:prSet>
      <dgm:spPr/>
    </dgm:pt>
    <dgm:pt modelId="{F6155DA0-3AB3-4FA0-A130-2E32269E4FC6}" type="pres">
      <dgm:prSet presAssocID="{A465A083-ADEE-49CD-8CDC-5AF94CC8425A}" presName="spaceBetweenRectangles" presStyleCnt="0"/>
      <dgm:spPr/>
    </dgm:pt>
    <dgm:pt modelId="{11FB29B1-CFC0-4D46-B3CF-E6BA7C577909}" type="pres">
      <dgm:prSet presAssocID="{9EF240C2-DE44-4D96-A898-F443DB4DEED3}" presName="parentLin" presStyleCnt="0"/>
      <dgm:spPr/>
    </dgm:pt>
    <dgm:pt modelId="{AFAA8375-437E-44DE-B970-2CA2E31952B0}" type="pres">
      <dgm:prSet presAssocID="{9EF240C2-DE44-4D96-A898-F443DB4DEED3}" presName="parentLeftMargin" presStyleLbl="node1" presStyleIdx="1" presStyleCnt="3"/>
      <dgm:spPr/>
    </dgm:pt>
    <dgm:pt modelId="{7C06EA5B-5EFD-4736-995C-51EA4BED5CB3}" type="pres">
      <dgm:prSet presAssocID="{9EF240C2-DE44-4D96-A898-F443DB4DEED3}" presName="parentText" presStyleLbl="node1" presStyleIdx="2" presStyleCnt="3">
        <dgm:presLayoutVars>
          <dgm:chMax val="0"/>
          <dgm:bulletEnabled val="1"/>
        </dgm:presLayoutVars>
      </dgm:prSet>
      <dgm:spPr/>
    </dgm:pt>
    <dgm:pt modelId="{99FBABBF-D889-4325-936F-FFA6F1E1D050}" type="pres">
      <dgm:prSet presAssocID="{9EF240C2-DE44-4D96-A898-F443DB4DEED3}" presName="negativeSpace" presStyleCnt="0"/>
      <dgm:spPr/>
    </dgm:pt>
    <dgm:pt modelId="{82D12F0E-F790-4239-B78F-3CF5956D149F}" type="pres">
      <dgm:prSet presAssocID="{9EF240C2-DE44-4D96-A898-F443DB4DEED3}" presName="childText" presStyleLbl="conFgAcc1" presStyleIdx="2" presStyleCnt="3">
        <dgm:presLayoutVars>
          <dgm:bulletEnabled val="1"/>
        </dgm:presLayoutVars>
      </dgm:prSet>
      <dgm:spPr/>
    </dgm:pt>
  </dgm:ptLst>
  <dgm:cxnLst>
    <dgm:cxn modelId="{0A6CF809-62EF-4102-9753-A6ECB22E23AC}" type="presOf" srcId="{9EF240C2-DE44-4D96-A898-F443DB4DEED3}" destId="{AFAA8375-437E-44DE-B970-2CA2E31952B0}" srcOrd="0" destOrd="0" presId="urn:microsoft.com/office/officeart/2005/8/layout/list1"/>
    <dgm:cxn modelId="{FC5BD25B-9425-43FB-BAF3-2798017EE79A}" srcId="{75023F9E-C439-4E36-877F-19CAE9F76568}" destId="{505ABB27-C63B-4119-B091-D9DCDF9DA2AF}" srcOrd="1" destOrd="0" parTransId="{743D0D0A-84A4-4A91-BB37-4F904091E0BA}" sibTransId="{A465A083-ADEE-49CD-8CDC-5AF94CC8425A}"/>
    <dgm:cxn modelId="{37D52F92-BEF1-4D9E-9431-B9B2D67BCB50}" type="presOf" srcId="{505ABB27-C63B-4119-B091-D9DCDF9DA2AF}" destId="{D34DCC17-CF52-431E-8C80-133D33FA9CC4}" srcOrd="0" destOrd="0" presId="urn:microsoft.com/office/officeart/2005/8/layout/list1"/>
    <dgm:cxn modelId="{2028FAA4-AA46-4551-9CE8-B789999D59BC}" srcId="{75023F9E-C439-4E36-877F-19CAE9F76568}" destId="{476AAFEA-31BD-4598-871A-A4C2B25FE0D7}" srcOrd="0" destOrd="0" parTransId="{F0FB449B-A0DD-41F3-94B0-6DD17A1E9EE6}" sibTransId="{F190FAF5-2E20-4676-BCB7-57A1ACC63EF7}"/>
    <dgm:cxn modelId="{91EB26AA-E72E-45A5-8984-E285802E9495}" type="presOf" srcId="{476AAFEA-31BD-4598-871A-A4C2B25FE0D7}" destId="{5A108F3C-BF14-43B8-B12F-2599B1DC96EF}" srcOrd="0" destOrd="0" presId="urn:microsoft.com/office/officeart/2005/8/layout/list1"/>
    <dgm:cxn modelId="{34D34CB8-9933-44B9-89B0-DD513E886BE9}" type="presOf" srcId="{505ABB27-C63B-4119-B091-D9DCDF9DA2AF}" destId="{913E1891-3D8C-494A-8790-6735E86E634E}" srcOrd="1" destOrd="0" presId="urn:microsoft.com/office/officeart/2005/8/layout/list1"/>
    <dgm:cxn modelId="{37DC6BC2-8B32-4582-864C-9F8AA5DDFE75}" srcId="{75023F9E-C439-4E36-877F-19CAE9F76568}" destId="{9EF240C2-DE44-4D96-A898-F443DB4DEED3}" srcOrd="2" destOrd="0" parTransId="{4E81AE30-D05E-4461-B458-BC4DCDB9BC7B}" sibTransId="{02800B9F-B8F5-4B53-91FD-C319BF598C6D}"/>
    <dgm:cxn modelId="{2997E5CE-A6E7-407C-A091-A1CDA2B4A5B3}" type="presOf" srcId="{476AAFEA-31BD-4598-871A-A4C2B25FE0D7}" destId="{28E0F18D-3BF1-4130-8BCD-4462D250C2AA}" srcOrd="1" destOrd="0" presId="urn:microsoft.com/office/officeart/2005/8/layout/list1"/>
    <dgm:cxn modelId="{6C3FB3D3-D595-4055-B99B-20D70502BAD0}" type="presOf" srcId="{75023F9E-C439-4E36-877F-19CAE9F76568}" destId="{6F7C03F1-1570-4A67-8185-DFD084837B83}" srcOrd="0" destOrd="0" presId="urn:microsoft.com/office/officeart/2005/8/layout/list1"/>
    <dgm:cxn modelId="{A7418FFD-02CF-411A-8ED9-119D07E031C3}" type="presOf" srcId="{9EF240C2-DE44-4D96-A898-F443DB4DEED3}" destId="{7C06EA5B-5EFD-4736-995C-51EA4BED5CB3}" srcOrd="1" destOrd="0" presId="urn:microsoft.com/office/officeart/2005/8/layout/list1"/>
    <dgm:cxn modelId="{553CE0A8-C563-4DFC-8EBC-8C86A22B7E5D}" type="presParOf" srcId="{6F7C03F1-1570-4A67-8185-DFD084837B83}" destId="{AD162634-1C55-4F04-B4AA-28CB5373C943}" srcOrd="0" destOrd="0" presId="urn:microsoft.com/office/officeart/2005/8/layout/list1"/>
    <dgm:cxn modelId="{1AD10615-8274-40D7-8B6A-25CB18370937}" type="presParOf" srcId="{AD162634-1C55-4F04-B4AA-28CB5373C943}" destId="{5A108F3C-BF14-43B8-B12F-2599B1DC96EF}" srcOrd="0" destOrd="0" presId="urn:microsoft.com/office/officeart/2005/8/layout/list1"/>
    <dgm:cxn modelId="{6B13BD50-6743-463C-A5FA-0A97115AC4C6}" type="presParOf" srcId="{AD162634-1C55-4F04-B4AA-28CB5373C943}" destId="{28E0F18D-3BF1-4130-8BCD-4462D250C2AA}" srcOrd="1" destOrd="0" presId="urn:microsoft.com/office/officeart/2005/8/layout/list1"/>
    <dgm:cxn modelId="{E6361D91-81A0-47C0-82BC-B0D4D187559B}" type="presParOf" srcId="{6F7C03F1-1570-4A67-8185-DFD084837B83}" destId="{7ABB8F6A-B8E7-4CF4-A53C-1C2186B42042}" srcOrd="1" destOrd="0" presId="urn:microsoft.com/office/officeart/2005/8/layout/list1"/>
    <dgm:cxn modelId="{F465DE26-596E-465A-9567-2B0426CDE638}" type="presParOf" srcId="{6F7C03F1-1570-4A67-8185-DFD084837B83}" destId="{E14C9785-7AD9-46B9-BB79-5AF104696DE0}" srcOrd="2" destOrd="0" presId="urn:microsoft.com/office/officeart/2005/8/layout/list1"/>
    <dgm:cxn modelId="{BB541AD0-495D-4A62-9B64-48056C5F736E}" type="presParOf" srcId="{6F7C03F1-1570-4A67-8185-DFD084837B83}" destId="{4BC5B9F0-E832-4892-8776-B8B5EBAA86D6}" srcOrd="3" destOrd="0" presId="urn:microsoft.com/office/officeart/2005/8/layout/list1"/>
    <dgm:cxn modelId="{1DDB2433-3BC7-49E0-A181-0BB6A496E6B5}" type="presParOf" srcId="{6F7C03F1-1570-4A67-8185-DFD084837B83}" destId="{0CD54A6F-576E-43A0-8D8B-69622A3E285B}" srcOrd="4" destOrd="0" presId="urn:microsoft.com/office/officeart/2005/8/layout/list1"/>
    <dgm:cxn modelId="{7115B5B8-BBFB-4964-AA1C-C344C1DE49DE}" type="presParOf" srcId="{0CD54A6F-576E-43A0-8D8B-69622A3E285B}" destId="{D34DCC17-CF52-431E-8C80-133D33FA9CC4}" srcOrd="0" destOrd="0" presId="urn:microsoft.com/office/officeart/2005/8/layout/list1"/>
    <dgm:cxn modelId="{7E0D9BD8-5EE3-45FC-9157-20D3F49B45F3}" type="presParOf" srcId="{0CD54A6F-576E-43A0-8D8B-69622A3E285B}" destId="{913E1891-3D8C-494A-8790-6735E86E634E}" srcOrd="1" destOrd="0" presId="urn:microsoft.com/office/officeart/2005/8/layout/list1"/>
    <dgm:cxn modelId="{E82CA7E9-94B0-43B5-B7A5-D64498379C4C}" type="presParOf" srcId="{6F7C03F1-1570-4A67-8185-DFD084837B83}" destId="{83901F58-DEA0-40F6-A7FB-B71D55427EC9}" srcOrd="5" destOrd="0" presId="urn:microsoft.com/office/officeart/2005/8/layout/list1"/>
    <dgm:cxn modelId="{381B425D-007C-4E91-B7E6-F5C006D7A17F}" type="presParOf" srcId="{6F7C03F1-1570-4A67-8185-DFD084837B83}" destId="{B92ECA57-BC94-4895-9678-7B3B2C981571}" srcOrd="6" destOrd="0" presId="urn:microsoft.com/office/officeart/2005/8/layout/list1"/>
    <dgm:cxn modelId="{ED3FB409-7AD7-4300-93D2-4F20CAFE93F9}" type="presParOf" srcId="{6F7C03F1-1570-4A67-8185-DFD084837B83}" destId="{F6155DA0-3AB3-4FA0-A130-2E32269E4FC6}" srcOrd="7" destOrd="0" presId="urn:microsoft.com/office/officeart/2005/8/layout/list1"/>
    <dgm:cxn modelId="{FE81AEF2-01F3-4E62-BC84-F79F8CA32194}" type="presParOf" srcId="{6F7C03F1-1570-4A67-8185-DFD084837B83}" destId="{11FB29B1-CFC0-4D46-B3CF-E6BA7C577909}" srcOrd="8" destOrd="0" presId="urn:microsoft.com/office/officeart/2005/8/layout/list1"/>
    <dgm:cxn modelId="{C6F57B6C-E343-4EA6-A35E-E26C68DFD34F}" type="presParOf" srcId="{11FB29B1-CFC0-4D46-B3CF-E6BA7C577909}" destId="{AFAA8375-437E-44DE-B970-2CA2E31952B0}" srcOrd="0" destOrd="0" presId="urn:microsoft.com/office/officeart/2005/8/layout/list1"/>
    <dgm:cxn modelId="{CB7169F9-97EF-4802-ADCD-5CF0FB9F9DE4}" type="presParOf" srcId="{11FB29B1-CFC0-4D46-B3CF-E6BA7C577909}" destId="{7C06EA5B-5EFD-4736-995C-51EA4BED5CB3}" srcOrd="1" destOrd="0" presId="urn:microsoft.com/office/officeart/2005/8/layout/list1"/>
    <dgm:cxn modelId="{5B1A9C1A-1DDB-451E-8E5D-7D9C989BFCA9}" type="presParOf" srcId="{6F7C03F1-1570-4A67-8185-DFD084837B83}" destId="{99FBABBF-D889-4325-936F-FFA6F1E1D050}" srcOrd="9" destOrd="0" presId="urn:microsoft.com/office/officeart/2005/8/layout/list1"/>
    <dgm:cxn modelId="{A1797510-F920-43A1-91C8-966AD8EF8351}" type="presParOf" srcId="{6F7C03F1-1570-4A67-8185-DFD084837B83}" destId="{82D12F0E-F790-4239-B78F-3CF5956D149F}"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4ED611C-0A9A-40B2-A99D-59F6AEDA0711}"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65E24A85-F5C2-48FD-A0A1-C0F32B7CB8AF}">
      <dgm:prSet phldrT="[Text]"/>
      <dgm:spPr/>
      <dgm:t>
        <a:bodyPr/>
        <a:lstStyle/>
        <a:p>
          <a:r>
            <a:rPr lang="en-US" dirty="0"/>
            <a:t>Steganophony</a:t>
          </a:r>
        </a:p>
      </dgm:t>
    </dgm:pt>
    <dgm:pt modelId="{A2CA3E75-2CD8-442F-99D2-7094E5218D86}" type="parTrans" cxnId="{464BD20E-55F4-4AEF-AEE0-D20991CB2918}">
      <dgm:prSet/>
      <dgm:spPr/>
      <dgm:t>
        <a:bodyPr/>
        <a:lstStyle/>
        <a:p>
          <a:endParaRPr lang="en-US"/>
        </a:p>
      </dgm:t>
    </dgm:pt>
    <dgm:pt modelId="{EACBC423-9940-4C68-8CD9-BA6AAB34DA1E}" type="sibTrans" cxnId="{464BD20E-55F4-4AEF-AEE0-D20991CB2918}">
      <dgm:prSet/>
      <dgm:spPr/>
      <dgm:t>
        <a:bodyPr/>
        <a:lstStyle/>
        <a:p>
          <a:endParaRPr lang="en-US"/>
        </a:p>
      </dgm:t>
    </dgm:pt>
    <dgm:pt modelId="{2E4BFFB1-A13A-4C54-A7DE-F8E2470E8801}">
      <dgm:prSet phldrT="[Text]"/>
      <dgm:spPr/>
      <dgm:t>
        <a:bodyPr/>
        <a:lstStyle/>
        <a:p>
          <a:r>
            <a:rPr lang="en-US" dirty="0"/>
            <a:t>Hiding messages in sound files</a:t>
          </a:r>
        </a:p>
      </dgm:t>
    </dgm:pt>
    <dgm:pt modelId="{7AD212F2-B275-4E9D-AA19-59B7B0ECC34B}" type="parTrans" cxnId="{CCE201E4-A187-4321-98DD-F06E261EA8FA}">
      <dgm:prSet/>
      <dgm:spPr/>
      <dgm:t>
        <a:bodyPr/>
        <a:lstStyle/>
        <a:p>
          <a:endParaRPr lang="en-US"/>
        </a:p>
      </dgm:t>
    </dgm:pt>
    <dgm:pt modelId="{8C8AA5B1-6FB3-4285-820A-12EA146F477D}" type="sibTrans" cxnId="{CCE201E4-A187-4321-98DD-F06E261EA8FA}">
      <dgm:prSet/>
      <dgm:spPr/>
      <dgm:t>
        <a:bodyPr/>
        <a:lstStyle/>
        <a:p>
          <a:endParaRPr lang="en-US"/>
        </a:p>
      </dgm:t>
    </dgm:pt>
    <dgm:pt modelId="{9559CAA9-5936-4AEA-A611-957843699908}">
      <dgm:prSet phldrT="[Text]"/>
      <dgm:spPr/>
      <dgm:t>
        <a:bodyPr/>
        <a:lstStyle/>
        <a:p>
          <a:r>
            <a:rPr lang="en-US" dirty="0"/>
            <a:t>Video steganography</a:t>
          </a:r>
        </a:p>
      </dgm:t>
    </dgm:pt>
    <dgm:pt modelId="{D67CB78E-9562-4E2F-8EAE-DC1E59C4320D}" type="parTrans" cxnId="{1F19D6EB-5F3E-4A46-8C42-48B6F7FEFAB1}">
      <dgm:prSet/>
      <dgm:spPr/>
      <dgm:t>
        <a:bodyPr/>
        <a:lstStyle/>
        <a:p>
          <a:endParaRPr lang="en-US"/>
        </a:p>
      </dgm:t>
    </dgm:pt>
    <dgm:pt modelId="{0F92B25F-0324-457B-9A94-477456263F61}" type="sibTrans" cxnId="{1F19D6EB-5F3E-4A46-8C42-48B6F7FEFAB1}">
      <dgm:prSet/>
      <dgm:spPr/>
      <dgm:t>
        <a:bodyPr/>
        <a:lstStyle/>
        <a:p>
          <a:endParaRPr lang="en-US"/>
        </a:p>
      </dgm:t>
    </dgm:pt>
    <dgm:pt modelId="{7217BFB2-C8C4-4ED1-B214-10B484D23260}">
      <dgm:prSet phldrT="[Text]"/>
      <dgm:spPr/>
      <dgm:t>
        <a:bodyPr/>
        <a:lstStyle/>
        <a:p>
          <a:r>
            <a:rPr lang="en-US" dirty="0"/>
            <a:t>Hiding information in video files</a:t>
          </a:r>
        </a:p>
      </dgm:t>
    </dgm:pt>
    <dgm:pt modelId="{1091BE90-7546-4A03-8A53-B7779229F742}" type="parTrans" cxnId="{3B4973B6-EB67-47DE-987A-E8FEBF0A1C0C}">
      <dgm:prSet/>
      <dgm:spPr/>
      <dgm:t>
        <a:bodyPr/>
        <a:lstStyle/>
        <a:p>
          <a:endParaRPr lang="en-US"/>
        </a:p>
      </dgm:t>
    </dgm:pt>
    <dgm:pt modelId="{F605456C-6C3D-42B4-92A7-D6C8BBE8791D}" type="sibTrans" cxnId="{3B4973B6-EB67-47DE-987A-E8FEBF0A1C0C}">
      <dgm:prSet/>
      <dgm:spPr/>
      <dgm:t>
        <a:bodyPr/>
        <a:lstStyle/>
        <a:p>
          <a:endParaRPr lang="en-US"/>
        </a:p>
      </dgm:t>
    </dgm:pt>
    <dgm:pt modelId="{0792BAE8-9009-45EF-93A1-6AD61E117E1A}">
      <dgm:prSet/>
      <dgm:spPr/>
      <dgm:t>
        <a:bodyPr/>
        <a:lstStyle/>
        <a:p>
          <a:r>
            <a:rPr lang="en-US" dirty="0"/>
            <a:t>Advanced steganography</a:t>
          </a:r>
        </a:p>
      </dgm:t>
    </dgm:pt>
    <dgm:pt modelId="{058E8144-C229-4E0E-B4B4-55ACAE713A07}" type="parTrans" cxnId="{2A407D60-05E7-430F-9EB7-7E5FAD2CF321}">
      <dgm:prSet/>
      <dgm:spPr/>
      <dgm:t>
        <a:bodyPr/>
        <a:lstStyle/>
        <a:p>
          <a:endParaRPr lang="en-US"/>
        </a:p>
      </dgm:t>
    </dgm:pt>
    <dgm:pt modelId="{FC75673E-9BEF-4FAF-89D6-54DEC01225A0}" type="sibTrans" cxnId="{2A407D60-05E7-430F-9EB7-7E5FAD2CF321}">
      <dgm:prSet/>
      <dgm:spPr/>
      <dgm:t>
        <a:bodyPr/>
        <a:lstStyle/>
        <a:p>
          <a:endParaRPr lang="en-US"/>
        </a:p>
      </dgm:t>
    </dgm:pt>
    <dgm:pt modelId="{C7413500-4CBC-427A-937E-E2C01F6506D6}">
      <dgm:prSet/>
      <dgm:spPr/>
      <dgm:t>
        <a:bodyPr/>
        <a:lstStyle/>
        <a:p>
          <a:r>
            <a:rPr lang="en-US" dirty="0"/>
            <a:t>Bit-plane complexity segmentation steganography (BPCS)</a:t>
          </a:r>
        </a:p>
      </dgm:t>
    </dgm:pt>
    <dgm:pt modelId="{0BA21AAB-BAC6-4B10-B85F-8E24B4592DC0}" type="parTrans" cxnId="{CD4D1073-E0BC-44B2-B8E2-F819A2BFD066}">
      <dgm:prSet/>
      <dgm:spPr/>
      <dgm:t>
        <a:bodyPr/>
        <a:lstStyle/>
        <a:p>
          <a:endParaRPr lang="en-US"/>
        </a:p>
      </dgm:t>
    </dgm:pt>
    <dgm:pt modelId="{829E0B04-CC4A-438B-84F0-0799114AF475}" type="sibTrans" cxnId="{CD4D1073-E0BC-44B2-B8E2-F819A2BFD066}">
      <dgm:prSet/>
      <dgm:spPr/>
      <dgm:t>
        <a:bodyPr/>
        <a:lstStyle/>
        <a:p>
          <a:endParaRPr lang="en-US"/>
        </a:p>
      </dgm:t>
    </dgm:pt>
    <dgm:pt modelId="{76E64836-C7E0-4168-A047-659BA21C92DE}" type="pres">
      <dgm:prSet presAssocID="{F4ED611C-0A9A-40B2-A99D-59F6AEDA0711}" presName="Name0" presStyleCnt="0">
        <dgm:presLayoutVars>
          <dgm:dir/>
          <dgm:animLvl val="lvl"/>
          <dgm:resizeHandles val="exact"/>
        </dgm:presLayoutVars>
      </dgm:prSet>
      <dgm:spPr/>
    </dgm:pt>
    <dgm:pt modelId="{AB6C2E84-2B09-4CDB-9570-8EC946168283}" type="pres">
      <dgm:prSet presAssocID="{65E24A85-F5C2-48FD-A0A1-C0F32B7CB8AF}" presName="linNode" presStyleCnt="0"/>
      <dgm:spPr/>
    </dgm:pt>
    <dgm:pt modelId="{B4E4D952-533C-44C5-B68C-D3157D3FC1D4}" type="pres">
      <dgm:prSet presAssocID="{65E24A85-F5C2-48FD-A0A1-C0F32B7CB8AF}" presName="parentText" presStyleLbl="node1" presStyleIdx="0" presStyleCnt="3">
        <dgm:presLayoutVars>
          <dgm:chMax val="1"/>
          <dgm:bulletEnabled val="1"/>
        </dgm:presLayoutVars>
      </dgm:prSet>
      <dgm:spPr/>
    </dgm:pt>
    <dgm:pt modelId="{C08BA113-0F77-4668-BB67-BDB4E55DAEE7}" type="pres">
      <dgm:prSet presAssocID="{65E24A85-F5C2-48FD-A0A1-C0F32B7CB8AF}" presName="descendantText" presStyleLbl="alignAccFollowNode1" presStyleIdx="0" presStyleCnt="3">
        <dgm:presLayoutVars>
          <dgm:bulletEnabled val="1"/>
        </dgm:presLayoutVars>
      </dgm:prSet>
      <dgm:spPr/>
    </dgm:pt>
    <dgm:pt modelId="{F8703DC2-549B-4503-83F2-609C38366EAF}" type="pres">
      <dgm:prSet presAssocID="{EACBC423-9940-4C68-8CD9-BA6AAB34DA1E}" presName="sp" presStyleCnt="0"/>
      <dgm:spPr/>
    </dgm:pt>
    <dgm:pt modelId="{8BE8ED8B-9060-406D-A342-60BACDD08899}" type="pres">
      <dgm:prSet presAssocID="{9559CAA9-5936-4AEA-A611-957843699908}" presName="linNode" presStyleCnt="0"/>
      <dgm:spPr/>
    </dgm:pt>
    <dgm:pt modelId="{8B855A06-F060-4703-9A30-CDFB8FC66395}" type="pres">
      <dgm:prSet presAssocID="{9559CAA9-5936-4AEA-A611-957843699908}" presName="parentText" presStyleLbl="node1" presStyleIdx="1" presStyleCnt="3">
        <dgm:presLayoutVars>
          <dgm:chMax val="1"/>
          <dgm:bulletEnabled val="1"/>
        </dgm:presLayoutVars>
      </dgm:prSet>
      <dgm:spPr/>
    </dgm:pt>
    <dgm:pt modelId="{DED82329-5591-4027-84F2-477BF672E6D9}" type="pres">
      <dgm:prSet presAssocID="{9559CAA9-5936-4AEA-A611-957843699908}" presName="descendantText" presStyleLbl="alignAccFollowNode1" presStyleIdx="1" presStyleCnt="3">
        <dgm:presLayoutVars>
          <dgm:bulletEnabled val="1"/>
        </dgm:presLayoutVars>
      </dgm:prSet>
      <dgm:spPr/>
    </dgm:pt>
    <dgm:pt modelId="{64AC0B5C-7616-41A2-89E9-A483B11BB4BA}" type="pres">
      <dgm:prSet presAssocID="{0F92B25F-0324-457B-9A94-477456263F61}" presName="sp" presStyleCnt="0"/>
      <dgm:spPr/>
    </dgm:pt>
    <dgm:pt modelId="{5ADF241E-43ED-4F6C-8FF4-35F649DA54A9}" type="pres">
      <dgm:prSet presAssocID="{0792BAE8-9009-45EF-93A1-6AD61E117E1A}" presName="linNode" presStyleCnt="0"/>
      <dgm:spPr/>
    </dgm:pt>
    <dgm:pt modelId="{2E9B5796-D68B-4637-88C2-DDE3D58B5611}" type="pres">
      <dgm:prSet presAssocID="{0792BAE8-9009-45EF-93A1-6AD61E117E1A}" presName="parentText" presStyleLbl="node1" presStyleIdx="2" presStyleCnt="3">
        <dgm:presLayoutVars>
          <dgm:chMax val="1"/>
          <dgm:bulletEnabled val="1"/>
        </dgm:presLayoutVars>
      </dgm:prSet>
      <dgm:spPr/>
    </dgm:pt>
    <dgm:pt modelId="{EA72D7AA-8A77-4880-A222-3845039A9E31}" type="pres">
      <dgm:prSet presAssocID="{0792BAE8-9009-45EF-93A1-6AD61E117E1A}" presName="descendantText" presStyleLbl="alignAccFollowNode1" presStyleIdx="2" presStyleCnt="3">
        <dgm:presLayoutVars>
          <dgm:bulletEnabled val="1"/>
        </dgm:presLayoutVars>
      </dgm:prSet>
      <dgm:spPr/>
    </dgm:pt>
  </dgm:ptLst>
  <dgm:cxnLst>
    <dgm:cxn modelId="{464BD20E-55F4-4AEF-AEE0-D20991CB2918}" srcId="{F4ED611C-0A9A-40B2-A99D-59F6AEDA0711}" destId="{65E24A85-F5C2-48FD-A0A1-C0F32B7CB8AF}" srcOrd="0" destOrd="0" parTransId="{A2CA3E75-2CD8-442F-99D2-7094E5218D86}" sibTransId="{EACBC423-9940-4C68-8CD9-BA6AAB34DA1E}"/>
    <dgm:cxn modelId="{A5D51C12-7072-46A1-A8AD-0B0E820EE495}" type="presOf" srcId="{9559CAA9-5936-4AEA-A611-957843699908}" destId="{8B855A06-F060-4703-9A30-CDFB8FC66395}" srcOrd="0" destOrd="0" presId="urn:microsoft.com/office/officeart/2005/8/layout/vList5"/>
    <dgm:cxn modelId="{EAE8281C-5686-4A32-9777-4FB6692C5094}" type="presOf" srcId="{65E24A85-F5C2-48FD-A0A1-C0F32B7CB8AF}" destId="{B4E4D952-533C-44C5-B68C-D3157D3FC1D4}" srcOrd="0" destOrd="0" presId="urn:microsoft.com/office/officeart/2005/8/layout/vList5"/>
    <dgm:cxn modelId="{E13C361C-23ED-4D65-ACF1-396FF7F959FE}" type="presOf" srcId="{F4ED611C-0A9A-40B2-A99D-59F6AEDA0711}" destId="{76E64836-C7E0-4168-A047-659BA21C92DE}" srcOrd="0" destOrd="0" presId="urn:microsoft.com/office/officeart/2005/8/layout/vList5"/>
    <dgm:cxn modelId="{0A6AB735-52F0-4098-ABF5-C9014703D6AF}" type="presOf" srcId="{7217BFB2-C8C4-4ED1-B214-10B484D23260}" destId="{DED82329-5591-4027-84F2-477BF672E6D9}" srcOrd="0" destOrd="0" presId="urn:microsoft.com/office/officeart/2005/8/layout/vList5"/>
    <dgm:cxn modelId="{2A407D60-05E7-430F-9EB7-7E5FAD2CF321}" srcId="{F4ED611C-0A9A-40B2-A99D-59F6AEDA0711}" destId="{0792BAE8-9009-45EF-93A1-6AD61E117E1A}" srcOrd="2" destOrd="0" parTransId="{058E8144-C229-4E0E-B4B4-55ACAE713A07}" sibTransId="{FC75673E-9BEF-4FAF-89D6-54DEC01225A0}"/>
    <dgm:cxn modelId="{CD4D1073-E0BC-44B2-B8E2-F819A2BFD066}" srcId="{0792BAE8-9009-45EF-93A1-6AD61E117E1A}" destId="{C7413500-4CBC-427A-937E-E2C01F6506D6}" srcOrd="0" destOrd="0" parTransId="{0BA21AAB-BAC6-4B10-B85F-8E24B4592DC0}" sibTransId="{829E0B04-CC4A-438B-84F0-0799114AF475}"/>
    <dgm:cxn modelId="{B8D7EE5A-6E1F-4B0C-971B-32C592A731C5}" type="presOf" srcId="{C7413500-4CBC-427A-937E-E2C01F6506D6}" destId="{EA72D7AA-8A77-4880-A222-3845039A9E31}" srcOrd="0" destOrd="0" presId="urn:microsoft.com/office/officeart/2005/8/layout/vList5"/>
    <dgm:cxn modelId="{D7EF1E93-B02C-46C0-B91A-573A6436EA67}" type="presOf" srcId="{0792BAE8-9009-45EF-93A1-6AD61E117E1A}" destId="{2E9B5796-D68B-4637-88C2-DDE3D58B5611}" srcOrd="0" destOrd="0" presId="urn:microsoft.com/office/officeart/2005/8/layout/vList5"/>
    <dgm:cxn modelId="{417D6F9C-8CD2-4820-AB27-5C03A37E4FDB}" type="presOf" srcId="{2E4BFFB1-A13A-4C54-A7DE-F8E2470E8801}" destId="{C08BA113-0F77-4668-BB67-BDB4E55DAEE7}" srcOrd="0" destOrd="0" presId="urn:microsoft.com/office/officeart/2005/8/layout/vList5"/>
    <dgm:cxn modelId="{3B4973B6-EB67-47DE-987A-E8FEBF0A1C0C}" srcId="{9559CAA9-5936-4AEA-A611-957843699908}" destId="{7217BFB2-C8C4-4ED1-B214-10B484D23260}" srcOrd="0" destOrd="0" parTransId="{1091BE90-7546-4A03-8A53-B7779229F742}" sibTransId="{F605456C-6C3D-42B4-92A7-D6C8BBE8791D}"/>
    <dgm:cxn modelId="{CCE201E4-A187-4321-98DD-F06E261EA8FA}" srcId="{65E24A85-F5C2-48FD-A0A1-C0F32B7CB8AF}" destId="{2E4BFFB1-A13A-4C54-A7DE-F8E2470E8801}" srcOrd="0" destOrd="0" parTransId="{7AD212F2-B275-4E9D-AA19-59B7B0ECC34B}" sibTransId="{8C8AA5B1-6FB3-4285-820A-12EA146F477D}"/>
    <dgm:cxn modelId="{1F19D6EB-5F3E-4A46-8C42-48B6F7FEFAB1}" srcId="{F4ED611C-0A9A-40B2-A99D-59F6AEDA0711}" destId="{9559CAA9-5936-4AEA-A611-957843699908}" srcOrd="1" destOrd="0" parTransId="{D67CB78E-9562-4E2F-8EAE-DC1E59C4320D}" sibTransId="{0F92B25F-0324-457B-9A94-477456263F61}"/>
    <dgm:cxn modelId="{3746F00C-8BEC-4284-845D-1614CBEEECA4}" type="presParOf" srcId="{76E64836-C7E0-4168-A047-659BA21C92DE}" destId="{AB6C2E84-2B09-4CDB-9570-8EC946168283}" srcOrd="0" destOrd="0" presId="urn:microsoft.com/office/officeart/2005/8/layout/vList5"/>
    <dgm:cxn modelId="{AF54FB54-DEA0-46B2-8B33-72612BB40BBE}" type="presParOf" srcId="{AB6C2E84-2B09-4CDB-9570-8EC946168283}" destId="{B4E4D952-533C-44C5-B68C-D3157D3FC1D4}" srcOrd="0" destOrd="0" presId="urn:microsoft.com/office/officeart/2005/8/layout/vList5"/>
    <dgm:cxn modelId="{2A80FB90-B2B9-4894-B366-631D9377AC9C}" type="presParOf" srcId="{AB6C2E84-2B09-4CDB-9570-8EC946168283}" destId="{C08BA113-0F77-4668-BB67-BDB4E55DAEE7}" srcOrd="1" destOrd="0" presId="urn:microsoft.com/office/officeart/2005/8/layout/vList5"/>
    <dgm:cxn modelId="{00AE57C9-5585-4F45-8AEE-567FF7DB9781}" type="presParOf" srcId="{76E64836-C7E0-4168-A047-659BA21C92DE}" destId="{F8703DC2-549B-4503-83F2-609C38366EAF}" srcOrd="1" destOrd="0" presId="urn:microsoft.com/office/officeart/2005/8/layout/vList5"/>
    <dgm:cxn modelId="{3CD1C26E-2702-4603-A810-E5211A185005}" type="presParOf" srcId="{76E64836-C7E0-4168-A047-659BA21C92DE}" destId="{8BE8ED8B-9060-406D-A342-60BACDD08899}" srcOrd="2" destOrd="0" presId="urn:microsoft.com/office/officeart/2005/8/layout/vList5"/>
    <dgm:cxn modelId="{C7F3B065-836B-4F48-97D2-26271CE9A35D}" type="presParOf" srcId="{8BE8ED8B-9060-406D-A342-60BACDD08899}" destId="{8B855A06-F060-4703-9A30-CDFB8FC66395}" srcOrd="0" destOrd="0" presId="urn:microsoft.com/office/officeart/2005/8/layout/vList5"/>
    <dgm:cxn modelId="{C99A886A-74C7-4B04-AC34-F8FDAB607FB5}" type="presParOf" srcId="{8BE8ED8B-9060-406D-A342-60BACDD08899}" destId="{DED82329-5591-4027-84F2-477BF672E6D9}" srcOrd="1" destOrd="0" presId="urn:microsoft.com/office/officeart/2005/8/layout/vList5"/>
    <dgm:cxn modelId="{B2D8F5FA-BFD1-4125-9C36-00B7BCB33A49}" type="presParOf" srcId="{76E64836-C7E0-4168-A047-659BA21C92DE}" destId="{64AC0B5C-7616-41A2-89E9-A483B11BB4BA}" srcOrd="3" destOrd="0" presId="urn:microsoft.com/office/officeart/2005/8/layout/vList5"/>
    <dgm:cxn modelId="{E81EBC06-3891-4FCF-A086-5F8F38E911A4}" type="presParOf" srcId="{76E64836-C7E0-4168-A047-659BA21C92DE}" destId="{5ADF241E-43ED-4F6C-8FF4-35F649DA54A9}" srcOrd="4" destOrd="0" presId="urn:microsoft.com/office/officeart/2005/8/layout/vList5"/>
    <dgm:cxn modelId="{1E248239-712B-4DC5-8CD4-47D154F0925F}" type="presParOf" srcId="{5ADF241E-43ED-4F6C-8FF4-35F649DA54A9}" destId="{2E9B5796-D68B-4637-88C2-DDE3D58B5611}" srcOrd="0" destOrd="0" presId="urn:microsoft.com/office/officeart/2005/8/layout/vList5"/>
    <dgm:cxn modelId="{1076E17D-8FA4-45F5-98C4-6E88A39AC7A4}" type="presParOf" srcId="{5ADF241E-43ED-4F6C-8FF4-35F649DA54A9}" destId="{EA72D7AA-8A77-4880-A222-3845039A9E31}"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E836396-DF12-44FA-9736-EC5D9ED1AA1E}" type="doc">
      <dgm:prSet loTypeId="urn:microsoft.com/office/officeart/2009/3/layout/OpposingIdeas" loCatId="relationship" qsTypeId="urn:microsoft.com/office/officeart/2005/8/quickstyle/simple1" qsCatId="simple" csTypeId="urn:microsoft.com/office/officeart/2005/8/colors/accent1_2" csCatId="accent1" phldr="1"/>
      <dgm:spPr/>
      <dgm:t>
        <a:bodyPr/>
        <a:lstStyle/>
        <a:p>
          <a:endParaRPr lang="en-US"/>
        </a:p>
      </dgm:t>
    </dgm:pt>
    <dgm:pt modelId="{D0F4AB17-C0B5-4511-9D24-07C6CD86F11A}">
      <dgm:prSet phldrT="[Text]"/>
      <dgm:spPr/>
      <dgm:t>
        <a:bodyPr/>
        <a:lstStyle/>
        <a:p>
          <a:r>
            <a:rPr lang="en-US" dirty="0"/>
            <a:t>Steganography</a:t>
          </a:r>
        </a:p>
      </dgm:t>
    </dgm:pt>
    <dgm:pt modelId="{17550161-7EBC-4039-B169-5C607CC687DE}" type="parTrans" cxnId="{3A303731-AF5F-48B7-9146-A76D567BA26B}">
      <dgm:prSet/>
      <dgm:spPr/>
      <dgm:t>
        <a:bodyPr/>
        <a:lstStyle/>
        <a:p>
          <a:endParaRPr lang="en-US"/>
        </a:p>
      </dgm:t>
    </dgm:pt>
    <dgm:pt modelId="{F0F7EC66-9545-416B-AB56-D666DC7EA420}" type="sibTrans" cxnId="{3A303731-AF5F-48B7-9146-A76D567BA26B}">
      <dgm:prSet/>
      <dgm:spPr/>
      <dgm:t>
        <a:bodyPr/>
        <a:lstStyle/>
        <a:p>
          <a:endParaRPr lang="en-US"/>
        </a:p>
      </dgm:t>
    </dgm:pt>
    <dgm:pt modelId="{6BFE24F0-A96E-4306-ADED-0A144423BD77}">
      <dgm:prSet phldrT="[Text]"/>
      <dgm:spPr/>
      <dgm:t>
        <a:bodyPr/>
        <a:lstStyle/>
        <a:p>
          <a:r>
            <a:rPr lang="en-US" dirty="0">
              <a:solidFill>
                <a:schemeClr val="bg1"/>
              </a:solidFill>
            </a:rPr>
            <a:t>Message hidden</a:t>
          </a:r>
        </a:p>
      </dgm:t>
    </dgm:pt>
    <dgm:pt modelId="{95579B1C-A92E-4B71-B184-D89DB4D937FF}" type="parTrans" cxnId="{E6AA65D9-CFC1-42BC-BF73-6014CC12275F}">
      <dgm:prSet/>
      <dgm:spPr/>
      <dgm:t>
        <a:bodyPr/>
        <a:lstStyle/>
        <a:p>
          <a:endParaRPr lang="en-US"/>
        </a:p>
      </dgm:t>
    </dgm:pt>
    <dgm:pt modelId="{8ACAAD74-A3E9-49D8-AF9C-1B1415BBB33B}" type="sibTrans" cxnId="{E6AA65D9-CFC1-42BC-BF73-6014CC12275F}">
      <dgm:prSet/>
      <dgm:spPr/>
      <dgm:t>
        <a:bodyPr/>
        <a:lstStyle/>
        <a:p>
          <a:endParaRPr lang="en-US"/>
        </a:p>
      </dgm:t>
    </dgm:pt>
    <dgm:pt modelId="{A4A8B732-93B0-4FEC-B1AC-9C8A01A526B2}">
      <dgm:prSet phldrT="[Text]"/>
      <dgm:spPr/>
      <dgm:t>
        <a:bodyPr/>
        <a:lstStyle/>
        <a:p>
          <a:r>
            <a:rPr lang="en-US" dirty="0"/>
            <a:t>Encryption/Cryptography</a:t>
          </a:r>
        </a:p>
      </dgm:t>
    </dgm:pt>
    <dgm:pt modelId="{E2DE3EDC-BF35-49AE-A735-451151B1D237}" type="parTrans" cxnId="{D411CC5D-8DE3-44B3-94E7-EB76437FA063}">
      <dgm:prSet/>
      <dgm:spPr/>
      <dgm:t>
        <a:bodyPr/>
        <a:lstStyle/>
        <a:p>
          <a:endParaRPr lang="en-US"/>
        </a:p>
      </dgm:t>
    </dgm:pt>
    <dgm:pt modelId="{1C8D1E04-376C-4240-9EB2-AF0890A98E6B}" type="sibTrans" cxnId="{D411CC5D-8DE3-44B3-94E7-EB76437FA063}">
      <dgm:prSet/>
      <dgm:spPr/>
      <dgm:t>
        <a:bodyPr/>
        <a:lstStyle/>
        <a:p>
          <a:endParaRPr lang="en-US"/>
        </a:p>
      </dgm:t>
    </dgm:pt>
    <dgm:pt modelId="{997FFC82-347C-4ACB-8991-8F63B8E75026}">
      <dgm:prSet phldrT="[Text]"/>
      <dgm:spPr/>
      <dgm:t>
        <a:bodyPr/>
        <a:lstStyle/>
        <a:p>
          <a:r>
            <a:rPr lang="en-US" dirty="0">
              <a:solidFill>
                <a:schemeClr val="bg1"/>
              </a:solidFill>
            </a:rPr>
            <a:t>Message present but obfuscated</a:t>
          </a:r>
        </a:p>
      </dgm:t>
    </dgm:pt>
    <dgm:pt modelId="{D76ADC4C-9F57-4B65-9A6C-E3B1569805FD}" type="parTrans" cxnId="{F53DD61F-5913-4E2E-8117-2F415980AE71}">
      <dgm:prSet/>
      <dgm:spPr/>
      <dgm:t>
        <a:bodyPr/>
        <a:lstStyle/>
        <a:p>
          <a:endParaRPr lang="en-US"/>
        </a:p>
      </dgm:t>
    </dgm:pt>
    <dgm:pt modelId="{C8EF0BD3-511B-4BBE-986A-4FE148AC5F75}" type="sibTrans" cxnId="{F53DD61F-5913-4E2E-8117-2F415980AE71}">
      <dgm:prSet/>
      <dgm:spPr/>
      <dgm:t>
        <a:bodyPr/>
        <a:lstStyle/>
        <a:p>
          <a:endParaRPr lang="en-US"/>
        </a:p>
      </dgm:t>
    </dgm:pt>
    <dgm:pt modelId="{AE83F3F9-9C96-4F21-B1E5-FC4466DC896F}" type="pres">
      <dgm:prSet presAssocID="{5E836396-DF12-44FA-9736-EC5D9ED1AA1E}" presName="Name0" presStyleCnt="0">
        <dgm:presLayoutVars>
          <dgm:chMax val="2"/>
          <dgm:dir/>
          <dgm:animOne val="branch"/>
          <dgm:animLvl val="lvl"/>
          <dgm:resizeHandles val="exact"/>
        </dgm:presLayoutVars>
      </dgm:prSet>
      <dgm:spPr/>
    </dgm:pt>
    <dgm:pt modelId="{B722165D-954B-4606-9B47-EAB3DFAE0813}" type="pres">
      <dgm:prSet presAssocID="{5E836396-DF12-44FA-9736-EC5D9ED1AA1E}" presName="Background" presStyleLbl="node1" presStyleIdx="0" presStyleCnt="1"/>
      <dgm:spPr/>
    </dgm:pt>
    <dgm:pt modelId="{9F30A34C-5443-466D-9AA6-735DADF15731}" type="pres">
      <dgm:prSet presAssocID="{5E836396-DF12-44FA-9736-EC5D9ED1AA1E}" presName="Divider" presStyleLbl="callout" presStyleIdx="0" presStyleCnt="1"/>
      <dgm:spPr/>
    </dgm:pt>
    <dgm:pt modelId="{C36338E0-77BE-46F6-A52B-79F5BC072668}" type="pres">
      <dgm:prSet presAssocID="{5E836396-DF12-44FA-9736-EC5D9ED1AA1E}" presName="ChildText1" presStyleLbl="revTx" presStyleIdx="0" presStyleCnt="0">
        <dgm:presLayoutVars>
          <dgm:chMax val="0"/>
          <dgm:chPref val="0"/>
          <dgm:bulletEnabled val="1"/>
        </dgm:presLayoutVars>
      </dgm:prSet>
      <dgm:spPr/>
    </dgm:pt>
    <dgm:pt modelId="{D191FD07-B7C5-4415-B43B-0C8822722633}" type="pres">
      <dgm:prSet presAssocID="{5E836396-DF12-44FA-9736-EC5D9ED1AA1E}" presName="ChildText2" presStyleLbl="revTx" presStyleIdx="0" presStyleCnt="0">
        <dgm:presLayoutVars>
          <dgm:chMax val="0"/>
          <dgm:chPref val="0"/>
          <dgm:bulletEnabled val="1"/>
        </dgm:presLayoutVars>
      </dgm:prSet>
      <dgm:spPr/>
    </dgm:pt>
    <dgm:pt modelId="{30F4A696-02D8-46C2-A2A2-9F7AC5CA2682}" type="pres">
      <dgm:prSet presAssocID="{5E836396-DF12-44FA-9736-EC5D9ED1AA1E}" presName="ParentText1" presStyleLbl="revTx" presStyleIdx="0" presStyleCnt="0">
        <dgm:presLayoutVars>
          <dgm:chMax val="1"/>
          <dgm:chPref val="1"/>
        </dgm:presLayoutVars>
      </dgm:prSet>
      <dgm:spPr/>
    </dgm:pt>
    <dgm:pt modelId="{A4328FB0-6C81-4C47-A801-4040D8A98755}" type="pres">
      <dgm:prSet presAssocID="{5E836396-DF12-44FA-9736-EC5D9ED1AA1E}" presName="ParentShape1" presStyleLbl="alignImgPlace1" presStyleIdx="0" presStyleCnt="2">
        <dgm:presLayoutVars/>
      </dgm:prSet>
      <dgm:spPr/>
    </dgm:pt>
    <dgm:pt modelId="{14860DC8-27DE-4B0E-88C5-24602B55ADA6}" type="pres">
      <dgm:prSet presAssocID="{5E836396-DF12-44FA-9736-EC5D9ED1AA1E}" presName="ParentText2" presStyleLbl="revTx" presStyleIdx="0" presStyleCnt="0">
        <dgm:presLayoutVars>
          <dgm:chMax val="1"/>
          <dgm:chPref val="1"/>
        </dgm:presLayoutVars>
      </dgm:prSet>
      <dgm:spPr/>
    </dgm:pt>
    <dgm:pt modelId="{EAAAA7A4-2D04-49D8-8E22-E8BB2D0D92C8}" type="pres">
      <dgm:prSet presAssocID="{5E836396-DF12-44FA-9736-EC5D9ED1AA1E}" presName="ParentShape2" presStyleLbl="alignImgPlace1" presStyleIdx="1" presStyleCnt="2" custScaleY="118171">
        <dgm:presLayoutVars/>
      </dgm:prSet>
      <dgm:spPr/>
    </dgm:pt>
  </dgm:ptLst>
  <dgm:cxnLst>
    <dgm:cxn modelId="{DEA3C21C-9AF6-47B8-ACE3-DC46411DC8B7}" type="presOf" srcId="{5E836396-DF12-44FA-9736-EC5D9ED1AA1E}" destId="{AE83F3F9-9C96-4F21-B1E5-FC4466DC896F}" srcOrd="0" destOrd="0" presId="urn:microsoft.com/office/officeart/2009/3/layout/OpposingIdeas"/>
    <dgm:cxn modelId="{F53DD61F-5913-4E2E-8117-2F415980AE71}" srcId="{A4A8B732-93B0-4FEC-B1AC-9C8A01A526B2}" destId="{997FFC82-347C-4ACB-8991-8F63B8E75026}" srcOrd="0" destOrd="0" parTransId="{D76ADC4C-9F57-4B65-9A6C-E3B1569805FD}" sibTransId="{C8EF0BD3-511B-4BBE-986A-4FE148AC5F75}"/>
    <dgm:cxn modelId="{2A1B5330-E596-4376-B098-9122BE65A1C5}" type="presOf" srcId="{A4A8B732-93B0-4FEC-B1AC-9C8A01A526B2}" destId="{14860DC8-27DE-4B0E-88C5-24602B55ADA6}" srcOrd="0" destOrd="0" presId="urn:microsoft.com/office/officeart/2009/3/layout/OpposingIdeas"/>
    <dgm:cxn modelId="{3A303731-AF5F-48B7-9146-A76D567BA26B}" srcId="{5E836396-DF12-44FA-9736-EC5D9ED1AA1E}" destId="{D0F4AB17-C0B5-4511-9D24-07C6CD86F11A}" srcOrd="0" destOrd="0" parTransId="{17550161-7EBC-4039-B169-5C607CC687DE}" sibTransId="{F0F7EC66-9545-416B-AB56-D666DC7EA420}"/>
    <dgm:cxn modelId="{D411CC5D-8DE3-44B3-94E7-EB76437FA063}" srcId="{5E836396-DF12-44FA-9736-EC5D9ED1AA1E}" destId="{A4A8B732-93B0-4FEC-B1AC-9C8A01A526B2}" srcOrd="1" destOrd="0" parTransId="{E2DE3EDC-BF35-49AE-A735-451151B1D237}" sibTransId="{1C8D1E04-376C-4240-9EB2-AF0890A98E6B}"/>
    <dgm:cxn modelId="{76CEEF6B-A829-407A-8B49-E6E519766F4B}" type="presOf" srcId="{997FFC82-347C-4ACB-8991-8F63B8E75026}" destId="{D191FD07-B7C5-4415-B43B-0C8822722633}" srcOrd="0" destOrd="0" presId="urn:microsoft.com/office/officeart/2009/3/layout/OpposingIdeas"/>
    <dgm:cxn modelId="{931D457B-DA78-4C6B-A0BF-8E430BB3C6D2}" type="presOf" srcId="{D0F4AB17-C0B5-4511-9D24-07C6CD86F11A}" destId="{A4328FB0-6C81-4C47-A801-4040D8A98755}" srcOrd="1" destOrd="0" presId="urn:microsoft.com/office/officeart/2009/3/layout/OpposingIdeas"/>
    <dgm:cxn modelId="{F1903080-E822-466B-A4A1-AF211C1CC1F8}" type="presOf" srcId="{A4A8B732-93B0-4FEC-B1AC-9C8A01A526B2}" destId="{EAAAA7A4-2D04-49D8-8E22-E8BB2D0D92C8}" srcOrd="1" destOrd="0" presId="urn:microsoft.com/office/officeart/2009/3/layout/OpposingIdeas"/>
    <dgm:cxn modelId="{860E0CA7-6DE6-47AA-9CB2-6370742B699C}" type="presOf" srcId="{6BFE24F0-A96E-4306-ADED-0A144423BD77}" destId="{C36338E0-77BE-46F6-A52B-79F5BC072668}" srcOrd="0" destOrd="0" presId="urn:microsoft.com/office/officeart/2009/3/layout/OpposingIdeas"/>
    <dgm:cxn modelId="{4D9811C9-9A37-42CA-B67C-E7169B254DA6}" type="presOf" srcId="{D0F4AB17-C0B5-4511-9D24-07C6CD86F11A}" destId="{30F4A696-02D8-46C2-A2A2-9F7AC5CA2682}" srcOrd="0" destOrd="0" presId="urn:microsoft.com/office/officeart/2009/3/layout/OpposingIdeas"/>
    <dgm:cxn modelId="{E6AA65D9-CFC1-42BC-BF73-6014CC12275F}" srcId="{D0F4AB17-C0B5-4511-9D24-07C6CD86F11A}" destId="{6BFE24F0-A96E-4306-ADED-0A144423BD77}" srcOrd="0" destOrd="0" parTransId="{95579B1C-A92E-4B71-B184-D89DB4D937FF}" sibTransId="{8ACAAD74-A3E9-49D8-AF9C-1B1415BBB33B}"/>
    <dgm:cxn modelId="{A889EF28-F76C-4555-ACF1-CAD824531A8A}" type="presParOf" srcId="{AE83F3F9-9C96-4F21-B1E5-FC4466DC896F}" destId="{B722165D-954B-4606-9B47-EAB3DFAE0813}" srcOrd="0" destOrd="0" presId="urn:microsoft.com/office/officeart/2009/3/layout/OpposingIdeas"/>
    <dgm:cxn modelId="{FA23EB1C-7EFC-43FD-BB0D-999824EE5503}" type="presParOf" srcId="{AE83F3F9-9C96-4F21-B1E5-FC4466DC896F}" destId="{9F30A34C-5443-466D-9AA6-735DADF15731}" srcOrd="1" destOrd="0" presId="urn:microsoft.com/office/officeart/2009/3/layout/OpposingIdeas"/>
    <dgm:cxn modelId="{6781E1F1-AF4B-41F0-A2F2-55A7A5466DA0}" type="presParOf" srcId="{AE83F3F9-9C96-4F21-B1E5-FC4466DC896F}" destId="{C36338E0-77BE-46F6-A52B-79F5BC072668}" srcOrd="2" destOrd="0" presId="urn:microsoft.com/office/officeart/2009/3/layout/OpposingIdeas"/>
    <dgm:cxn modelId="{E3632BB4-104D-4922-82A3-E08A8784A54D}" type="presParOf" srcId="{AE83F3F9-9C96-4F21-B1E5-FC4466DC896F}" destId="{D191FD07-B7C5-4415-B43B-0C8822722633}" srcOrd="3" destOrd="0" presId="urn:microsoft.com/office/officeart/2009/3/layout/OpposingIdeas"/>
    <dgm:cxn modelId="{F1824AD3-FBBC-45E5-9D98-3DF41747C6A8}" type="presParOf" srcId="{AE83F3F9-9C96-4F21-B1E5-FC4466DC896F}" destId="{30F4A696-02D8-46C2-A2A2-9F7AC5CA2682}" srcOrd="4" destOrd="0" presId="urn:microsoft.com/office/officeart/2009/3/layout/OpposingIdeas"/>
    <dgm:cxn modelId="{C4EB2740-EA20-4832-9F08-F6117DAEC067}" type="presParOf" srcId="{AE83F3F9-9C96-4F21-B1E5-FC4466DC896F}" destId="{A4328FB0-6C81-4C47-A801-4040D8A98755}" srcOrd="5" destOrd="0" presId="urn:microsoft.com/office/officeart/2009/3/layout/OpposingIdeas"/>
    <dgm:cxn modelId="{2D36F357-16FA-4821-8730-78B22AA45BC6}" type="presParOf" srcId="{AE83F3F9-9C96-4F21-B1E5-FC4466DC896F}" destId="{14860DC8-27DE-4B0E-88C5-24602B55ADA6}" srcOrd="6" destOrd="0" presId="urn:microsoft.com/office/officeart/2009/3/layout/OpposingIdeas"/>
    <dgm:cxn modelId="{9FE3E648-F979-4B46-975E-7EA17216B74F}" type="presParOf" srcId="{AE83F3F9-9C96-4F21-B1E5-FC4466DC896F}" destId="{EAAAA7A4-2D04-49D8-8E22-E8BB2D0D92C8}" srcOrd="7" destOrd="0" presId="urn:microsoft.com/office/officeart/2009/3/layout/OpposingIdea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E1ED339-8AF6-4743-9F1D-14B0A4AE563A}" type="doc">
      <dgm:prSet loTypeId="urn:microsoft.com/office/officeart/2005/8/layout/vList6" loCatId="list" qsTypeId="urn:microsoft.com/office/officeart/2005/8/quickstyle/simple1" qsCatId="simple" csTypeId="urn:microsoft.com/office/officeart/2005/8/colors/accent1_2" csCatId="accent1" phldr="1"/>
      <dgm:spPr/>
      <dgm:t>
        <a:bodyPr/>
        <a:lstStyle/>
        <a:p>
          <a:endParaRPr lang="en-US"/>
        </a:p>
      </dgm:t>
    </dgm:pt>
    <dgm:pt modelId="{189432D1-0EA1-4A05-A156-E4C8354FE878}">
      <dgm:prSet phldrT="[Text]"/>
      <dgm:spPr/>
      <dgm:t>
        <a:bodyPr/>
        <a:lstStyle/>
        <a:p>
          <a:r>
            <a:rPr lang="en-US" dirty="0"/>
            <a:t>Block cipher</a:t>
          </a:r>
        </a:p>
      </dgm:t>
    </dgm:pt>
    <dgm:pt modelId="{98D02FB7-0CFD-46E4-8085-22B0E104AAC2}" type="parTrans" cxnId="{1C9C47C5-D6E0-4713-84C9-747E85FC5877}">
      <dgm:prSet/>
      <dgm:spPr/>
      <dgm:t>
        <a:bodyPr/>
        <a:lstStyle/>
        <a:p>
          <a:endParaRPr lang="en-US"/>
        </a:p>
      </dgm:t>
    </dgm:pt>
    <dgm:pt modelId="{C66E49FD-6F58-4728-8218-9695EC913F14}" type="sibTrans" cxnId="{1C9C47C5-D6E0-4713-84C9-747E85FC5877}">
      <dgm:prSet/>
      <dgm:spPr/>
      <dgm:t>
        <a:bodyPr/>
        <a:lstStyle/>
        <a:p>
          <a:endParaRPr lang="en-US"/>
        </a:p>
      </dgm:t>
    </dgm:pt>
    <dgm:pt modelId="{93AACD2C-74E4-458E-BCCD-C5DC28089D3B}">
      <dgm:prSet phldrT="[Text]"/>
      <dgm:spPr/>
      <dgm:t>
        <a:bodyPr/>
        <a:lstStyle/>
        <a:p>
          <a:r>
            <a:rPr lang="en-US" dirty="0"/>
            <a:t>Encrypts data in groups of bits, also known as blocks</a:t>
          </a:r>
        </a:p>
      </dgm:t>
    </dgm:pt>
    <dgm:pt modelId="{8D94441D-F02C-4CF4-A6DA-A96D42925F8B}" type="parTrans" cxnId="{C26904E5-2578-402C-80C8-86226540455B}">
      <dgm:prSet/>
      <dgm:spPr/>
      <dgm:t>
        <a:bodyPr/>
        <a:lstStyle/>
        <a:p>
          <a:endParaRPr lang="en-US"/>
        </a:p>
      </dgm:t>
    </dgm:pt>
    <dgm:pt modelId="{9529A431-B484-417B-80E7-87B2CCCD35ED}" type="sibTrans" cxnId="{C26904E5-2578-402C-80C8-86226540455B}">
      <dgm:prSet/>
      <dgm:spPr/>
      <dgm:t>
        <a:bodyPr/>
        <a:lstStyle/>
        <a:p>
          <a:endParaRPr lang="en-US"/>
        </a:p>
      </dgm:t>
    </dgm:pt>
    <dgm:pt modelId="{A855F5EE-7C2F-49DB-90BC-605A687A56D0}">
      <dgm:prSet phldrT="[Text]"/>
      <dgm:spPr/>
      <dgm:t>
        <a:bodyPr/>
        <a:lstStyle/>
        <a:p>
          <a:r>
            <a:rPr lang="en-US" dirty="0"/>
            <a:t>Stream cipher</a:t>
          </a:r>
        </a:p>
      </dgm:t>
    </dgm:pt>
    <dgm:pt modelId="{44A2C668-EF5F-4D12-B349-A7AC73718560}" type="parTrans" cxnId="{53FF85C7-12FA-4BE5-B7CE-F7F830B08CE1}">
      <dgm:prSet/>
      <dgm:spPr/>
      <dgm:t>
        <a:bodyPr/>
        <a:lstStyle/>
        <a:p>
          <a:endParaRPr lang="en-US"/>
        </a:p>
      </dgm:t>
    </dgm:pt>
    <dgm:pt modelId="{D4FA201D-3E09-4512-8F35-3952DB15821D}" type="sibTrans" cxnId="{53FF85C7-12FA-4BE5-B7CE-F7F830B08CE1}">
      <dgm:prSet/>
      <dgm:spPr/>
      <dgm:t>
        <a:bodyPr/>
        <a:lstStyle/>
        <a:p>
          <a:endParaRPr lang="en-US"/>
        </a:p>
      </dgm:t>
    </dgm:pt>
    <dgm:pt modelId="{8541DCBA-F471-4C9D-BA36-3B094BD9B3A3}">
      <dgm:prSet phldrT="[Text]"/>
      <dgm:spPr/>
      <dgm:t>
        <a:bodyPr/>
        <a:lstStyle/>
        <a:p>
          <a:r>
            <a:rPr lang="en-US" dirty="0"/>
            <a:t>Encrypt data as a stream, one bit at a time</a:t>
          </a:r>
        </a:p>
      </dgm:t>
    </dgm:pt>
    <dgm:pt modelId="{F1E9376F-42F8-4820-9EB1-6940CBBCFB45}" type="parTrans" cxnId="{41B12E6B-FE7D-4CE4-8425-F0741ED6AFC9}">
      <dgm:prSet/>
      <dgm:spPr/>
      <dgm:t>
        <a:bodyPr/>
        <a:lstStyle/>
        <a:p>
          <a:endParaRPr lang="en-US"/>
        </a:p>
      </dgm:t>
    </dgm:pt>
    <dgm:pt modelId="{4E7F8DFA-23A4-4CDB-86DE-540120A49EE1}" type="sibTrans" cxnId="{41B12E6B-FE7D-4CE4-8425-F0741ED6AFC9}">
      <dgm:prSet/>
      <dgm:spPr/>
      <dgm:t>
        <a:bodyPr/>
        <a:lstStyle/>
        <a:p>
          <a:endParaRPr lang="en-US"/>
        </a:p>
      </dgm:t>
    </dgm:pt>
    <dgm:pt modelId="{DB855899-8480-4666-9B45-49C8EAA81D0C}" type="pres">
      <dgm:prSet presAssocID="{8E1ED339-8AF6-4743-9F1D-14B0A4AE563A}" presName="Name0" presStyleCnt="0">
        <dgm:presLayoutVars>
          <dgm:dir/>
          <dgm:animLvl val="lvl"/>
          <dgm:resizeHandles/>
        </dgm:presLayoutVars>
      </dgm:prSet>
      <dgm:spPr/>
    </dgm:pt>
    <dgm:pt modelId="{55911768-CFA3-49C3-9180-1CB671B1214D}" type="pres">
      <dgm:prSet presAssocID="{189432D1-0EA1-4A05-A156-E4C8354FE878}" presName="linNode" presStyleCnt="0"/>
      <dgm:spPr/>
    </dgm:pt>
    <dgm:pt modelId="{54E6DEC3-BE23-4206-BAA7-0DCA21F42DE7}" type="pres">
      <dgm:prSet presAssocID="{189432D1-0EA1-4A05-A156-E4C8354FE878}" presName="parentShp" presStyleLbl="node1" presStyleIdx="0" presStyleCnt="2">
        <dgm:presLayoutVars>
          <dgm:bulletEnabled val="1"/>
        </dgm:presLayoutVars>
      </dgm:prSet>
      <dgm:spPr/>
    </dgm:pt>
    <dgm:pt modelId="{DA9B7F45-36CC-4CFC-9CDE-ADBF4D449C4D}" type="pres">
      <dgm:prSet presAssocID="{189432D1-0EA1-4A05-A156-E4C8354FE878}" presName="childShp" presStyleLbl="bgAccFollowNode1" presStyleIdx="0" presStyleCnt="2">
        <dgm:presLayoutVars>
          <dgm:bulletEnabled val="1"/>
        </dgm:presLayoutVars>
      </dgm:prSet>
      <dgm:spPr/>
    </dgm:pt>
    <dgm:pt modelId="{73178584-C086-4254-8D74-84C365D126EC}" type="pres">
      <dgm:prSet presAssocID="{C66E49FD-6F58-4728-8218-9695EC913F14}" presName="spacing" presStyleCnt="0"/>
      <dgm:spPr/>
    </dgm:pt>
    <dgm:pt modelId="{FF39E7E2-27AD-4A50-9A84-F480BBB172FA}" type="pres">
      <dgm:prSet presAssocID="{A855F5EE-7C2F-49DB-90BC-605A687A56D0}" presName="linNode" presStyleCnt="0"/>
      <dgm:spPr/>
    </dgm:pt>
    <dgm:pt modelId="{3210B697-B012-458E-A8BD-7C467B94461F}" type="pres">
      <dgm:prSet presAssocID="{A855F5EE-7C2F-49DB-90BC-605A687A56D0}" presName="parentShp" presStyleLbl="node1" presStyleIdx="1" presStyleCnt="2">
        <dgm:presLayoutVars>
          <dgm:bulletEnabled val="1"/>
        </dgm:presLayoutVars>
      </dgm:prSet>
      <dgm:spPr/>
    </dgm:pt>
    <dgm:pt modelId="{4651EFDB-D8FD-4220-9BC6-BFA585E27F03}" type="pres">
      <dgm:prSet presAssocID="{A855F5EE-7C2F-49DB-90BC-605A687A56D0}" presName="childShp" presStyleLbl="bgAccFollowNode1" presStyleIdx="1" presStyleCnt="2">
        <dgm:presLayoutVars>
          <dgm:bulletEnabled val="1"/>
        </dgm:presLayoutVars>
      </dgm:prSet>
      <dgm:spPr/>
    </dgm:pt>
  </dgm:ptLst>
  <dgm:cxnLst>
    <dgm:cxn modelId="{98CAB61A-203F-447E-BF47-9B8829532731}" type="presOf" srcId="{8541DCBA-F471-4C9D-BA36-3B094BD9B3A3}" destId="{4651EFDB-D8FD-4220-9BC6-BFA585E27F03}" srcOrd="0" destOrd="0" presId="urn:microsoft.com/office/officeart/2005/8/layout/vList6"/>
    <dgm:cxn modelId="{7893E030-1C97-4228-BBCD-1CE87998CEE3}" type="presOf" srcId="{189432D1-0EA1-4A05-A156-E4C8354FE878}" destId="{54E6DEC3-BE23-4206-BAA7-0DCA21F42DE7}" srcOrd="0" destOrd="0" presId="urn:microsoft.com/office/officeart/2005/8/layout/vList6"/>
    <dgm:cxn modelId="{4434F54A-21A4-46D8-9C3A-0042C09D07C0}" type="presOf" srcId="{93AACD2C-74E4-458E-BCCD-C5DC28089D3B}" destId="{DA9B7F45-36CC-4CFC-9CDE-ADBF4D449C4D}" srcOrd="0" destOrd="0" presId="urn:microsoft.com/office/officeart/2005/8/layout/vList6"/>
    <dgm:cxn modelId="{41B12E6B-FE7D-4CE4-8425-F0741ED6AFC9}" srcId="{A855F5EE-7C2F-49DB-90BC-605A687A56D0}" destId="{8541DCBA-F471-4C9D-BA36-3B094BD9B3A3}" srcOrd="0" destOrd="0" parTransId="{F1E9376F-42F8-4820-9EB1-6940CBBCFB45}" sibTransId="{4E7F8DFA-23A4-4CDB-86DE-540120A49EE1}"/>
    <dgm:cxn modelId="{5BDD819E-06F3-4DF0-BB72-1A3229F43070}" type="presOf" srcId="{8E1ED339-8AF6-4743-9F1D-14B0A4AE563A}" destId="{DB855899-8480-4666-9B45-49C8EAA81D0C}" srcOrd="0" destOrd="0" presId="urn:microsoft.com/office/officeart/2005/8/layout/vList6"/>
    <dgm:cxn modelId="{1F4FECC3-E2FA-464A-95F3-EE86A2D35454}" type="presOf" srcId="{A855F5EE-7C2F-49DB-90BC-605A687A56D0}" destId="{3210B697-B012-458E-A8BD-7C467B94461F}" srcOrd="0" destOrd="0" presId="urn:microsoft.com/office/officeart/2005/8/layout/vList6"/>
    <dgm:cxn modelId="{1C9C47C5-D6E0-4713-84C9-747E85FC5877}" srcId="{8E1ED339-8AF6-4743-9F1D-14B0A4AE563A}" destId="{189432D1-0EA1-4A05-A156-E4C8354FE878}" srcOrd="0" destOrd="0" parTransId="{98D02FB7-0CFD-46E4-8085-22B0E104AAC2}" sibTransId="{C66E49FD-6F58-4728-8218-9695EC913F14}"/>
    <dgm:cxn modelId="{53FF85C7-12FA-4BE5-B7CE-F7F830B08CE1}" srcId="{8E1ED339-8AF6-4743-9F1D-14B0A4AE563A}" destId="{A855F5EE-7C2F-49DB-90BC-605A687A56D0}" srcOrd="1" destOrd="0" parTransId="{44A2C668-EF5F-4D12-B349-A7AC73718560}" sibTransId="{D4FA201D-3E09-4512-8F35-3952DB15821D}"/>
    <dgm:cxn modelId="{C26904E5-2578-402C-80C8-86226540455B}" srcId="{189432D1-0EA1-4A05-A156-E4C8354FE878}" destId="{93AACD2C-74E4-458E-BCCD-C5DC28089D3B}" srcOrd="0" destOrd="0" parTransId="{8D94441D-F02C-4CF4-A6DA-A96D42925F8B}" sibTransId="{9529A431-B484-417B-80E7-87B2CCCD35ED}"/>
    <dgm:cxn modelId="{F3E40093-64F6-4C38-832C-0197559DE038}" type="presParOf" srcId="{DB855899-8480-4666-9B45-49C8EAA81D0C}" destId="{55911768-CFA3-49C3-9180-1CB671B1214D}" srcOrd="0" destOrd="0" presId="urn:microsoft.com/office/officeart/2005/8/layout/vList6"/>
    <dgm:cxn modelId="{2AF969C1-8CD7-4F6C-961B-22B9502E53CB}" type="presParOf" srcId="{55911768-CFA3-49C3-9180-1CB671B1214D}" destId="{54E6DEC3-BE23-4206-BAA7-0DCA21F42DE7}" srcOrd="0" destOrd="0" presId="urn:microsoft.com/office/officeart/2005/8/layout/vList6"/>
    <dgm:cxn modelId="{09CACA8C-7B73-4942-ADAC-FA83F260F3AC}" type="presParOf" srcId="{55911768-CFA3-49C3-9180-1CB671B1214D}" destId="{DA9B7F45-36CC-4CFC-9CDE-ADBF4D449C4D}" srcOrd="1" destOrd="0" presId="urn:microsoft.com/office/officeart/2005/8/layout/vList6"/>
    <dgm:cxn modelId="{E6A136D5-2764-4023-96A1-198CAA856C34}" type="presParOf" srcId="{DB855899-8480-4666-9B45-49C8EAA81D0C}" destId="{73178584-C086-4254-8D74-84C365D126EC}" srcOrd="1" destOrd="0" presId="urn:microsoft.com/office/officeart/2005/8/layout/vList6"/>
    <dgm:cxn modelId="{CC818760-F748-4804-B630-9E14F3058C9C}" type="presParOf" srcId="{DB855899-8480-4666-9B45-49C8EAA81D0C}" destId="{FF39E7E2-27AD-4A50-9A84-F480BBB172FA}" srcOrd="2" destOrd="0" presId="urn:microsoft.com/office/officeart/2005/8/layout/vList6"/>
    <dgm:cxn modelId="{8ED57DE8-49CA-4E05-BE5E-CD78DD2CFF03}" type="presParOf" srcId="{FF39E7E2-27AD-4A50-9A84-F480BBB172FA}" destId="{3210B697-B012-458E-A8BD-7C467B94461F}" srcOrd="0" destOrd="0" presId="urn:microsoft.com/office/officeart/2005/8/layout/vList6"/>
    <dgm:cxn modelId="{4EE4A450-65E3-4B28-8610-B152F6BB9606}" type="presParOf" srcId="{FF39E7E2-27AD-4A50-9A84-F480BBB172FA}" destId="{4651EFDB-D8FD-4220-9BC6-BFA585E27F03}" srcOrd="1" destOrd="0" presId="urn:microsoft.com/office/officeart/2005/8/layout/v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FD5F8C1-A327-4E8A-AE7E-C6D3A852E296}" type="doc">
      <dgm:prSet loTypeId="urn:microsoft.com/office/officeart/2005/8/layout/StepDownProcess" loCatId="process" qsTypeId="urn:microsoft.com/office/officeart/2005/8/quickstyle/simple1" qsCatId="simple" csTypeId="urn:microsoft.com/office/officeart/2005/8/colors/accent1_2" csCatId="accent1" phldr="1"/>
      <dgm:spPr/>
      <dgm:t>
        <a:bodyPr/>
        <a:lstStyle/>
        <a:p>
          <a:endParaRPr lang="en-US"/>
        </a:p>
      </dgm:t>
    </dgm:pt>
    <dgm:pt modelId="{56476D5B-E261-44D3-B22A-A11BB6F7FF19}">
      <dgm:prSet phldrT="[Text]"/>
      <dgm:spPr/>
      <dgm:t>
        <a:bodyPr/>
        <a:lstStyle/>
        <a:p>
          <a:r>
            <a:rPr lang="en-US" dirty="0"/>
            <a:t>Key expansion</a:t>
          </a:r>
        </a:p>
      </dgm:t>
    </dgm:pt>
    <dgm:pt modelId="{B32C2140-29FE-411E-AA5D-481C5D3D09FE}" type="parTrans" cxnId="{08F4B0AD-3B0E-413F-86F2-425C1BBCFB1E}">
      <dgm:prSet/>
      <dgm:spPr/>
      <dgm:t>
        <a:bodyPr/>
        <a:lstStyle/>
        <a:p>
          <a:endParaRPr lang="en-US"/>
        </a:p>
      </dgm:t>
    </dgm:pt>
    <dgm:pt modelId="{3CB84481-10A6-4268-B8B7-32FF6F8A480C}" type="sibTrans" cxnId="{08F4B0AD-3B0E-413F-86F2-425C1BBCFB1E}">
      <dgm:prSet/>
      <dgm:spPr/>
      <dgm:t>
        <a:bodyPr/>
        <a:lstStyle/>
        <a:p>
          <a:endParaRPr lang="en-US"/>
        </a:p>
      </dgm:t>
    </dgm:pt>
    <dgm:pt modelId="{5DDD5902-7BFB-40ED-8E34-EE61A34E7DB7}">
      <dgm:prSet phldrT="[Text]"/>
      <dgm:spPr/>
      <dgm:t>
        <a:bodyPr/>
        <a:lstStyle/>
        <a:p>
          <a:r>
            <a:rPr lang="en-US" dirty="0"/>
            <a:t>Initial round</a:t>
          </a:r>
        </a:p>
      </dgm:t>
    </dgm:pt>
    <dgm:pt modelId="{14AB0434-86D2-4426-BDEE-D425DD969D5E}" type="parTrans" cxnId="{9F36579E-E077-422A-93C0-C26E4523B5BC}">
      <dgm:prSet/>
      <dgm:spPr/>
      <dgm:t>
        <a:bodyPr/>
        <a:lstStyle/>
        <a:p>
          <a:endParaRPr lang="en-US"/>
        </a:p>
      </dgm:t>
    </dgm:pt>
    <dgm:pt modelId="{4A068A05-7868-4809-960E-5CDC2AD30494}" type="sibTrans" cxnId="{9F36579E-E077-422A-93C0-C26E4523B5BC}">
      <dgm:prSet/>
      <dgm:spPr/>
      <dgm:t>
        <a:bodyPr/>
        <a:lstStyle/>
        <a:p>
          <a:endParaRPr lang="en-US"/>
        </a:p>
      </dgm:t>
    </dgm:pt>
    <dgm:pt modelId="{AFE9C239-C11E-4AF7-B8A2-236E8E9C2EF6}">
      <dgm:prSet phldrT="[Text]" custT="1"/>
      <dgm:spPr/>
      <dgm:t>
        <a:bodyPr/>
        <a:lstStyle/>
        <a:p>
          <a:r>
            <a:rPr lang="en-US" sz="1800" dirty="0"/>
            <a:t>AddRoundKey</a:t>
          </a:r>
        </a:p>
      </dgm:t>
    </dgm:pt>
    <dgm:pt modelId="{9BBC27FD-5FB4-4A04-8EF1-B5BB5794F42E}" type="parTrans" cxnId="{672D0359-0C62-47C1-8E15-B68648B14BD4}">
      <dgm:prSet/>
      <dgm:spPr/>
      <dgm:t>
        <a:bodyPr/>
        <a:lstStyle/>
        <a:p>
          <a:endParaRPr lang="en-US"/>
        </a:p>
      </dgm:t>
    </dgm:pt>
    <dgm:pt modelId="{5E0CEEA8-29B8-4C18-9B4D-074ED46FE90C}" type="sibTrans" cxnId="{672D0359-0C62-47C1-8E15-B68648B14BD4}">
      <dgm:prSet/>
      <dgm:spPr/>
      <dgm:t>
        <a:bodyPr/>
        <a:lstStyle/>
        <a:p>
          <a:endParaRPr lang="en-US"/>
        </a:p>
      </dgm:t>
    </dgm:pt>
    <dgm:pt modelId="{E524F6AD-19CC-40B2-9D23-97C02C18160F}">
      <dgm:prSet phldrT="[Text]"/>
      <dgm:spPr/>
      <dgm:t>
        <a:bodyPr/>
        <a:lstStyle/>
        <a:p>
          <a:r>
            <a:rPr lang="en-US" dirty="0"/>
            <a:t>Rounds</a:t>
          </a:r>
        </a:p>
      </dgm:t>
    </dgm:pt>
    <dgm:pt modelId="{60186AD0-769F-4DEC-BEE1-CE63211F34CF}" type="parTrans" cxnId="{844772C1-F31D-435F-B73E-1F75A5693E1B}">
      <dgm:prSet/>
      <dgm:spPr/>
      <dgm:t>
        <a:bodyPr/>
        <a:lstStyle/>
        <a:p>
          <a:endParaRPr lang="en-US"/>
        </a:p>
      </dgm:t>
    </dgm:pt>
    <dgm:pt modelId="{70BEF9C9-DB28-4548-8C96-B2FDCF032094}" type="sibTrans" cxnId="{844772C1-F31D-435F-B73E-1F75A5693E1B}">
      <dgm:prSet/>
      <dgm:spPr/>
      <dgm:t>
        <a:bodyPr/>
        <a:lstStyle/>
        <a:p>
          <a:endParaRPr lang="en-US"/>
        </a:p>
      </dgm:t>
    </dgm:pt>
    <dgm:pt modelId="{6050593E-8A2A-4703-8431-0A87EF11DBE4}">
      <dgm:prSet phldrT="[Text]" custT="1"/>
      <dgm:spPr/>
      <dgm:t>
        <a:bodyPr/>
        <a:lstStyle/>
        <a:p>
          <a:r>
            <a:rPr lang="en-US" sz="1800" dirty="0"/>
            <a:t>SubBytes</a:t>
          </a:r>
        </a:p>
      </dgm:t>
    </dgm:pt>
    <dgm:pt modelId="{3E83EC29-B639-45C9-9194-0F941E553FB6}" type="parTrans" cxnId="{73E4BF6A-82CF-4723-8456-603B40B2A713}">
      <dgm:prSet/>
      <dgm:spPr/>
      <dgm:t>
        <a:bodyPr/>
        <a:lstStyle/>
        <a:p>
          <a:endParaRPr lang="en-US"/>
        </a:p>
      </dgm:t>
    </dgm:pt>
    <dgm:pt modelId="{7B08A58D-A8AF-437F-8478-6496B401B547}" type="sibTrans" cxnId="{73E4BF6A-82CF-4723-8456-603B40B2A713}">
      <dgm:prSet/>
      <dgm:spPr/>
      <dgm:t>
        <a:bodyPr/>
        <a:lstStyle/>
        <a:p>
          <a:endParaRPr lang="en-US"/>
        </a:p>
      </dgm:t>
    </dgm:pt>
    <dgm:pt modelId="{ED7BC307-4B9E-4F5D-977A-FA82C2B2ADE5}">
      <dgm:prSet/>
      <dgm:spPr/>
      <dgm:t>
        <a:bodyPr/>
        <a:lstStyle/>
        <a:p>
          <a:r>
            <a:rPr lang="en-US" dirty="0"/>
            <a:t>Final round</a:t>
          </a:r>
        </a:p>
      </dgm:t>
    </dgm:pt>
    <dgm:pt modelId="{389E0BF0-E921-45F0-9467-59BD4E4EBE9C}" type="parTrans" cxnId="{8B374D2A-5AF7-41CB-8C73-62D501761953}">
      <dgm:prSet/>
      <dgm:spPr/>
      <dgm:t>
        <a:bodyPr/>
        <a:lstStyle/>
        <a:p>
          <a:endParaRPr lang="en-US"/>
        </a:p>
      </dgm:t>
    </dgm:pt>
    <dgm:pt modelId="{6AA53D79-C662-4132-BFC3-60F53136B0F1}" type="sibTrans" cxnId="{8B374D2A-5AF7-41CB-8C73-62D501761953}">
      <dgm:prSet/>
      <dgm:spPr/>
      <dgm:t>
        <a:bodyPr/>
        <a:lstStyle/>
        <a:p>
          <a:endParaRPr lang="en-US"/>
        </a:p>
      </dgm:t>
    </dgm:pt>
    <dgm:pt modelId="{00877933-B406-47BB-8BC8-E7EB8E49DFF9}">
      <dgm:prSet/>
      <dgm:spPr/>
      <dgm:t>
        <a:bodyPr/>
        <a:lstStyle/>
        <a:p>
          <a:r>
            <a:rPr lang="en-US" dirty="0"/>
            <a:t>SubBytes</a:t>
          </a:r>
        </a:p>
      </dgm:t>
    </dgm:pt>
    <dgm:pt modelId="{82C1FD73-32FC-4148-B15D-B82DD76603BE}" type="parTrans" cxnId="{BA071ADC-99AA-43C2-8EF0-AD1C7D1D12B8}">
      <dgm:prSet/>
      <dgm:spPr/>
      <dgm:t>
        <a:bodyPr/>
        <a:lstStyle/>
        <a:p>
          <a:endParaRPr lang="en-US"/>
        </a:p>
      </dgm:t>
    </dgm:pt>
    <dgm:pt modelId="{A6E4CCD9-D1A6-4C78-B527-CB56D96B0912}" type="sibTrans" cxnId="{BA071ADC-99AA-43C2-8EF0-AD1C7D1D12B8}">
      <dgm:prSet/>
      <dgm:spPr/>
      <dgm:t>
        <a:bodyPr/>
        <a:lstStyle/>
        <a:p>
          <a:endParaRPr lang="en-US"/>
        </a:p>
      </dgm:t>
    </dgm:pt>
    <dgm:pt modelId="{3C039C40-5919-4D7A-9814-0FF308AA194A}">
      <dgm:prSet phldrT="[Text]" custT="1"/>
      <dgm:spPr/>
      <dgm:t>
        <a:bodyPr/>
        <a:lstStyle/>
        <a:p>
          <a:r>
            <a:rPr lang="en-US" sz="1800" dirty="0"/>
            <a:t>ShiftRows</a:t>
          </a:r>
        </a:p>
      </dgm:t>
    </dgm:pt>
    <dgm:pt modelId="{EE88885E-93D2-4BB5-8C59-EFF0F7AB5333}" type="parTrans" cxnId="{E6899ABA-21FF-4DD3-9C65-362F630C816C}">
      <dgm:prSet/>
      <dgm:spPr/>
      <dgm:t>
        <a:bodyPr/>
        <a:lstStyle/>
        <a:p>
          <a:endParaRPr lang="en-US"/>
        </a:p>
      </dgm:t>
    </dgm:pt>
    <dgm:pt modelId="{9F1A42DF-65DF-4CDF-9A53-CDDBAE7D9A53}" type="sibTrans" cxnId="{E6899ABA-21FF-4DD3-9C65-362F630C816C}">
      <dgm:prSet/>
      <dgm:spPr/>
      <dgm:t>
        <a:bodyPr/>
        <a:lstStyle/>
        <a:p>
          <a:endParaRPr lang="en-US"/>
        </a:p>
      </dgm:t>
    </dgm:pt>
    <dgm:pt modelId="{66D99341-9126-4A83-8550-D058EFE4DF80}">
      <dgm:prSet phldrT="[Text]" custT="1"/>
      <dgm:spPr/>
      <dgm:t>
        <a:bodyPr/>
        <a:lstStyle/>
        <a:p>
          <a:r>
            <a:rPr lang="en-US" sz="1800" dirty="0"/>
            <a:t>MixColumns</a:t>
          </a:r>
        </a:p>
      </dgm:t>
    </dgm:pt>
    <dgm:pt modelId="{6C40BDF3-2865-4B35-A611-D95A0A00AFDD}" type="parTrans" cxnId="{6513E0A6-76DE-499A-877A-C7350DA4A196}">
      <dgm:prSet/>
      <dgm:spPr/>
      <dgm:t>
        <a:bodyPr/>
        <a:lstStyle/>
        <a:p>
          <a:endParaRPr lang="en-US"/>
        </a:p>
      </dgm:t>
    </dgm:pt>
    <dgm:pt modelId="{42CC8B1E-5AAA-4812-BCCA-2EC86AE897B8}" type="sibTrans" cxnId="{6513E0A6-76DE-499A-877A-C7350DA4A196}">
      <dgm:prSet/>
      <dgm:spPr/>
      <dgm:t>
        <a:bodyPr/>
        <a:lstStyle/>
        <a:p>
          <a:endParaRPr lang="en-US"/>
        </a:p>
      </dgm:t>
    </dgm:pt>
    <dgm:pt modelId="{C17135C1-2AFB-4F4D-8ADD-3ACCE1F0CAB4}">
      <dgm:prSet phldrT="[Text]" custT="1"/>
      <dgm:spPr/>
      <dgm:t>
        <a:bodyPr/>
        <a:lstStyle/>
        <a:p>
          <a:r>
            <a:rPr lang="en-US" sz="1800" dirty="0"/>
            <a:t>AddRoundKey</a:t>
          </a:r>
        </a:p>
      </dgm:t>
    </dgm:pt>
    <dgm:pt modelId="{CA458791-E9B9-4AFB-AF7D-52F2126C8CAE}" type="parTrans" cxnId="{3B77706E-8B05-4F51-8937-6D813A51F57A}">
      <dgm:prSet/>
      <dgm:spPr/>
      <dgm:t>
        <a:bodyPr/>
        <a:lstStyle/>
        <a:p>
          <a:endParaRPr lang="en-US"/>
        </a:p>
      </dgm:t>
    </dgm:pt>
    <dgm:pt modelId="{4819C93A-A651-4DB1-A165-87EA53A48DB3}" type="sibTrans" cxnId="{3B77706E-8B05-4F51-8937-6D813A51F57A}">
      <dgm:prSet/>
      <dgm:spPr/>
      <dgm:t>
        <a:bodyPr/>
        <a:lstStyle/>
        <a:p>
          <a:endParaRPr lang="en-US"/>
        </a:p>
      </dgm:t>
    </dgm:pt>
    <dgm:pt modelId="{C4618ACD-24C1-480D-ABF1-74B8354F6A24}">
      <dgm:prSet/>
      <dgm:spPr/>
      <dgm:t>
        <a:bodyPr/>
        <a:lstStyle/>
        <a:p>
          <a:r>
            <a:rPr lang="en-US" dirty="0"/>
            <a:t>ShiftRows</a:t>
          </a:r>
        </a:p>
      </dgm:t>
    </dgm:pt>
    <dgm:pt modelId="{6A4F3066-8728-4571-A9D6-AD2AB276AC7D}" type="parTrans" cxnId="{1A071272-D189-4410-BD02-988F134B4505}">
      <dgm:prSet/>
      <dgm:spPr/>
      <dgm:t>
        <a:bodyPr/>
        <a:lstStyle/>
        <a:p>
          <a:endParaRPr lang="en-US"/>
        </a:p>
      </dgm:t>
    </dgm:pt>
    <dgm:pt modelId="{73911F0D-5AB2-4A6B-9346-E74DAB047306}" type="sibTrans" cxnId="{1A071272-D189-4410-BD02-988F134B4505}">
      <dgm:prSet/>
      <dgm:spPr/>
      <dgm:t>
        <a:bodyPr/>
        <a:lstStyle/>
        <a:p>
          <a:endParaRPr lang="en-US"/>
        </a:p>
      </dgm:t>
    </dgm:pt>
    <dgm:pt modelId="{C7C8995C-E2F1-4FFA-91C3-119745B53B35}">
      <dgm:prSet/>
      <dgm:spPr/>
      <dgm:t>
        <a:bodyPr/>
        <a:lstStyle/>
        <a:p>
          <a:r>
            <a:rPr lang="en-US" dirty="0"/>
            <a:t>AddRoundKey</a:t>
          </a:r>
        </a:p>
      </dgm:t>
    </dgm:pt>
    <dgm:pt modelId="{43EC5907-FCAD-4EA8-9A02-D88545A8520F}" type="parTrans" cxnId="{630096FD-E5E2-42A6-8CFE-682EC253EE27}">
      <dgm:prSet/>
      <dgm:spPr/>
      <dgm:t>
        <a:bodyPr/>
        <a:lstStyle/>
        <a:p>
          <a:endParaRPr lang="en-US"/>
        </a:p>
      </dgm:t>
    </dgm:pt>
    <dgm:pt modelId="{B3DA4A97-0558-4220-BF50-9A1B01C63C7C}" type="sibTrans" cxnId="{630096FD-E5E2-42A6-8CFE-682EC253EE27}">
      <dgm:prSet/>
      <dgm:spPr/>
      <dgm:t>
        <a:bodyPr/>
        <a:lstStyle/>
        <a:p>
          <a:endParaRPr lang="en-US"/>
        </a:p>
      </dgm:t>
    </dgm:pt>
    <dgm:pt modelId="{11774E1F-6036-4493-A2F6-454C65E732ED}" type="pres">
      <dgm:prSet presAssocID="{CFD5F8C1-A327-4E8A-AE7E-C6D3A852E296}" presName="rootnode" presStyleCnt="0">
        <dgm:presLayoutVars>
          <dgm:chMax/>
          <dgm:chPref/>
          <dgm:dir/>
          <dgm:animLvl val="lvl"/>
        </dgm:presLayoutVars>
      </dgm:prSet>
      <dgm:spPr/>
    </dgm:pt>
    <dgm:pt modelId="{450FB908-BEA8-4C3E-8CDA-C21B80680583}" type="pres">
      <dgm:prSet presAssocID="{56476D5B-E261-44D3-B22A-A11BB6F7FF19}" presName="composite" presStyleCnt="0"/>
      <dgm:spPr/>
    </dgm:pt>
    <dgm:pt modelId="{519F944F-C4BB-4738-B511-4A606F4C73A2}" type="pres">
      <dgm:prSet presAssocID="{56476D5B-E261-44D3-B22A-A11BB6F7FF19}" presName="bentUpArrow1" presStyleLbl="alignImgPlace1" presStyleIdx="0" presStyleCnt="3"/>
      <dgm:spPr/>
    </dgm:pt>
    <dgm:pt modelId="{A95DBED6-996F-4771-B887-1DDEA1BBFD99}" type="pres">
      <dgm:prSet presAssocID="{56476D5B-E261-44D3-B22A-A11BB6F7FF19}" presName="ParentText" presStyleLbl="node1" presStyleIdx="0" presStyleCnt="4">
        <dgm:presLayoutVars>
          <dgm:chMax val="1"/>
          <dgm:chPref val="1"/>
          <dgm:bulletEnabled val="1"/>
        </dgm:presLayoutVars>
      </dgm:prSet>
      <dgm:spPr/>
    </dgm:pt>
    <dgm:pt modelId="{5DC89722-AD22-4B45-A089-C51FB4E56888}" type="pres">
      <dgm:prSet presAssocID="{56476D5B-E261-44D3-B22A-A11BB6F7FF19}" presName="ChildText" presStyleLbl="revTx" presStyleIdx="0" presStyleCnt="4">
        <dgm:presLayoutVars>
          <dgm:chMax val="0"/>
          <dgm:chPref val="0"/>
          <dgm:bulletEnabled val="1"/>
        </dgm:presLayoutVars>
      </dgm:prSet>
      <dgm:spPr/>
    </dgm:pt>
    <dgm:pt modelId="{AF2FC6C8-E568-493B-9494-6B2F2A11B032}" type="pres">
      <dgm:prSet presAssocID="{3CB84481-10A6-4268-B8B7-32FF6F8A480C}" presName="sibTrans" presStyleCnt="0"/>
      <dgm:spPr/>
    </dgm:pt>
    <dgm:pt modelId="{9A1EC861-6305-4CA3-9A99-D1877AF3BF23}" type="pres">
      <dgm:prSet presAssocID="{5DDD5902-7BFB-40ED-8E34-EE61A34E7DB7}" presName="composite" presStyleCnt="0"/>
      <dgm:spPr/>
    </dgm:pt>
    <dgm:pt modelId="{825E753B-CF89-415A-B121-C9C8621709C2}" type="pres">
      <dgm:prSet presAssocID="{5DDD5902-7BFB-40ED-8E34-EE61A34E7DB7}" presName="bentUpArrow1" presStyleLbl="alignImgPlace1" presStyleIdx="1" presStyleCnt="3"/>
      <dgm:spPr/>
    </dgm:pt>
    <dgm:pt modelId="{7DCC8571-6B43-4B84-9D38-FF80E74C4A9C}" type="pres">
      <dgm:prSet presAssocID="{5DDD5902-7BFB-40ED-8E34-EE61A34E7DB7}" presName="ParentText" presStyleLbl="node1" presStyleIdx="1" presStyleCnt="4">
        <dgm:presLayoutVars>
          <dgm:chMax val="1"/>
          <dgm:chPref val="1"/>
          <dgm:bulletEnabled val="1"/>
        </dgm:presLayoutVars>
      </dgm:prSet>
      <dgm:spPr/>
    </dgm:pt>
    <dgm:pt modelId="{7A529C24-6C15-4AE1-BBC3-8850AED1B329}" type="pres">
      <dgm:prSet presAssocID="{5DDD5902-7BFB-40ED-8E34-EE61A34E7DB7}" presName="ChildText" presStyleLbl="revTx" presStyleIdx="1" presStyleCnt="4" custScaleX="259910" custLinFactNeighborX="80987" custLinFactNeighborY="-4662">
        <dgm:presLayoutVars>
          <dgm:chMax val="0"/>
          <dgm:chPref val="0"/>
          <dgm:bulletEnabled val="1"/>
        </dgm:presLayoutVars>
      </dgm:prSet>
      <dgm:spPr/>
    </dgm:pt>
    <dgm:pt modelId="{A1069E35-F222-41A0-84FA-757F927479AD}" type="pres">
      <dgm:prSet presAssocID="{4A068A05-7868-4809-960E-5CDC2AD30494}" presName="sibTrans" presStyleCnt="0"/>
      <dgm:spPr/>
    </dgm:pt>
    <dgm:pt modelId="{3D6728D3-0E59-46C5-B138-FB3015DF094C}" type="pres">
      <dgm:prSet presAssocID="{E524F6AD-19CC-40B2-9D23-97C02C18160F}" presName="composite" presStyleCnt="0"/>
      <dgm:spPr/>
    </dgm:pt>
    <dgm:pt modelId="{8A2046CE-8A0A-4267-BC69-BD8BAA2AC7E2}" type="pres">
      <dgm:prSet presAssocID="{E524F6AD-19CC-40B2-9D23-97C02C18160F}" presName="bentUpArrow1" presStyleLbl="alignImgPlace1" presStyleIdx="2" presStyleCnt="3"/>
      <dgm:spPr/>
    </dgm:pt>
    <dgm:pt modelId="{412DEE7B-4E26-47D9-A947-E8097DD8ECA7}" type="pres">
      <dgm:prSet presAssocID="{E524F6AD-19CC-40B2-9D23-97C02C18160F}" presName="ParentText" presStyleLbl="node1" presStyleIdx="2" presStyleCnt="4">
        <dgm:presLayoutVars>
          <dgm:chMax val="1"/>
          <dgm:chPref val="1"/>
          <dgm:bulletEnabled val="1"/>
        </dgm:presLayoutVars>
      </dgm:prSet>
      <dgm:spPr/>
    </dgm:pt>
    <dgm:pt modelId="{270315DF-FF62-40C0-82D1-91D16EFD88BD}" type="pres">
      <dgm:prSet presAssocID="{E524F6AD-19CC-40B2-9D23-97C02C18160F}" presName="ChildText" presStyleLbl="revTx" presStyleIdx="2" presStyleCnt="4" custScaleX="247082" custLinFactNeighborX="72528" custLinFactNeighborY="-4662">
        <dgm:presLayoutVars>
          <dgm:chMax val="0"/>
          <dgm:chPref val="0"/>
          <dgm:bulletEnabled val="1"/>
        </dgm:presLayoutVars>
      </dgm:prSet>
      <dgm:spPr/>
    </dgm:pt>
    <dgm:pt modelId="{D7D634D8-1310-4CC0-8AB4-F4E77F799D48}" type="pres">
      <dgm:prSet presAssocID="{70BEF9C9-DB28-4548-8C96-B2FDCF032094}" presName="sibTrans" presStyleCnt="0"/>
      <dgm:spPr/>
    </dgm:pt>
    <dgm:pt modelId="{CBE358CE-80AA-492A-B332-2FBE453B1736}" type="pres">
      <dgm:prSet presAssocID="{ED7BC307-4B9E-4F5D-977A-FA82C2B2ADE5}" presName="composite" presStyleCnt="0"/>
      <dgm:spPr/>
    </dgm:pt>
    <dgm:pt modelId="{F50C0DB1-AC5D-4BAC-A77B-5FFAD60F54B6}" type="pres">
      <dgm:prSet presAssocID="{ED7BC307-4B9E-4F5D-977A-FA82C2B2ADE5}" presName="ParentText" presStyleLbl="node1" presStyleIdx="3" presStyleCnt="4">
        <dgm:presLayoutVars>
          <dgm:chMax val="1"/>
          <dgm:chPref val="1"/>
          <dgm:bulletEnabled val="1"/>
        </dgm:presLayoutVars>
      </dgm:prSet>
      <dgm:spPr/>
    </dgm:pt>
    <dgm:pt modelId="{C32865CC-2FC1-4AB4-94BB-99D4A1D71632}" type="pres">
      <dgm:prSet presAssocID="{ED7BC307-4B9E-4F5D-977A-FA82C2B2ADE5}" presName="FinalChildText" presStyleLbl="revTx" presStyleIdx="3" presStyleCnt="4" custScaleX="161714" custScaleY="115350" custLinFactNeighborX="36270">
        <dgm:presLayoutVars>
          <dgm:chMax val="0"/>
          <dgm:chPref val="0"/>
          <dgm:bulletEnabled val="1"/>
        </dgm:presLayoutVars>
      </dgm:prSet>
      <dgm:spPr/>
    </dgm:pt>
  </dgm:ptLst>
  <dgm:cxnLst>
    <dgm:cxn modelId="{9F38B905-BDB4-4C15-A933-4EC73C6E39BA}" type="presOf" srcId="{56476D5B-E261-44D3-B22A-A11BB6F7FF19}" destId="{A95DBED6-996F-4771-B887-1DDEA1BBFD99}" srcOrd="0" destOrd="0" presId="urn:microsoft.com/office/officeart/2005/8/layout/StepDownProcess"/>
    <dgm:cxn modelId="{64C8AD0C-4647-4AF4-9D41-9B288C3F6830}" type="presOf" srcId="{CFD5F8C1-A327-4E8A-AE7E-C6D3A852E296}" destId="{11774E1F-6036-4493-A2F6-454C65E732ED}" srcOrd="0" destOrd="0" presId="urn:microsoft.com/office/officeart/2005/8/layout/StepDownProcess"/>
    <dgm:cxn modelId="{608DD51F-483F-4C44-87AC-0EC2C79E1452}" type="presOf" srcId="{AFE9C239-C11E-4AF7-B8A2-236E8E9C2EF6}" destId="{7A529C24-6C15-4AE1-BBC3-8850AED1B329}" srcOrd="0" destOrd="0" presId="urn:microsoft.com/office/officeart/2005/8/layout/StepDownProcess"/>
    <dgm:cxn modelId="{8B374D2A-5AF7-41CB-8C73-62D501761953}" srcId="{CFD5F8C1-A327-4E8A-AE7E-C6D3A852E296}" destId="{ED7BC307-4B9E-4F5D-977A-FA82C2B2ADE5}" srcOrd="3" destOrd="0" parTransId="{389E0BF0-E921-45F0-9467-59BD4E4EBE9C}" sibTransId="{6AA53D79-C662-4132-BFC3-60F53136B0F1}"/>
    <dgm:cxn modelId="{BACB502A-586A-4971-99E7-1B0A2CB53FBF}" type="presOf" srcId="{C7C8995C-E2F1-4FFA-91C3-119745B53B35}" destId="{C32865CC-2FC1-4AB4-94BB-99D4A1D71632}" srcOrd="0" destOrd="2" presId="urn:microsoft.com/office/officeart/2005/8/layout/StepDownProcess"/>
    <dgm:cxn modelId="{7B300941-078E-480A-8C0D-DD54587B3CAB}" type="presOf" srcId="{C17135C1-2AFB-4F4D-8ADD-3ACCE1F0CAB4}" destId="{270315DF-FF62-40C0-82D1-91D16EFD88BD}" srcOrd="0" destOrd="3" presId="urn:microsoft.com/office/officeart/2005/8/layout/StepDownProcess"/>
    <dgm:cxn modelId="{B7E2CB49-4AF8-4A1F-A341-7747FF64FEE6}" type="presOf" srcId="{E524F6AD-19CC-40B2-9D23-97C02C18160F}" destId="{412DEE7B-4E26-47D9-A947-E8097DD8ECA7}" srcOrd="0" destOrd="0" presId="urn:microsoft.com/office/officeart/2005/8/layout/StepDownProcess"/>
    <dgm:cxn modelId="{73E4BF6A-82CF-4723-8456-603B40B2A713}" srcId="{E524F6AD-19CC-40B2-9D23-97C02C18160F}" destId="{6050593E-8A2A-4703-8431-0A87EF11DBE4}" srcOrd="0" destOrd="0" parTransId="{3E83EC29-B639-45C9-9194-0F941E553FB6}" sibTransId="{7B08A58D-A8AF-437F-8478-6496B401B547}"/>
    <dgm:cxn modelId="{76D7874C-09C0-4634-B4B6-AC57E6749F68}" type="presOf" srcId="{00877933-B406-47BB-8BC8-E7EB8E49DFF9}" destId="{C32865CC-2FC1-4AB4-94BB-99D4A1D71632}" srcOrd="0" destOrd="0" presId="urn:microsoft.com/office/officeart/2005/8/layout/StepDownProcess"/>
    <dgm:cxn modelId="{3B77706E-8B05-4F51-8937-6D813A51F57A}" srcId="{E524F6AD-19CC-40B2-9D23-97C02C18160F}" destId="{C17135C1-2AFB-4F4D-8ADD-3ACCE1F0CAB4}" srcOrd="3" destOrd="0" parTransId="{CA458791-E9B9-4AFB-AF7D-52F2126C8CAE}" sibTransId="{4819C93A-A651-4DB1-A165-87EA53A48DB3}"/>
    <dgm:cxn modelId="{1A071272-D189-4410-BD02-988F134B4505}" srcId="{ED7BC307-4B9E-4F5D-977A-FA82C2B2ADE5}" destId="{C4618ACD-24C1-480D-ABF1-74B8354F6A24}" srcOrd="1" destOrd="0" parTransId="{6A4F3066-8728-4571-A9D6-AD2AB276AC7D}" sibTransId="{73911F0D-5AB2-4A6B-9346-E74DAB047306}"/>
    <dgm:cxn modelId="{672D0359-0C62-47C1-8E15-B68648B14BD4}" srcId="{5DDD5902-7BFB-40ED-8E34-EE61A34E7DB7}" destId="{AFE9C239-C11E-4AF7-B8A2-236E8E9C2EF6}" srcOrd="0" destOrd="0" parTransId="{9BBC27FD-5FB4-4A04-8EF1-B5BB5794F42E}" sibTransId="{5E0CEEA8-29B8-4C18-9B4D-074ED46FE90C}"/>
    <dgm:cxn modelId="{E43B2D7D-7007-4DAB-933E-A7F61605B3E1}" type="presOf" srcId="{5DDD5902-7BFB-40ED-8E34-EE61A34E7DB7}" destId="{7DCC8571-6B43-4B84-9D38-FF80E74C4A9C}" srcOrd="0" destOrd="0" presId="urn:microsoft.com/office/officeart/2005/8/layout/StepDownProcess"/>
    <dgm:cxn modelId="{0640458B-1612-40F7-81FD-5E072F228858}" type="presOf" srcId="{C4618ACD-24C1-480D-ABF1-74B8354F6A24}" destId="{C32865CC-2FC1-4AB4-94BB-99D4A1D71632}" srcOrd="0" destOrd="1" presId="urn:microsoft.com/office/officeart/2005/8/layout/StepDownProcess"/>
    <dgm:cxn modelId="{9F36579E-E077-422A-93C0-C26E4523B5BC}" srcId="{CFD5F8C1-A327-4E8A-AE7E-C6D3A852E296}" destId="{5DDD5902-7BFB-40ED-8E34-EE61A34E7DB7}" srcOrd="1" destOrd="0" parTransId="{14AB0434-86D2-4426-BDEE-D425DD969D5E}" sibTransId="{4A068A05-7868-4809-960E-5CDC2AD30494}"/>
    <dgm:cxn modelId="{6513E0A6-76DE-499A-877A-C7350DA4A196}" srcId="{E524F6AD-19CC-40B2-9D23-97C02C18160F}" destId="{66D99341-9126-4A83-8550-D058EFE4DF80}" srcOrd="2" destOrd="0" parTransId="{6C40BDF3-2865-4B35-A611-D95A0A00AFDD}" sibTransId="{42CC8B1E-5AAA-4812-BCCA-2EC86AE897B8}"/>
    <dgm:cxn modelId="{08F4B0AD-3B0E-413F-86F2-425C1BBCFB1E}" srcId="{CFD5F8C1-A327-4E8A-AE7E-C6D3A852E296}" destId="{56476D5B-E261-44D3-B22A-A11BB6F7FF19}" srcOrd="0" destOrd="0" parTransId="{B32C2140-29FE-411E-AA5D-481C5D3D09FE}" sibTransId="{3CB84481-10A6-4268-B8B7-32FF6F8A480C}"/>
    <dgm:cxn modelId="{E6899ABA-21FF-4DD3-9C65-362F630C816C}" srcId="{E524F6AD-19CC-40B2-9D23-97C02C18160F}" destId="{3C039C40-5919-4D7A-9814-0FF308AA194A}" srcOrd="1" destOrd="0" parTransId="{EE88885E-93D2-4BB5-8C59-EFF0F7AB5333}" sibTransId="{9F1A42DF-65DF-4CDF-9A53-CDDBAE7D9A53}"/>
    <dgm:cxn modelId="{844772C1-F31D-435F-B73E-1F75A5693E1B}" srcId="{CFD5F8C1-A327-4E8A-AE7E-C6D3A852E296}" destId="{E524F6AD-19CC-40B2-9D23-97C02C18160F}" srcOrd="2" destOrd="0" parTransId="{60186AD0-769F-4DEC-BEE1-CE63211F34CF}" sibTransId="{70BEF9C9-DB28-4548-8C96-B2FDCF032094}"/>
    <dgm:cxn modelId="{A80147CD-28E4-4B28-8B7A-E9F3C1075806}" type="presOf" srcId="{6050593E-8A2A-4703-8431-0A87EF11DBE4}" destId="{270315DF-FF62-40C0-82D1-91D16EFD88BD}" srcOrd="0" destOrd="0" presId="urn:microsoft.com/office/officeart/2005/8/layout/StepDownProcess"/>
    <dgm:cxn modelId="{879539D6-85B2-408C-B1EF-C43AD83F41E7}" type="presOf" srcId="{ED7BC307-4B9E-4F5D-977A-FA82C2B2ADE5}" destId="{F50C0DB1-AC5D-4BAC-A77B-5FFAD60F54B6}" srcOrd="0" destOrd="0" presId="urn:microsoft.com/office/officeart/2005/8/layout/StepDownProcess"/>
    <dgm:cxn modelId="{BA071ADC-99AA-43C2-8EF0-AD1C7D1D12B8}" srcId="{ED7BC307-4B9E-4F5D-977A-FA82C2B2ADE5}" destId="{00877933-B406-47BB-8BC8-E7EB8E49DFF9}" srcOrd="0" destOrd="0" parTransId="{82C1FD73-32FC-4148-B15D-B82DD76603BE}" sibTransId="{A6E4CCD9-D1A6-4C78-B527-CB56D96B0912}"/>
    <dgm:cxn modelId="{3E82EAE1-EA94-4C2B-B832-91B20CA94C23}" type="presOf" srcId="{66D99341-9126-4A83-8550-D058EFE4DF80}" destId="{270315DF-FF62-40C0-82D1-91D16EFD88BD}" srcOrd="0" destOrd="2" presId="urn:microsoft.com/office/officeart/2005/8/layout/StepDownProcess"/>
    <dgm:cxn modelId="{C46274F3-868D-4935-BF3B-9F48A033C363}" type="presOf" srcId="{3C039C40-5919-4D7A-9814-0FF308AA194A}" destId="{270315DF-FF62-40C0-82D1-91D16EFD88BD}" srcOrd="0" destOrd="1" presId="urn:microsoft.com/office/officeart/2005/8/layout/StepDownProcess"/>
    <dgm:cxn modelId="{630096FD-E5E2-42A6-8CFE-682EC253EE27}" srcId="{ED7BC307-4B9E-4F5D-977A-FA82C2B2ADE5}" destId="{C7C8995C-E2F1-4FFA-91C3-119745B53B35}" srcOrd="2" destOrd="0" parTransId="{43EC5907-FCAD-4EA8-9A02-D88545A8520F}" sibTransId="{B3DA4A97-0558-4220-BF50-9A1B01C63C7C}"/>
    <dgm:cxn modelId="{7D081986-5797-471A-96B9-0C78EAAE44AE}" type="presParOf" srcId="{11774E1F-6036-4493-A2F6-454C65E732ED}" destId="{450FB908-BEA8-4C3E-8CDA-C21B80680583}" srcOrd="0" destOrd="0" presId="urn:microsoft.com/office/officeart/2005/8/layout/StepDownProcess"/>
    <dgm:cxn modelId="{D5DD6AD0-3010-4DBC-A8F4-0C29BABE2A82}" type="presParOf" srcId="{450FB908-BEA8-4C3E-8CDA-C21B80680583}" destId="{519F944F-C4BB-4738-B511-4A606F4C73A2}" srcOrd="0" destOrd="0" presId="urn:microsoft.com/office/officeart/2005/8/layout/StepDownProcess"/>
    <dgm:cxn modelId="{0780DE6A-3464-45A6-B138-BD55AC9B4A24}" type="presParOf" srcId="{450FB908-BEA8-4C3E-8CDA-C21B80680583}" destId="{A95DBED6-996F-4771-B887-1DDEA1BBFD99}" srcOrd="1" destOrd="0" presId="urn:microsoft.com/office/officeart/2005/8/layout/StepDownProcess"/>
    <dgm:cxn modelId="{89DCA0B2-E8FD-474F-AE4E-B24D4A862B69}" type="presParOf" srcId="{450FB908-BEA8-4C3E-8CDA-C21B80680583}" destId="{5DC89722-AD22-4B45-A089-C51FB4E56888}" srcOrd="2" destOrd="0" presId="urn:microsoft.com/office/officeart/2005/8/layout/StepDownProcess"/>
    <dgm:cxn modelId="{996E649A-213A-4D86-A312-1A6F55C6BBBE}" type="presParOf" srcId="{11774E1F-6036-4493-A2F6-454C65E732ED}" destId="{AF2FC6C8-E568-493B-9494-6B2F2A11B032}" srcOrd="1" destOrd="0" presId="urn:microsoft.com/office/officeart/2005/8/layout/StepDownProcess"/>
    <dgm:cxn modelId="{07F92FD2-89F2-4CEC-BA76-C0A701336A65}" type="presParOf" srcId="{11774E1F-6036-4493-A2F6-454C65E732ED}" destId="{9A1EC861-6305-4CA3-9A99-D1877AF3BF23}" srcOrd="2" destOrd="0" presId="urn:microsoft.com/office/officeart/2005/8/layout/StepDownProcess"/>
    <dgm:cxn modelId="{553D0E3A-1EFE-4DE4-9A9F-914A1664FE78}" type="presParOf" srcId="{9A1EC861-6305-4CA3-9A99-D1877AF3BF23}" destId="{825E753B-CF89-415A-B121-C9C8621709C2}" srcOrd="0" destOrd="0" presId="urn:microsoft.com/office/officeart/2005/8/layout/StepDownProcess"/>
    <dgm:cxn modelId="{F0768DFE-B664-44C4-92BD-56BB5C722DAA}" type="presParOf" srcId="{9A1EC861-6305-4CA3-9A99-D1877AF3BF23}" destId="{7DCC8571-6B43-4B84-9D38-FF80E74C4A9C}" srcOrd="1" destOrd="0" presId="urn:microsoft.com/office/officeart/2005/8/layout/StepDownProcess"/>
    <dgm:cxn modelId="{0CD3A533-15B0-4AAE-9E86-48A2EA2BB4A4}" type="presParOf" srcId="{9A1EC861-6305-4CA3-9A99-D1877AF3BF23}" destId="{7A529C24-6C15-4AE1-BBC3-8850AED1B329}" srcOrd="2" destOrd="0" presId="urn:microsoft.com/office/officeart/2005/8/layout/StepDownProcess"/>
    <dgm:cxn modelId="{2226D00F-DAB2-4E51-A621-57BD1042498D}" type="presParOf" srcId="{11774E1F-6036-4493-A2F6-454C65E732ED}" destId="{A1069E35-F222-41A0-84FA-757F927479AD}" srcOrd="3" destOrd="0" presId="urn:microsoft.com/office/officeart/2005/8/layout/StepDownProcess"/>
    <dgm:cxn modelId="{A28F1981-5FC7-44FD-8104-1AE6E7052203}" type="presParOf" srcId="{11774E1F-6036-4493-A2F6-454C65E732ED}" destId="{3D6728D3-0E59-46C5-B138-FB3015DF094C}" srcOrd="4" destOrd="0" presId="urn:microsoft.com/office/officeart/2005/8/layout/StepDownProcess"/>
    <dgm:cxn modelId="{4728C535-17B1-40D4-A6E4-DEF3FC130DCF}" type="presParOf" srcId="{3D6728D3-0E59-46C5-B138-FB3015DF094C}" destId="{8A2046CE-8A0A-4267-BC69-BD8BAA2AC7E2}" srcOrd="0" destOrd="0" presId="urn:microsoft.com/office/officeart/2005/8/layout/StepDownProcess"/>
    <dgm:cxn modelId="{3AE3D7A2-E09D-496E-A609-850232B0BB8B}" type="presParOf" srcId="{3D6728D3-0E59-46C5-B138-FB3015DF094C}" destId="{412DEE7B-4E26-47D9-A947-E8097DD8ECA7}" srcOrd="1" destOrd="0" presId="urn:microsoft.com/office/officeart/2005/8/layout/StepDownProcess"/>
    <dgm:cxn modelId="{8783D79F-ED7B-4D9C-B17D-14042EDCEF25}" type="presParOf" srcId="{3D6728D3-0E59-46C5-B138-FB3015DF094C}" destId="{270315DF-FF62-40C0-82D1-91D16EFD88BD}" srcOrd="2" destOrd="0" presId="urn:microsoft.com/office/officeart/2005/8/layout/StepDownProcess"/>
    <dgm:cxn modelId="{854F1444-A0A3-4032-8DEC-0397F11276A2}" type="presParOf" srcId="{11774E1F-6036-4493-A2F6-454C65E732ED}" destId="{D7D634D8-1310-4CC0-8AB4-F4E77F799D48}" srcOrd="5" destOrd="0" presId="urn:microsoft.com/office/officeart/2005/8/layout/StepDownProcess"/>
    <dgm:cxn modelId="{31FEE371-5864-406E-ACA6-40BDC49B7A62}" type="presParOf" srcId="{11774E1F-6036-4493-A2F6-454C65E732ED}" destId="{CBE358CE-80AA-492A-B332-2FBE453B1736}" srcOrd="6" destOrd="0" presId="urn:microsoft.com/office/officeart/2005/8/layout/StepDownProcess"/>
    <dgm:cxn modelId="{65DB84E7-2375-49E0-BDFE-B605D625097D}" type="presParOf" srcId="{CBE358CE-80AA-492A-B332-2FBE453B1736}" destId="{F50C0DB1-AC5D-4BAC-A77B-5FFAD60F54B6}" srcOrd="0" destOrd="0" presId="urn:microsoft.com/office/officeart/2005/8/layout/StepDownProcess"/>
    <dgm:cxn modelId="{99A9DA20-C375-4958-837C-2722C72E7F2C}" type="presParOf" srcId="{CBE358CE-80AA-492A-B332-2FBE453B1736}" destId="{C32865CC-2FC1-4AB4-94BB-99D4A1D71632}" srcOrd="1" destOrd="0" presId="urn:microsoft.com/office/officeart/2005/8/layout/StepDown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A2A3AE9-C817-4B70-A286-FE5BDB935D90}"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US"/>
        </a:p>
      </dgm:t>
    </dgm:pt>
    <dgm:pt modelId="{1B25978B-BEC8-4FA9-A753-D52CCD05FB2A}">
      <dgm:prSet phldrT="[Text]"/>
      <dgm:spPr/>
      <dgm:t>
        <a:bodyPr/>
        <a:lstStyle/>
        <a:p>
          <a:r>
            <a:rPr lang="en-US" dirty="0"/>
            <a:t>Known plaintext attack</a:t>
          </a:r>
        </a:p>
      </dgm:t>
    </dgm:pt>
    <dgm:pt modelId="{DDDD8355-AA54-422C-94E2-E26C1AEE60CE}" type="parTrans" cxnId="{407E1196-F530-4932-98DA-0DFC826D740D}">
      <dgm:prSet/>
      <dgm:spPr/>
      <dgm:t>
        <a:bodyPr/>
        <a:lstStyle/>
        <a:p>
          <a:endParaRPr lang="en-US"/>
        </a:p>
      </dgm:t>
    </dgm:pt>
    <dgm:pt modelId="{0B9A4048-EDAB-4B9C-BEA1-781896B0C857}" type="sibTrans" cxnId="{407E1196-F530-4932-98DA-0DFC826D740D}">
      <dgm:prSet/>
      <dgm:spPr/>
      <dgm:t>
        <a:bodyPr/>
        <a:lstStyle/>
        <a:p>
          <a:endParaRPr lang="en-US"/>
        </a:p>
      </dgm:t>
    </dgm:pt>
    <dgm:pt modelId="{E1545CF3-B7D6-4838-9412-E3742596AB09}">
      <dgm:prSet phldrT="[Text]"/>
      <dgm:spPr/>
      <dgm:t>
        <a:bodyPr/>
        <a:lstStyle/>
        <a:p>
          <a:r>
            <a:rPr lang="en-US" dirty="0"/>
            <a:t>Chosen plaintext attack</a:t>
          </a:r>
        </a:p>
      </dgm:t>
    </dgm:pt>
    <dgm:pt modelId="{59B4900A-3D23-4DB2-BEB2-1AA6C4B1130D}" type="parTrans" cxnId="{6A5E11F7-9B69-4520-9D30-F916005D6DFC}">
      <dgm:prSet/>
      <dgm:spPr/>
      <dgm:t>
        <a:bodyPr/>
        <a:lstStyle/>
        <a:p>
          <a:endParaRPr lang="en-US"/>
        </a:p>
      </dgm:t>
    </dgm:pt>
    <dgm:pt modelId="{FBEC572B-8407-4E8A-86D2-F3D9C847FB90}" type="sibTrans" cxnId="{6A5E11F7-9B69-4520-9D30-F916005D6DFC}">
      <dgm:prSet/>
      <dgm:spPr/>
      <dgm:t>
        <a:bodyPr/>
        <a:lstStyle/>
        <a:p>
          <a:endParaRPr lang="en-US"/>
        </a:p>
      </dgm:t>
    </dgm:pt>
    <dgm:pt modelId="{D8341ACF-3671-44A8-8A10-B31A44E2FF62}">
      <dgm:prSet phldrT="[Text]"/>
      <dgm:spPr/>
      <dgm:t>
        <a:bodyPr/>
        <a:lstStyle/>
        <a:p>
          <a:r>
            <a:rPr lang="en-US" dirty="0"/>
            <a:t>Ciphertext-only</a:t>
          </a:r>
        </a:p>
      </dgm:t>
    </dgm:pt>
    <dgm:pt modelId="{0150EC85-C0D8-47B7-BEB6-EB377A7092C6}" type="parTrans" cxnId="{50CB6A0A-7352-4946-8563-D1D0D865FA9F}">
      <dgm:prSet/>
      <dgm:spPr/>
      <dgm:t>
        <a:bodyPr/>
        <a:lstStyle/>
        <a:p>
          <a:endParaRPr lang="en-US"/>
        </a:p>
      </dgm:t>
    </dgm:pt>
    <dgm:pt modelId="{94F0EBB8-F55D-409A-9705-81A65E52E9CF}" type="sibTrans" cxnId="{50CB6A0A-7352-4946-8563-D1D0D865FA9F}">
      <dgm:prSet/>
      <dgm:spPr/>
      <dgm:t>
        <a:bodyPr/>
        <a:lstStyle/>
        <a:p>
          <a:endParaRPr lang="en-US"/>
        </a:p>
      </dgm:t>
    </dgm:pt>
    <dgm:pt modelId="{28040AF3-924D-4D03-9A43-0FF51F48A874}">
      <dgm:prSet/>
      <dgm:spPr/>
      <dgm:t>
        <a:bodyPr/>
        <a:lstStyle/>
        <a:p>
          <a:r>
            <a:rPr lang="en-US" dirty="0"/>
            <a:t>Related-key attack</a:t>
          </a:r>
        </a:p>
      </dgm:t>
    </dgm:pt>
    <dgm:pt modelId="{FBA4A1F1-CCA4-4B7A-A24A-286D93021A34}" type="parTrans" cxnId="{5C0DE543-CCA2-4031-AB38-5172F7322ACC}">
      <dgm:prSet/>
      <dgm:spPr/>
      <dgm:t>
        <a:bodyPr/>
        <a:lstStyle/>
        <a:p>
          <a:endParaRPr lang="en-US"/>
        </a:p>
      </dgm:t>
    </dgm:pt>
    <dgm:pt modelId="{C4B5C129-1A3C-4DDE-BFDA-531FEB32F280}" type="sibTrans" cxnId="{5C0DE543-CCA2-4031-AB38-5172F7322ACC}">
      <dgm:prSet/>
      <dgm:spPr/>
      <dgm:t>
        <a:bodyPr/>
        <a:lstStyle/>
        <a:p>
          <a:endParaRPr lang="en-US"/>
        </a:p>
      </dgm:t>
    </dgm:pt>
    <dgm:pt modelId="{A04EE5DE-1D51-4B25-B7C2-08C7E68427E8}" type="pres">
      <dgm:prSet presAssocID="{EA2A3AE9-C817-4B70-A286-FE5BDB935D90}" presName="Name0" presStyleCnt="0">
        <dgm:presLayoutVars>
          <dgm:chMax val="7"/>
          <dgm:chPref val="7"/>
          <dgm:dir/>
        </dgm:presLayoutVars>
      </dgm:prSet>
      <dgm:spPr/>
    </dgm:pt>
    <dgm:pt modelId="{E0BD6E45-F851-42B8-AEB7-87C8831EAE31}" type="pres">
      <dgm:prSet presAssocID="{EA2A3AE9-C817-4B70-A286-FE5BDB935D90}" presName="Name1" presStyleCnt="0"/>
      <dgm:spPr/>
    </dgm:pt>
    <dgm:pt modelId="{298FD931-94F0-411D-A88E-62D4C62FB087}" type="pres">
      <dgm:prSet presAssocID="{EA2A3AE9-C817-4B70-A286-FE5BDB935D90}" presName="cycle" presStyleCnt="0"/>
      <dgm:spPr/>
    </dgm:pt>
    <dgm:pt modelId="{D6AD9A1E-FA72-4CCE-954C-2F710D3937F2}" type="pres">
      <dgm:prSet presAssocID="{EA2A3AE9-C817-4B70-A286-FE5BDB935D90}" presName="srcNode" presStyleLbl="node1" presStyleIdx="0" presStyleCnt="4"/>
      <dgm:spPr/>
    </dgm:pt>
    <dgm:pt modelId="{F1A0C6D8-7ABC-4C44-B523-A3A70C375968}" type="pres">
      <dgm:prSet presAssocID="{EA2A3AE9-C817-4B70-A286-FE5BDB935D90}" presName="conn" presStyleLbl="parChTrans1D2" presStyleIdx="0" presStyleCnt="1"/>
      <dgm:spPr/>
    </dgm:pt>
    <dgm:pt modelId="{61C1BEE5-6D2B-47A5-A8E0-782873CD7963}" type="pres">
      <dgm:prSet presAssocID="{EA2A3AE9-C817-4B70-A286-FE5BDB935D90}" presName="extraNode" presStyleLbl="node1" presStyleIdx="0" presStyleCnt="4"/>
      <dgm:spPr/>
    </dgm:pt>
    <dgm:pt modelId="{2694A3B5-CF61-4AC7-9F7E-82E4B9E5EFD3}" type="pres">
      <dgm:prSet presAssocID="{EA2A3AE9-C817-4B70-A286-FE5BDB935D90}" presName="dstNode" presStyleLbl="node1" presStyleIdx="0" presStyleCnt="4"/>
      <dgm:spPr/>
    </dgm:pt>
    <dgm:pt modelId="{A37B04B9-8A41-4306-BFCA-54A43D6D7BB8}" type="pres">
      <dgm:prSet presAssocID="{1B25978B-BEC8-4FA9-A753-D52CCD05FB2A}" presName="text_1" presStyleLbl="node1" presStyleIdx="0" presStyleCnt="4">
        <dgm:presLayoutVars>
          <dgm:bulletEnabled val="1"/>
        </dgm:presLayoutVars>
      </dgm:prSet>
      <dgm:spPr/>
    </dgm:pt>
    <dgm:pt modelId="{CE8FDF6F-82D1-488D-B480-24DCA6F758FE}" type="pres">
      <dgm:prSet presAssocID="{1B25978B-BEC8-4FA9-A753-D52CCD05FB2A}" presName="accent_1" presStyleCnt="0"/>
      <dgm:spPr/>
    </dgm:pt>
    <dgm:pt modelId="{5E54E6C1-1912-4B9B-A920-C077416F4A67}" type="pres">
      <dgm:prSet presAssocID="{1B25978B-BEC8-4FA9-A753-D52CCD05FB2A}" presName="accentRepeatNode" presStyleLbl="solidFgAcc1" presStyleIdx="0" presStyleCnt="4"/>
      <dgm:spPr/>
    </dgm:pt>
    <dgm:pt modelId="{9899F784-E98F-4F66-B76B-4A9DFDCBFF0B}" type="pres">
      <dgm:prSet presAssocID="{E1545CF3-B7D6-4838-9412-E3742596AB09}" presName="text_2" presStyleLbl="node1" presStyleIdx="1" presStyleCnt="4">
        <dgm:presLayoutVars>
          <dgm:bulletEnabled val="1"/>
        </dgm:presLayoutVars>
      </dgm:prSet>
      <dgm:spPr/>
    </dgm:pt>
    <dgm:pt modelId="{1229F7C5-DC18-4FF3-8BF9-A185148ECE6D}" type="pres">
      <dgm:prSet presAssocID="{E1545CF3-B7D6-4838-9412-E3742596AB09}" presName="accent_2" presStyleCnt="0"/>
      <dgm:spPr/>
    </dgm:pt>
    <dgm:pt modelId="{7DF10AE4-7686-425E-8D8B-838BE5D88C73}" type="pres">
      <dgm:prSet presAssocID="{E1545CF3-B7D6-4838-9412-E3742596AB09}" presName="accentRepeatNode" presStyleLbl="solidFgAcc1" presStyleIdx="1" presStyleCnt="4"/>
      <dgm:spPr/>
    </dgm:pt>
    <dgm:pt modelId="{169D1702-A160-4334-AE38-0D2EDE2FE1F6}" type="pres">
      <dgm:prSet presAssocID="{D8341ACF-3671-44A8-8A10-B31A44E2FF62}" presName="text_3" presStyleLbl="node1" presStyleIdx="2" presStyleCnt="4">
        <dgm:presLayoutVars>
          <dgm:bulletEnabled val="1"/>
        </dgm:presLayoutVars>
      </dgm:prSet>
      <dgm:spPr/>
    </dgm:pt>
    <dgm:pt modelId="{CC254E85-027A-4AC6-8504-6B93813D991F}" type="pres">
      <dgm:prSet presAssocID="{D8341ACF-3671-44A8-8A10-B31A44E2FF62}" presName="accent_3" presStyleCnt="0"/>
      <dgm:spPr/>
    </dgm:pt>
    <dgm:pt modelId="{0A72160D-5FE2-4916-BC8F-1C75E38003C7}" type="pres">
      <dgm:prSet presAssocID="{D8341ACF-3671-44A8-8A10-B31A44E2FF62}" presName="accentRepeatNode" presStyleLbl="solidFgAcc1" presStyleIdx="2" presStyleCnt="4"/>
      <dgm:spPr/>
    </dgm:pt>
    <dgm:pt modelId="{173CDDAD-36B4-468A-9F82-29CF0B92AF15}" type="pres">
      <dgm:prSet presAssocID="{28040AF3-924D-4D03-9A43-0FF51F48A874}" presName="text_4" presStyleLbl="node1" presStyleIdx="3" presStyleCnt="4">
        <dgm:presLayoutVars>
          <dgm:bulletEnabled val="1"/>
        </dgm:presLayoutVars>
      </dgm:prSet>
      <dgm:spPr/>
    </dgm:pt>
    <dgm:pt modelId="{74E271E5-2698-48BC-B79A-80267163D00A}" type="pres">
      <dgm:prSet presAssocID="{28040AF3-924D-4D03-9A43-0FF51F48A874}" presName="accent_4" presStyleCnt="0"/>
      <dgm:spPr/>
    </dgm:pt>
    <dgm:pt modelId="{F24FC899-8467-4DFC-84BD-5BC2C7A07D14}" type="pres">
      <dgm:prSet presAssocID="{28040AF3-924D-4D03-9A43-0FF51F48A874}" presName="accentRepeatNode" presStyleLbl="solidFgAcc1" presStyleIdx="3" presStyleCnt="4"/>
      <dgm:spPr/>
    </dgm:pt>
  </dgm:ptLst>
  <dgm:cxnLst>
    <dgm:cxn modelId="{50CB6A0A-7352-4946-8563-D1D0D865FA9F}" srcId="{EA2A3AE9-C817-4B70-A286-FE5BDB935D90}" destId="{D8341ACF-3671-44A8-8A10-B31A44E2FF62}" srcOrd="2" destOrd="0" parTransId="{0150EC85-C0D8-47B7-BEB6-EB377A7092C6}" sibTransId="{94F0EBB8-F55D-409A-9705-81A65E52E9CF}"/>
    <dgm:cxn modelId="{44B6D418-02BD-4E74-A468-8BDE112D4E80}" type="presOf" srcId="{28040AF3-924D-4D03-9A43-0FF51F48A874}" destId="{173CDDAD-36B4-468A-9F82-29CF0B92AF15}" srcOrd="0" destOrd="0" presId="urn:microsoft.com/office/officeart/2008/layout/VerticalCurvedList"/>
    <dgm:cxn modelId="{2F9A6F1C-4AD8-46FE-BF47-65A41EDD53DC}" type="presOf" srcId="{0B9A4048-EDAB-4B9C-BEA1-781896B0C857}" destId="{F1A0C6D8-7ABC-4C44-B523-A3A70C375968}" srcOrd="0" destOrd="0" presId="urn:microsoft.com/office/officeart/2008/layout/VerticalCurvedList"/>
    <dgm:cxn modelId="{52AE1E30-CBE3-42E2-A299-21759BAC90A9}" type="presOf" srcId="{EA2A3AE9-C817-4B70-A286-FE5BDB935D90}" destId="{A04EE5DE-1D51-4B25-B7C2-08C7E68427E8}" srcOrd="0" destOrd="0" presId="urn:microsoft.com/office/officeart/2008/layout/VerticalCurvedList"/>
    <dgm:cxn modelId="{2706EE3C-98C7-430F-9C2C-8DFF07CD4FC4}" type="presOf" srcId="{1B25978B-BEC8-4FA9-A753-D52CCD05FB2A}" destId="{A37B04B9-8A41-4306-BFCA-54A43D6D7BB8}" srcOrd="0" destOrd="0" presId="urn:microsoft.com/office/officeart/2008/layout/VerticalCurvedList"/>
    <dgm:cxn modelId="{5C0DE543-CCA2-4031-AB38-5172F7322ACC}" srcId="{EA2A3AE9-C817-4B70-A286-FE5BDB935D90}" destId="{28040AF3-924D-4D03-9A43-0FF51F48A874}" srcOrd="3" destOrd="0" parTransId="{FBA4A1F1-CCA4-4B7A-A24A-286D93021A34}" sibTransId="{C4B5C129-1A3C-4DDE-BFDA-531FEB32F280}"/>
    <dgm:cxn modelId="{407E1196-F530-4932-98DA-0DFC826D740D}" srcId="{EA2A3AE9-C817-4B70-A286-FE5BDB935D90}" destId="{1B25978B-BEC8-4FA9-A753-D52CCD05FB2A}" srcOrd="0" destOrd="0" parTransId="{DDDD8355-AA54-422C-94E2-E26C1AEE60CE}" sibTransId="{0B9A4048-EDAB-4B9C-BEA1-781896B0C857}"/>
    <dgm:cxn modelId="{B86C5DD2-2B65-4B8A-BE3E-98178C3ED47D}" type="presOf" srcId="{E1545CF3-B7D6-4838-9412-E3742596AB09}" destId="{9899F784-E98F-4F66-B76B-4A9DFDCBFF0B}" srcOrd="0" destOrd="0" presId="urn:microsoft.com/office/officeart/2008/layout/VerticalCurvedList"/>
    <dgm:cxn modelId="{70C294DE-11D5-4B8F-9255-7FC3CE87731A}" type="presOf" srcId="{D8341ACF-3671-44A8-8A10-B31A44E2FF62}" destId="{169D1702-A160-4334-AE38-0D2EDE2FE1F6}" srcOrd="0" destOrd="0" presId="urn:microsoft.com/office/officeart/2008/layout/VerticalCurvedList"/>
    <dgm:cxn modelId="{6A5E11F7-9B69-4520-9D30-F916005D6DFC}" srcId="{EA2A3AE9-C817-4B70-A286-FE5BDB935D90}" destId="{E1545CF3-B7D6-4838-9412-E3742596AB09}" srcOrd="1" destOrd="0" parTransId="{59B4900A-3D23-4DB2-BEB2-1AA6C4B1130D}" sibTransId="{FBEC572B-8407-4E8A-86D2-F3D9C847FB90}"/>
    <dgm:cxn modelId="{DBCC2FD4-9AE7-4D3A-98DC-8CB8BFE68716}" type="presParOf" srcId="{A04EE5DE-1D51-4B25-B7C2-08C7E68427E8}" destId="{E0BD6E45-F851-42B8-AEB7-87C8831EAE31}" srcOrd="0" destOrd="0" presId="urn:microsoft.com/office/officeart/2008/layout/VerticalCurvedList"/>
    <dgm:cxn modelId="{3A57B144-45ED-4F0C-9128-01610FADDE60}" type="presParOf" srcId="{E0BD6E45-F851-42B8-AEB7-87C8831EAE31}" destId="{298FD931-94F0-411D-A88E-62D4C62FB087}" srcOrd="0" destOrd="0" presId="urn:microsoft.com/office/officeart/2008/layout/VerticalCurvedList"/>
    <dgm:cxn modelId="{D8B63B3A-8DD3-4412-8DFA-50F45C10D6CE}" type="presParOf" srcId="{298FD931-94F0-411D-A88E-62D4C62FB087}" destId="{D6AD9A1E-FA72-4CCE-954C-2F710D3937F2}" srcOrd="0" destOrd="0" presId="urn:microsoft.com/office/officeart/2008/layout/VerticalCurvedList"/>
    <dgm:cxn modelId="{B8B91BDD-836C-4B2A-9F21-F60E7DDFFFE3}" type="presParOf" srcId="{298FD931-94F0-411D-A88E-62D4C62FB087}" destId="{F1A0C6D8-7ABC-4C44-B523-A3A70C375968}" srcOrd="1" destOrd="0" presId="urn:microsoft.com/office/officeart/2008/layout/VerticalCurvedList"/>
    <dgm:cxn modelId="{747383A9-D611-48C2-9437-D7E0D3F13AA7}" type="presParOf" srcId="{298FD931-94F0-411D-A88E-62D4C62FB087}" destId="{61C1BEE5-6D2B-47A5-A8E0-782873CD7963}" srcOrd="2" destOrd="0" presId="urn:microsoft.com/office/officeart/2008/layout/VerticalCurvedList"/>
    <dgm:cxn modelId="{8FD4B8E9-8282-41DF-B16F-A50663EFE821}" type="presParOf" srcId="{298FD931-94F0-411D-A88E-62D4C62FB087}" destId="{2694A3B5-CF61-4AC7-9F7E-82E4B9E5EFD3}" srcOrd="3" destOrd="0" presId="urn:microsoft.com/office/officeart/2008/layout/VerticalCurvedList"/>
    <dgm:cxn modelId="{D3DFB802-4C77-4C7A-ADE2-1D6018A4343C}" type="presParOf" srcId="{E0BD6E45-F851-42B8-AEB7-87C8831EAE31}" destId="{A37B04B9-8A41-4306-BFCA-54A43D6D7BB8}" srcOrd="1" destOrd="0" presId="urn:microsoft.com/office/officeart/2008/layout/VerticalCurvedList"/>
    <dgm:cxn modelId="{D9B8E380-49FA-4FEB-A6F7-68C4EAA2F17E}" type="presParOf" srcId="{E0BD6E45-F851-42B8-AEB7-87C8831EAE31}" destId="{CE8FDF6F-82D1-488D-B480-24DCA6F758FE}" srcOrd="2" destOrd="0" presId="urn:microsoft.com/office/officeart/2008/layout/VerticalCurvedList"/>
    <dgm:cxn modelId="{21EC9822-67A3-4DAF-A829-54941891938F}" type="presParOf" srcId="{CE8FDF6F-82D1-488D-B480-24DCA6F758FE}" destId="{5E54E6C1-1912-4B9B-A920-C077416F4A67}" srcOrd="0" destOrd="0" presId="urn:microsoft.com/office/officeart/2008/layout/VerticalCurvedList"/>
    <dgm:cxn modelId="{780292DE-91EF-4E24-B2FC-5340E1826743}" type="presParOf" srcId="{E0BD6E45-F851-42B8-AEB7-87C8831EAE31}" destId="{9899F784-E98F-4F66-B76B-4A9DFDCBFF0B}" srcOrd="3" destOrd="0" presId="urn:microsoft.com/office/officeart/2008/layout/VerticalCurvedList"/>
    <dgm:cxn modelId="{43DDEA57-7AFF-47C6-A6C6-763C53E18F5D}" type="presParOf" srcId="{E0BD6E45-F851-42B8-AEB7-87C8831EAE31}" destId="{1229F7C5-DC18-4FF3-8BF9-A185148ECE6D}" srcOrd="4" destOrd="0" presId="urn:microsoft.com/office/officeart/2008/layout/VerticalCurvedList"/>
    <dgm:cxn modelId="{182E807E-544C-45A7-930D-DDC6742D24FD}" type="presParOf" srcId="{1229F7C5-DC18-4FF3-8BF9-A185148ECE6D}" destId="{7DF10AE4-7686-425E-8D8B-838BE5D88C73}" srcOrd="0" destOrd="0" presId="urn:microsoft.com/office/officeart/2008/layout/VerticalCurvedList"/>
    <dgm:cxn modelId="{175C61BC-5BB0-4329-85AB-877998C23645}" type="presParOf" srcId="{E0BD6E45-F851-42B8-AEB7-87C8831EAE31}" destId="{169D1702-A160-4334-AE38-0D2EDE2FE1F6}" srcOrd="5" destOrd="0" presId="urn:microsoft.com/office/officeart/2008/layout/VerticalCurvedList"/>
    <dgm:cxn modelId="{BCD5E0D5-54F4-4084-90C4-CF50A10FBBD7}" type="presParOf" srcId="{E0BD6E45-F851-42B8-AEB7-87C8831EAE31}" destId="{CC254E85-027A-4AC6-8504-6B93813D991F}" srcOrd="6" destOrd="0" presId="urn:microsoft.com/office/officeart/2008/layout/VerticalCurvedList"/>
    <dgm:cxn modelId="{15B4CD92-2113-415D-807D-B90D14BA05A5}" type="presParOf" srcId="{CC254E85-027A-4AC6-8504-6B93813D991F}" destId="{0A72160D-5FE2-4916-BC8F-1C75E38003C7}" srcOrd="0" destOrd="0" presId="urn:microsoft.com/office/officeart/2008/layout/VerticalCurvedList"/>
    <dgm:cxn modelId="{8CB81CA2-57BE-4C9E-99E2-30C791CACCB6}" type="presParOf" srcId="{E0BD6E45-F851-42B8-AEB7-87C8831EAE31}" destId="{173CDDAD-36B4-468A-9F82-29CF0B92AF15}" srcOrd="7" destOrd="0" presId="urn:microsoft.com/office/officeart/2008/layout/VerticalCurvedList"/>
    <dgm:cxn modelId="{4A0D47B2-AB73-48FE-8AA5-BEB3DBBEB87F}" type="presParOf" srcId="{E0BD6E45-F851-42B8-AEB7-87C8831EAE31}" destId="{74E271E5-2698-48BC-B79A-80267163D00A}" srcOrd="8" destOrd="0" presId="urn:microsoft.com/office/officeart/2008/layout/VerticalCurvedList"/>
    <dgm:cxn modelId="{D77C0A66-DACA-4893-BE6C-77BEF5BFBBD9}" type="presParOf" srcId="{74E271E5-2698-48BC-B79A-80267163D00A}" destId="{F24FC899-8467-4DFC-84BD-5BC2C7A07D14}"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4C9785-7AD9-46B9-BB79-5AF104696DE0}">
      <dsp:nvSpPr>
        <dsp:cNvPr id="0" name=""/>
        <dsp:cNvSpPr/>
      </dsp:nvSpPr>
      <dsp:spPr>
        <a:xfrm>
          <a:off x="0" y="553800"/>
          <a:ext cx="8299450" cy="882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8E0F18D-3BF1-4130-8BCD-4462D250C2AA}">
      <dsp:nvSpPr>
        <dsp:cNvPr id="0" name=""/>
        <dsp:cNvSpPr/>
      </dsp:nvSpPr>
      <dsp:spPr>
        <a:xfrm>
          <a:off x="414972" y="37199"/>
          <a:ext cx="5809615" cy="10332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1555750">
            <a:lnSpc>
              <a:spcPct val="90000"/>
            </a:lnSpc>
            <a:spcBef>
              <a:spcPct val="0"/>
            </a:spcBef>
            <a:spcAft>
              <a:spcPct val="35000"/>
            </a:spcAft>
            <a:buNone/>
          </a:pPr>
          <a:r>
            <a:rPr lang="en-US" sz="3500" kern="1200" dirty="0"/>
            <a:t>Payload</a:t>
          </a:r>
        </a:p>
      </dsp:txBody>
      <dsp:txXfrm>
        <a:off x="465409" y="87636"/>
        <a:ext cx="5708741" cy="932326"/>
      </dsp:txXfrm>
    </dsp:sp>
    <dsp:sp modelId="{B92ECA57-BC94-4895-9678-7B3B2C981571}">
      <dsp:nvSpPr>
        <dsp:cNvPr id="0" name=""/>
        <dsp:cNvSpPr/>
      </dsp:nvSpPr>
      <dsp:spPr>
        <a:xfrm>
          <a:off x="0" y="2141400"/>
          <a:ext cx="8299450" cy="882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13E1891-3D8C-494A-8790-6735E86E634E}">
      <dsp:nvSpPr>
        <dsp:cNvPr id="0" name=""/>
        <dsp:cNvSpPr/>
      </dsp:nvSpPr>
      <dsp:spPr>
        <a:xfrm>
          <a:off x="414972" y="1624800"/>
          <a:ext cx="5809615" cy="10332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1555750">
            <a:lnSpc>
              <a:spcPct val="90000"/>
            </a:lnSpc>
            <a:spcBef>
              <a:spcPct val="0"/>
            </a:spcBef>
            <a:spcAft>
              <a:spcPct val="35000"/>
            </a:spcAft>
            <a:buNone/>
          </a:pPr>
          <a:r>
            <a:rPr lang="en-US" sz="3500" kern="1200" dirty="0"/>
            <a:t>Carrier</a:t>
          </a:r>
        </a:p>
      </dsp:txBody>
      <dsp:txXfrm>
        <a:off x="465409" y="1675237"/>
        <a:ext cx="5708741" cy="932326"/>
      </dsp:txXfrm>
    </dsp:sp>
    <dsp:sp modelId="{82D12F0E-F790-4239-B78F-3CF5956D149F}">
      <dsp:nvSpPr>
        <dsp:cNvPr id="0" name=""/>
        <dsp:cNvSpPr/>
      </dsp:nvSpPr>
      <dsp:spPr>
        <a:xfrm>
          <a:off x="0" y="3729000"/>
          <a:ext cx="8299450" cy="882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C06EA5B-5EFD-4736-995C-51EA4BED5CB3}">
      <dsp:nvSpPr>
        <dsp:cNvPr id="0" name=""/>
        <dsp:cNvSpPr/>
      </dsp:nvSpPr>
      <dsp:spPr>
        <a:xfrm>
          <a:off x="414972" y="3212400"/>
          <a:ext cx="5809615" cy="10332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1555750">
            <a:lnSpc>
              <a:spcPct val="90000"/>
            </a:lnSpc>
            <a:spcBef>
              <a:spcPct val="0"/>
            </a:spcBef>
            <a:spcAft>
              <a:spcPct val="35000"/>
            </a:spcAft>
            <a:buNone/>
          </a:pPr>
          <a:r>
            <a:rPr lang="en-US" sz="3500" kern="1200" dirty="0"/>
            <a:t>Channel</a:t>
          </a:r>
        </a:p>
      </dsp:txBody>
      <dsp:txXfrm>
        <a:off x="465409" y="3262837"/>
        <a:ext cx="5708741" cy="93232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8BA113-0F77-4668-BB67-BDB4E55DAEE7}">
      <dsp:nvSpPr>
        <dsp:cNvPr id="0" name=""/>
        <dsp:cNvSpPr/>
      </dsp:nvSpPr>
      <dsp:spPr>
        <a:xfrm rot="5400000">
          <a:off x="5241630" y="-2151806"/>
          <a:ext cx="803991" cy="53116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45720" rIns="91440" bIns="45720" numCol="1" spcCol="1270" anchor="ctr" anchorCtr="0">
          <a:noAutofit/>
        </a:bodyPr>
        <a:lstStyle/>
        <a:p>
          <a:pPr marL="228600" lvl="1" indent="-228600" algn="l" defTabSz="1066800">
            <a:lnSpc>
              <a:spcPct val="90000"/>
            </a:lnSpc>
            <a:spcBef>
              <a:spcPct val="0"/>
            </a:spcBef>
            <a:spcAft>
              <a:spcPct val="15000"/>
            </a:spcAft>
            <a:buChar char="•"/>
          </a:pPr>
          <a:r>
            <a:rPr lang="en-US" sz="2400" kern="1200" dirty="0"/>
            <a:t>Hiding messages in sound files</a:t>
          </a:r>
        </a:p>
      </dsp:txBody>
      <dsp:txXfrm rot="-5400000">
        <a:off x="2987802" y="141270"/>
        <a:ext cx="5272400" cy="725495"/>
      </dsp:txXfrm>
    </dsp:sp>
    <dsp:sp modelId="{B4E4D952-533C-44C5-B68C-D3157D3FC1D4}">
      <dsp:nvSpPr>
        <dsp:cNvPr id="0" name=""/>
        <dsp:cNvSpPr/>
      </dsp:nvSpPr>
      <dsp:spPr>
        <a:xfrm>
          <a:off x="0" y="1522"/>
          <a:ext cx="2987802" cy="100498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marL="0" lvl="0" indent="0" algn="ctr" defTabSz="1289050">
            <a:lnSpc>
              <a:spcPct val="90000"/>
            </a:lnSpc>
            <a:spcBef>
              <a:spcPct val="0"/>
            </a:spcBef>
            <a:spcAft>
              <a:spcPct val="35000"/>
            </a:spcAft>
            <a:buNone/>
          </a:pPr>
          <a:r>
            <a:rPr lang="en-US" sz="2900" kern="1200" dirty="0"/>
            <a:t>Steganophony</a:t>
          </a:r>
        </a:p>
      </dsp:txBody>
      <dsp:txXfrm>
        <a:off x="49060" y="50582"/>
        <a:ext cx="2889682" cy="906869"/>
      </dsp:txXfrm>
    </dsp:sp>
    <dsp:sp modelId="{DED82329-5591-4027-84F2-477BF672E6D9}">
      <dsp:nvSpPr>
        <dsp:cNvPr id="0" name=""/>
        <dsp:cNvSpPr/>
      </dsp:nvSpPr>
      <dsp:spPr>
        <a:xfrm rot="5400000">
          <a:off x="5241630" y="-1096567"/>
          <a:ext cx="803991" cy="53116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45720" rIns="91440" bIns="45720" numCol="1" spcCol="1270" anchor="ctr" anchorCtr="0">
          <a:noAutofit/>
        </a:bodyPr>
        <a:lstStyle/>
        <a:p>
          <a:pPr marL="228600" lvl="1" indent="-228600" algn="l" defTabSz="1066800">
            <a:lnSpc>
              <a:spcPct val="90000"/>
            </a:lnSpc>
            <a:spcBef>
              <a:spcPct val="0"/>
            </a:spcBef>
            <a:spcAft>
              <a:spcPct val="15000"/>
            </a:spcAft>
            <a:buChar char="•"/>
          </a:pPr>
          <a:r>
            <a:rPr lang="en-US" sz="2400" kern="1200" dirty="0"/>
            <a:t>Hiding information in video files</a:t>
          </a:r>
        </a:p>
      </dsp:txBody>
      <dsp:txXfrm rot="-5400000">
        <a:off x="2987802" y="1196509"/>
        <a:ext cx="5272400" cy="725495"/>
      </dsp:txXfrm>
    </dsp:sp>
    <dsp:sp modelId="{8B855A06-F060-4703-9A30-CDFB8FC66395}">
      <dsp:nvSpPr>
        <dsp:cNvPr id="0" name=""/>
        <dsp:cNvSpPr/>
      </dsp:nvSpPr>
      <dsp:spPr>
        <a:xfrm>
          <a:off x="0" y="1056761"/>
          <a:ext cx="2987802" cy="100498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marL="0" lvl="0" indent="0" algn="ctr" defTabSz="1289050">
            <a:lnSpc>
              <a:spcPct val="90000"/>
            </a:lnSpc>
            <a:spcBef>
              <a:spcPct val="0"/>
            </a:spcBef>
            <a:spcAft>
              <a:spcPct val="35000"/>
            </a:spcAft>
            <a:buNone/>
          </a:pPr>
          <a:r>
            <a:rPr lang="en-US" sz="2900" kern="1200" dirty="0"/>
            <a:t>Video steganography</a:t>
          </a:r>
        </a:p>
      </dsp:txBody>
      <dsp:txXfrm>
        <a:off x="49060" y="1105821"/>
        <a:ext cx="2889682" cy="906869"/>
      </dsp:txXfrm>
    </dsp:sp>
    <dsp:sp modelId="{EA72D7AA-8A77-4880-A222-3845039A9E31}">
      <dsp:nvSpPr>
        <dsp:cNvPr id="0" name=""/>
        <dsp:cNvSpPr/>
      </dsp:nvSpPr>
      <dsp:spPr>
        <a:xfrm rot="5400000">
          <a:off x="5241630" y="-41328"/>
          <a:ext cx="803991" cy="53116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1440" tIns="45720" rIns="91440" bIns="45720" numCol="1" spcCol="1270" anchor="ctr" anchorCtr="0">
          <a:noAutofit/>
        </a:bodyPr>
        <a:lstStyle/>
        <a:p>
          <a:pPr marL="228600" lvl="1" indent="-228600" algn="l" defTabSz="1066800">
            <a:lnSpc>
              <a:spcPct val="90000"/>
            </a:lnSpc>
            <a:spcBef>
              <a:spcPct val="0"/>
            </a:spcBef>
            <a:spcAft>
              <a:spcPct val="15000"/>
            </a:spcAft>
            <a:buChar char="•"/>
          </a:pPr>
          <a:r>
            <a:rPr lang="en-US" sz="2400" kern="1200" dirty="0"/>
            <a:t>Bit-plane complexity segmentation steganography (BPCS)</a:t>
          </a:r>
        </a:p>
      </dsp:txBody>
      <dsp:txXfrm rot="-5400000">
        <a:off x="2987802" y="2251748"/>
        <a:ext cx="5272400" cy="725495"/>
      </dsp:txXfrm>
    </dsp:sp>
    <dsp:sp modelId="{2E9B5796-D68B-4637-88C2-DDE3D58B5611}">
      <dsp:nvSpPr>
        <dsp:cNvPr id="0" name=""/>
        <dsp:cNvSpPr/>
      </dsp:nvSpPr>
      <dsp:spPr>
        <a:xfrm>
          <a:off x="0" y="2112000"/>
          <a:ext cx="2987802" cy="100498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marL="0" lvl="0" indent="0" algn="ctr" defTabSz="1289050">
            <a:lnSpc>
              <a:spcPct val="90000"/>
            </a:lnSpc>
            <a:spcBef>
              <a:spcPct val="0"/>
            </a:spcBef>
            <a:spcAft>
              <a:spcPct val="35000"/>
            </a:spcAft>
            <a:buNone/>
          </a:pPr>
          <a:r>
            <a:rPr lang="en-US" sz="2900" kern="1200" dirty="0"/>
            <a:t>Advanced steganography</a:t>
          </a:r>
        </a:p>
      </dsp:txBody>
      <dsp:txXfrm>
        <a:off x="49060" y="2161060"/>
        <a:ext cx="2889682" cy="90686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22165D-954B-4606-9B47-EAB3DFAE0813}">
      <dsp:nvSpPr>
        <dsp:cNvPr id="0" name=""/>
        <dsp:cNvSpPr/>
      </dsp:nvSpPr>
      <dsp:spPr>
        <a:xfrm>
          <a:off x="1297357" y="638161"/>
          <a:ext cx="5704735" cy="3067812"/>
        </a:xfrm>
        <a:prstGeom prst="round2DiagRect">
          <a:avLst>
            <a:gd name="adj1" fmla="val 0"/>
            <a:gd name="adj2"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F30A34C-5443-466D-9AA6-735DADF15731}">
      <dsp:nvSpPr>
        <dsp:cNvPr id="0" name=""/>
        <dsp:cNvSpPr/>
      </dsp:nvSpPr>
      <dsp:spPr>
        <a:xfrm>
          <a:off x="4149725" y="963535"/>
          <a:ext cx="760" cy="2417064"/>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36338E0-77BE-46F6-A52B-79F5BC072668}">
      <dsp:nvSpPr>
        <dsp:cNvPr id="0" name=""/>
        <dsp:cNvSpPr/>
      </dsp:nvSpPr>
      <dsp:spPr>
        <a:xfrm>
          <a:off x="1487514" y="870571"/>
          <a:ext cx="2472052" cy="2602992"/>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kern="1200" dirty="0">
              <a:solidFill>
                <a:schemeClr val="bg1"/>
              </a:solidFill>
            </a:rPr>
            <a:t>Message hidden</a:t>
          </a:r>
        </a:p>
      </dsp:txBody>
      <dsp:txXfrm>
        <a:off x="1487514" y="870571"/>
        <a:ext cx="2472052" cy="2602992"/>
      </dsp:txXfrm>
    </dsp:sp>
    <dsp:sp modelId="{D191FD07-B7C5-4415-B43B-0C8822722633}">
      <dsp:nvSpPr>
        <dsp:cNvPr id="0" name=""/>
        <dsp:cNvSpPr/>
      </dsp:nvSpPr>
      <dsp:spPr>
        <a:xfrm>
          <a:off x="4339882" y="870571"/>
          <a:ext cx="2472052" cy="2602992"/>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kern="1200" dirty="0">
              <a:solidFill>
                <a:schemeClr val="bg1"/>
              </a:solidFill>
            </a:rPr>
            <a:t>Message present but obfuscated</a:t>
          </a:r>
        </a:p>
      </dsp:txBody>
      <dsp:txXfrm>
        <a:off x="4339882" y="870571"/>
        <a:ext cx="2472052" cy="2602992"/>
      </dsp:txXfrm>
    </dsp:sp>
    <dsp:sp modelId="{A4328FB0-6C81-4C47-A801-4040D8A98755}">
      <dsp:nvSpPr>
        <dsp:cNvPr id="0" name=""/>
        <dsp:cNvSpPr/>
      </dsp:nvSpPr>
      <dsp:spPr>
        <a:xfrm rot="16200000">
          <a:off x="-851389" y="1045924"/>
          <a:ext cx="3346704" cy="950789"/>
        </a:xfrm>
        <a:prstGeom prst="rightArrow">
          <a:avLst>
            <a:gd name="adj1" fmla="val 49830"/>
            <a:gd name="adj2" fmla="val 6066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r" defTabSz="933450">
            <a:lnSpc>
              <a:spcPct val="90000"/>
            </a:lnSpc>
            <a:spcBef>
              <a:spcPct val="0"/>
            </a:spcBef>
            <a:spcAft>
              <a:spcPct val="35000"/>
            </a:spcAft>
            <a:buNone/>
          </a:pPr>
          <a:r>
            <a:rPr lang="en-US" sz="2100" kern="1200" dirty="0"/>
            <a:t>Steganography</a:t>
          </a:r>
        </a:p>
      </dsp:txBody>
      <dsp:txXfrm>
        <a:off x="-707692" y="1428126"/>
        <a:ext cx="3059310" cy="473779"/>
      </dsp:txXfrm>
    </dsp:sp>
    <dsp:sp modelId="{EAAAA7A4-2D04-49D8-8E22-E8BB2D0D92C8}">
      <dsp:nvSpPr>
        <dsp:cNvPr id="0" name=""/>
        <dsp:cNvSpPr/>
      </dsp:nvSpPr>
      <dsp:spPr>
        <a:xfrm rot="5400000">
          <a:off x="5500070" y="2347420"/>
          <a:ext cx="3954833" cy="950789"/>
        </a:xfrm>
        <a:prstGeom prst="rightArrow">
          <a:avLst>
            <a:gd name="adj1" fmla="val 49830"/>
            <a:gd name="adj2" fmla="val 6066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r" defTabSz="933450">
            <a:lnSpc>
              <a:spcPct val="90000"/>
            </a:lnSpc>
            <a:spcBef>
              <a:spcPct val="0"/>
            </a:spcBef>
            <a:spcAft>
              <a:spcPct val="35000"/>
            </a:spcAft>
            <a:buNone/>
          </a:pPr>
          <a:r>
            <a:rPr lang="en-US" sz="2100" kern="1200" dirty="0"/>
            <a:t>Encryption/Cryptography</a:t>
          </a:r>
        </a:p>
      </dsp:txBody>
      <dsp:txXfrm>
        <a:off x="5643767" y="2442228"/>
        <a:ext cx="3667439" cy="47377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9B7F45-36CC-4CFC-9CDE-ADBF4D449C4D}">
      <dsp:nvSpPr>
        <dsp:cNvPr id="0" name=""/>
        <dsp:cNvSpPr/>
      </dsp:nvSpPr>
      <dsp:spPr>
        <a:xfrm>
          <a:off x="3206313" y="406"/>
          <a:ext cx="4809471" cy="1586255"/>
        </a:xfrm>
        <a:prstGeom prst="rightArrow">
          <a:avLst>
            <a:gd name="adj1" fmla="val 75000"/>
            <a:gd name="adj2" fmla="val 5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8415" tIns="18415" rIns="18415" bIns="18415" numCol="1" spcCol="1270" anchor="t" anchorCtr="0">
          <a:noAutofit/>
        </a:bodyPr>
        <a:lstStyle/>
        <a:p>
          <a:pPr marL="285750" lvl="1" indent="-285750" algn="l" defTabSz="1289050">
            <a:lnSpc>
              <a:spcPct val="90000"/>
            </a:lnSpc>
            <a:spcBef>
              <a:spcPct val="0"/>
            </a:spcBef>
            <a:spcAft>
              <a:spcPct val="15000"/>
            </a:spcAft>
            <a:buChar char="•"/>
          </a:pPr>
          <a:r>
            <a:rPr lang="en-US" sz="2900" kern="1200" dirty="0"/>
            <a:t>Encrypts data in groups of bits, also known as blocks</a:t>
          </a:r>
        </a:p>
      </dsp:txBody>
      <dsp:txXfrm>
        <a:off x="3206313" y="198688"/>
        <a:ext cx="4214625" cy="1189691"/>
      </dsp:txXfrm>
    </dsp:sp>
    <dsp:sp modelId="{54E6DEC3-BE23-4206-BAA7-0DCA21F42DE7}">
      <dsp:nvSpPr>
        <dsp:cNvPr id="0" name=""/>
        <dsp:cNvSpPr/>
      </dsp:nvSpPr>
      <dsp:spPr>
        <a:xfrm>
          <a:off x="0" y="406"/>
          <a:ext cx="3206314" cy="158625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070" tIns="89535" rIns="179070" bIns="89535" numCol="1" spcCol="1270" anchor="ctr" anchorCtr="0">
          <a:noAutofit/>
        </a:bodyPr>
        <a:lstStyle/>
        <a:p>
          <a:pPr marL="0" lvl="0" indent="0" algn="ctr" defTabSz="2089150">
            <a:lnSpc>
              <a:spcPct val="90000"/>
            </a:lnSpc>
            <a:spcBef>
              <a:spcPct val="0"/>
            </a:spcBef>
            <a:spcAft>
              <a:spcPct val="35000"/>
            </a:spcAft>
            <a:buNone/>
          </a:pPr>
          <a:r>
            <a:rPr lang="en-US" sz="4700" kern="1200" dirty="0"/>
            <a:t>Block cipher</a:t>
          </a:r>
        </a:p>
      </dsp:txBody>
      <dsp:txXfrm>
        <a:off x="77435" y="77841"/>
        <a:ext cx="3051444" cy="1431385"/>
      </dsp:txXfrm>
    </dsp:sp>
    <dsp:sp modelId="{4651EFDB-D8FD-4220-9BC6-BFA585E27F03}">
      <dsp:nvSpPr>
        <dsp:cNvPr id="0" name=""/>
        <dsp:cNvSpPr/>
      </dsp:nvSpPr>
      <dsp:spPr>
        <a:xfrm>
          <a:off x="3206313" y="1745287"/>
          <a:ext cx="4809471" cy="1586255"/>
        </a:xfrm>
        <a:prstGeom prst="rightArrow">
          <a:avLst>
            <a:gd name="adj1" fmla="val 75000"/>
            <a:gd name="adj2" fmla="val 5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8415" tIns="18415" rIns="18415" bIns="18415" numCol="1" spcCol="1270" anchor="t" anchorCtr="0">
          <a:noAutofit/>
        </a:bodyPr>
        <a:lstStyle/>
        <a:p>
          <a:pPr marL="285750" lvl="1" indent="-285750" algn="l" defTabSz="1289050">
            <a:lnSpc>
              <a:spcPct val="90000"/>
            </a:lnSpc>
            <a:spcBef>
              <a:spcPct val="0"/>
            </a:spcBef>
            <a:spcAft>
              <a:spcPct val="15000"/>
            </a:spcAft>
            <a:buChar char="•"/>
          </a:pPr>
          <a:r>
            <a:rPr lang="en-US" sz="2900" kern="1200" dirty="0"/>
            <a:t>Encrypt data as a stream, one bit at a time</a:t>
          </a:r>
        </a:p>
      </dsp:txBody>
      <dsp:txXfrm>
        <a:off x="3206313" y="1943569"/>
        <a:ext cx="4214625" cy="1189691"/>
      </dsp:txXfrm>
    </dsp:sp>
    <dsp:sp modelId="{3210B697-B012-458E-A8BD-7C467B94461F}">
      <dsp:nvSpPr>
        <dsp:cNvPr id="0" name=""/>
        <dsp:cNvSpPr/>
      </dsp:nvSpPr>
      <dsp:spPr>
        <a:xfrm>
          <a:off x="0" y="1745287"/>
          <a:ext cx="3206314" cy="158625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070" tIns="89535" rIns="179070" bIns="89535" numCol="1" spcCol="1270" anchor="ctr" anchorCtr="0">
          <a:noAutofit/>
        </a:bodyPr>
        <a:lstStyle/>
        <a:p>
          <a:pPr marL="0" lvl="0" indent="0" algn="ctr" defTabSz="2089150">
            <a:lnSpc>
              <a:spcPct val="90000"/>
            </a:lnSpc>
            <a:spcBef>
              <a:spcPct val="0"/>
            </a:spcBef>
            <a:spcAft>
              <a:spcPct val="35000"/>
            </a:spcAft>
            <a:buNone/>
          </a:pPr>
          <a:r>
            <a:rPr lang="en-US" sz="4700" kern="1200" dirty="0"/>
            <a:t>Stream cipher</a:t>
          </a:r>
        </a:p>
      </dsp:txBody>
      <dsp:txXfrm>
        <a:off x="77435" y="1822722"/>
        <a:ext cx="3051444" cy="143138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9F944F-C4BB-4738-B511-4A606F4C73A2}">
      <dsp:nvSpPr>
        <dsp:cNvPr id="0" name=""/>
        <dsp:cNvSpPr/>
      </dsp:nvSpPr>
      <dsp:spPr>
        <a:xfrm rot="5400000">
          <a:off x="828005" y="1050019"/>
          <a:ext cx="922145" cy="1049829"/>
        </a:xfrm>
        <a:prstGeom prst="bentUpArrow">
          <a:avLst>
            <a:gd name="adj1" fmla="val 32840"/>
            <a:gd name="adj2" fmla="val 25000"/>
            <a:gd name="adj3" fmla="val 3578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95DBED6-996F-4771-B887-1DDEA1BBFD99}">
      <dsp:nvSpPr>
        <dsp:cNvPr id="0" name=""/>
        <dsp:cNvSpPr/>
      </dsp:nvSpPr>
      <dsp:spPr>
        <a:xfrm>
          <a:off x="583693" y="27802"/>
          <a:ext cx="1552349" cy="1086594"/>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Key expansion</a:t>
          </a:r>
        </a:p>
      </dsp:txBody>
      <dsp:txXfrm>
        <a:off x="636746" y="80855"/>
        <a:ext cx="1446243" cy="980488"/>
      </dsp:txXfrm>
    </dsp:sp>
    <dsp:sp modelId="{5DC89722-AD22-4B45-A089-C51FB4E56888}">
      <dsp:nvSpPr>
        <dsp:cNvPr id="0" name=""/>
        <dsp:cNvSpPr/>
      </dsp:nvSpPr>
      <dsp:spPr>
        <a:xfrm>
          <a:off x="2136042" y="131434"/>
          <a:ext cx="1129031" cy="878233"/>
        </a:xfrm>
        <a:prstGeom prst="rect">
          <a:avLst/>
        </a:prstGeom>
        <a:noFill/>
        <a:ln>
          <a:noFill/>
        </a:ln>
        <a:effectLst/>
      </dsp:spPr>
      <dsp:style>
        <a:lnRef idx="0">
          <a:scrgbClr r="0" g="0" b="0"/>
        </a:lnRef>
        <a:fillRef idx="0">
          <a:scrgbClr r="0" g="0" b="0"/>
        </a:fillRef>
        <a:effectRef idx="0">
          <a:scrgbClr r="0" g="0" b="0"/>
        </a:effectRef>
        <a:fontRef idx="minor"/>
      </dsp:style>
    </dsp:sp>
    <dsp:sp modelId="{825E753B-CF89-415A-B121-C9C8621709C2}">
      <dsp:nvSpPr>
        <dsp:cNvPr id="0" name=""/>
        <dsp:cNvSpPr/>
      </dsp:nvSpPr>
      <dsp:spPr>
        <a:xfrm rot="5400000">
          <a:off x="2115068" y="2270623"/>
          <a:ext cx="922145" cy="1049829"/>
        </a:xfrm>
        <a:prstGeom prst="bentUpArrow">
          <a:avLst>
            <a:gd name="adj1" fmla="val 32840"/>
            <a:gd name="adj2" fmla="val 25000"/>
            <a:gd name="adj3" fmla="val 3578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DCC8571-6B43-4B84-9D38-FF80E74C4A9C}">
      <dsp:nvSpPr>
        <dsp:cNvPr id="0" name=""/>
        <dsp:cNvSpPr/>
      </dsp:nvSpPr>
      <dsp:spPr>
        <a:xfrm>
          <a:off x="1870755" y="1248406"/>
          <a:ext cx="1552349" cy="1086594"/>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Initial round</a:t>
          </a:r>
        </a:p>
      </dsp:txBody>
      <dsp:txXfrm>
        <a:off x="1923808" y="1301459"/>
        <a:ext cx="1446243" cy="980488"/>
      </dsp:txXfrm>
    </dsp:sp>
    <dsp:sp modelId="{7A529C24-6C15-4AE1-BBC3-8850AED1B329}">
      <dsp:nvSpPr>
        <dsp:cNvPr id="0" name=""/>
        <dsp:cNvSpPr/>
      </dsp:nvSpPr>
      <dsp:spPr>
        <a:xfrm>
          <a:off x="3434756" y="1311095"/>
          <a:ext cx="2934464" cy="8782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AddRoundKey</a:t>
          </a:r>
        </a:p>
      </dsp:txBody>
      <dsp:txXfrm>
        <a:off x="3434756" y="1311095"/>
        <a:ext cx="2934464" cy="878233"/>
      </dsp:txXfrm>
    </dsp:sp>
    <dsp:sp modelId="{8A2046CE-8A0A-4267-BC69-BD8BAA2AC7E2}">
      <dsp:nvSpPr>
        <dsp:cNvPr id="0" name=""/>
        <dsp:cNvSpPr/>
      </dsp:nvSpPr>
      <dsp:spPr>
        <a:xfrm rot="5400000">
          <a:off x="3402130" y="3491227"/>
          <a:ext cx="922145" cy="1049829"/>
        </a:xfrm>
        <a:prstGeom prst="bentUpArrow">
          <a:avLst>
            <a:gd name="adj1" fmla="val 32840"/>
            <a:gd name="adj2" fmla="val 25000"/>
            <a:gd name="adj3" fmla="val 3578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12DEE7B-4E26-47D9-A947-E8097DD8ECA7}">
      <dsp:nvSpPr>
        <dsp:cNvPr id="0" name=""/>
        <dsp:cNvSpPr/>
      </dsp:nvSpPr>
      <dsp:spPr>
        <a:xfrm>
          <a:off x="3157818" y="2469010"/>
          <a:ext cx="1552349" cy="1086594"/>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Rounds</a:t>
          </a:r>
        </a:p>
      </dsp:txBody>
      <dsp:txXfrm>
        <a:off x="3210871" y="2522063"/>
        <a:ext cx="1446243" cy="980488"/>
      </dsp:txXfrm>
    </dsp:sp>
    <dsp:sp modelId="{270315DF-FF62-40C0-82D1-91D16EFD88BD}">
      <dsp:nvSpPr>
        <dsp:cNvPr id="0" name=""/>
        <dsp:cNvSpPr/>
      </dsp:nvSpPr>
      <dsp:spPr>
        <a:xfrm>
          <a:off x="4698730" y="2531699"/>
          <a:ext cx="2789632" cy="8782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SubBytes</a:t>
          </a:r>
        </a:p>
        <a:p>
          <a:pPr marL="171450" lvl="1" indent="-171450" algn="l" defTabSz="800100">
            <a:lnSpc>
              <a:spcPct val="90000"/>
            </a:lnSpc>
            <a:spcBef>
              <a:spcPct val="0"/>
            </a:spcBef>
            <a:spcAft>
              <a:spcPct val="15000"/>
            </a:spcAft>
            <a:buChar char="•"/>
          </a:pPr>
          <a:r>
            <a:rPr lang="en-US" sz="1800" kern="1200" dirty="0"/>
            <a:t>ShiftRows</a:t>
          </a:r>
        </a:p>
        <a:p>
          <a:pPr marL="171450" lvl="1" indent="-171450" algn="l" defTabSz="800100">
            <a:lnSpc>
              <a:spcPct val="90000"/>
            </a:lnSpc>
            <a:spcBef>
              <a:spcPct val="0"/>
            </a:spcBef>
            <a:spcAft>
              <a:spcPct val="15000"/>
            </a:spcAft>
            <a:buChar char="•"/>
          </a:pPr>
          <a:r>
            <a:rPr lang="en-US" sz="1800" kern="1200" dirty="0"/>
            <a:t>MixColumns</a:t>
          </a:r>
        </a:p>
        <a:p>
          <a:pPr marL="171450" lvl="1" indent="-171450" algn="l" defTabSz="800100">
            <a:lnSpc>
              <a:spcPct val="90000"/>
            </a:lnSpc>
            <a:spcBef>
              <a:spcPct val="0"/>
            </a:spcBef>
            <a:spcAft>
              <a:spcPct val="15000"/>
            </a:spcAft>
            <a:buChar char="•"/>
          </a:pPr>
          <a:r>
            <a:rPr lang="en-US" sz="1800" kern="1200" dirty="0"/>
            <a:t>AddRoundKey</a:t>
          </a:r>
        </a:p>
      </dsp:txBody>
      <dsp:txXfrm>
        <a:off x="4698730" y="2531699"/>
        <a:ext cx="2789632" cy="878233"/>
      </dsp:txXfrm>
    </dsp:sp>
    <dsp:sp modelId="{F50C0DB1-AC5D-4BAC-A77B-5FFAD60F54B6}">
      <dsp:nvSpPr>
        <dsp:cNvPr id="0" name=""/>
        <dsp:cNvSpPr/>
      </dsp:nvSpPr>
      <dsp:spPr>
        <a:xfrm>
          <a:off x="4444881" y="3689614"/>
          <a:ext cx="1552349" cy="1086594"/>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Final round</a:t>
          </a:r>
        </a:p>
      </dsp:txBody>
      <dsp:txXfrm>
        <a:off x="4497934" y="3742667"/>
        <a:ext cx="1446243" cy="980488"/>
      </dsp:txXfrm>
    </dsp:sp>
    <dsp:sp modelId="{C32865CC-2FC1-4AB4-94BB-99D4A1D71632}">
      <dsp:nvSpPr>
        <dsp:cNvPr id="0" name=""/>
        <dsp:cNvSpPr/>
      </dsp:nvSpPr>
      <dsp:spPr>
        <a:xfrm>
          <a:off x="6058345" y="3725841"/>
          <a:ext cx="1825801" cy="10130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SubBytes</a:t>
          </a:r>
        </a:p>
        <a:p>
          <a:pPr marL="171450" lvl="1" indent="-171450" algn="l" defTabSz="800100">
            <a:lnSpc>
              <a:spcPct val="90000"/>
            </a:lnSpc>
            <a:spcBef>
              <a:spcPct val="0"/>
            </a:spcBef>
            <a:spcAft>
              <a:spcPct val="15000"/>
            </a:spcAft>
            <a:buChar char="•"/>
          </a:pPr>
          <a:r>
            <a:rPr lang="en-US" sz="1800" kern="1200" dirty="0"/>
            <a:t>ShiftRows</a:t>
          </a:r>
        </a:p>
        <a:p>
          <a:pPr marL="171450" lvl="1" indent="-171450" algn="l" defTabSz="800100">
            <a:lnSpc>
              <a:spcPct val="90000"/>
            </a:lnSpc>
            <a:spcBef>
              <a:spcPct val="0"/>
            </a:spcBef>
            <a:spcAft>
              <a:spcPct val="15000"/>
            </a:spcAft>
            <a:buChar char="•"/>
          </a:pPr>
          <a:r>
            <a:rPr lang="en-US" sz="1800" kern="1200" dirty="0"/>
            <a:t>AddRoundKey</a:t>
          </a:r>
        </a:p>
      </dsp:txBody>
      <dsp:txXfrm>
        <a:off x="6058345" y="3725841"/>
        <a:ext cx="1825801" cy="101304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A0C6D8-7ABC-4C44-B523-A3A70C375968}">
      <dsp:nvSpPr>
        <dsp:cNvPr id="0" name=""/>
        <dsp:cNvSpPr/>
      </dsp:nvSpPr>
      <dsp:spPr>
        <a:xfrm>
          <a:off x="-5255288" y="-804890"/>
          <a:ext cx="6257980" cy="6257980"/>
        </a:xfrm>
        <a:prstGeom prst="blockArc">
          <a:avLst>
            <a:gd name="adj1" fmla="val 18900000"/>
            <a:gd name="adj2" fmla="val 2700000"/>
            <a:gd name="adj3" fmla="val 345"/>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37B04B9-8A41-4306-BFCA-54A43D6D7BB8}">
      <dsp:nvSpPr>
        <dsp:cNvPr id="0" name=""/>
        <dsp:cNvSpPr/>
      </dsp:nvSpPr>
      <dsp:spPr>
        <a:xfrm>
          <a:off x="524978" y="357353"/>
          <a:ext cx="7710058" cy="71507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7594" tIns="99060" rIns="99060" bIns="99060" numCol="1" spcCol="1270" anchor="ctr" anchorCtr="0">
          <a:noAutofit/>
        </a:bodyPr>
        <a:lstStyle/>
        <a:p>
          <a:pPr marL="0" lvl="0" indent="0" algn="l" defTabSz="1733550">
            <a:lnSpc>
              <a:spcPct val="90000"/>
            </a:lnSpc>
            <a:spcBef>
              <a:spcPct val="0"/>
            </a:spcBef>
            <a:spcAft>
              <a:spcPct val="35000"/>
            </a:spcAft>
            <a:buNone/>
          </a:pPr>
          <a:r>
            <a:rPr lang="en-US" sz="3900" kern="1200" dirty="0"/>
            <a:t>Known plaintext attack</a:t>
          </a:r>
        </a:p>
      </dsp:txBody>
      <dsp:txXfrm>
        <a:off x="524978" y="357353"/>
        <a:ext cx="7710058" cy="715079"/>
      </dsp:txXfrm>
    </dsp:sp>
    <dsp:sp modelId="{5E54E6C1-1912-4B9B-A920-C077416F4A67}">
      <dsp:nvSpPr>
        <dsp:cNvPr id="0" name=""/>
        <dsp:cNvSpPr/>
      </dsp:nvSpPr>
      <dsp:spPr>
        <a:xfrm>
          <a:off x="78053" y="267968"/>
          <a:ext cx="893848" cy="893848"/>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899F784-E98F-4F66-B76B-4A9DFDCBFF0B}">
      <dsp:nvSpPr>
        <dsp:cNvPr id="0" name=""/>
        <dsp:cNvSpPr/>
      </dsp:nvSpPr>
      <dsp:spPr>
        <a:xfrm>
          <a:off x="934949" y="1430158"/>
          <a:ext cx="7300087" cy="71507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7594" tIns="99060" rIns="99060" bIns="99060" numCol="1" spcCol="1270" anchor="ctr" anchorCtr="0">
          <a:noAutofit/>
        </a:bodyPr>
        <a:lstStyle/>
        <a:p>
          <a:pPr marL="0" lvl="0" indent="0" algn="l" defTabSz="1733550">
            <a:lnSpc>
              <a:spcPct val="90000"/>
            </a:lnSpc>
            <a:spcBef>
              <a:spcPct val="0"/>
            </a:spcBef>
            <a:spcAft>
              <a:spcPct val="35000"/>
            </a:spcAft>
            <a:buNone/>
          </a:pPr>
          <a:r>
            <a:rPr lang="en-US" sz="3900" kern="1200" dirty="0"/>
            <a:t>Chosen plaintext attack</a:t>
          </a:r>
        </a:p>
      </dsp:txBody>
      <dsp:txXfrm>
        <a:off x="934949" y="1430158"/>
        <a:ext cx="7300087" cy="715079"/>
      </dsp:txXfrm>
    </dsp:sp>
    <dsp:sp modelId="{7DF10AE4-7686-425E-8D8B-838BE5D88C73}">
      <dsp:nvSpPr>
        <dsp:cNvPr id="0" name=""/>
        <dsp:cNvSpPr/>
      </dsp:nvSpPr>
      <dsp:spPr>
        <a:xfrm>
          <a:off x="488025" y="1340773"/>
          <a:ext cx="893848" cy="893848"/>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69D1702-A160-4334-AE38-0D2EDE2FE1F6}">
      <dsp:nvSpPr>
        <dsp:cNvPr id="0" name=""/>
        <dsp:cNvSpPr/>
      </dsp:nvSpPr>
      <dsp:spPr>
        <a:xfrm>
          <a:off x="934949" y="2502962"/>
          <a:ext cx="7300087" cy="71507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7594" tIns="99060" rIns="99060" bIns="99060" numCol="1" spcCol="1270" anchor="ctr" anchorCtr="0">
          <a:noAutofit/>
        </a:bodyPr>
        <a:lstStyle/>
        <a:p>
          <a:pPr marL="0" lvl="0" indent="0" algn="l" defTabSz="1733550">
            <a:lnSpc>
              <a:spcPct val="90000"/>
            </a:lnSpc>
            <a:spcBef>
              <a:spcPct val="0"/>
            </a:spcBef>
            <a:spcAft>
              <a:spcPct val="35000"/>
            </a:spcAft>
            <a:buNone/>
          </a:pPr>
          <a:r>
            <a:rPr lang="en-US" sz="3900" kern="1200" dirty="0"/>
            <a:t>Ciphertext-only</a:t>
          </a:r>
        </a:p>
      </dsp:txBody>
      <dsp:txXfrm>
        <a:off x="934949" y="2502962"/>
        <a:ext cx="7300087" cy="715079"/>
      </dsp:txXfrm>
    </dsp:sp>
    <dsp:sp modelId="{0A72160D-5FE2-4916-BC8F-1C75E38003C7}">
      <dsp:nvSpPr>
        <dsp:cNvPr id="0" name=""/>
        <dsp:cNvSpPr/>
      </dsp:nvSpPr>
      <dsp:spPr>
        <a:xfrm>
          <a:off x="488025" y="2413577"/>
          <a:ext cx="893848" cy="893848"/>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73CDDAD-36B4-468A-9F82-29CF0B92AF15}">
      <dsp:nvSpPr>
        <dsp:cNvPr id="0" name=""/>
        <dsp:cNvSpPr/>
      </dsp:nvSpPr>
      <dsp:spPr>
        <a:xfrm>
          <a:off x="524978" y="3575767"/>
          <a:ext cx="7710058" cy="71507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7594" tIns="99060" rIns="99060" bIns="99060" numCol="1" spcCol="1270" anchor="ctr" anchorCtr="0">
          <a:noAutofit/>
        </a:bodyPr>
        <a:lstStyle/>
        <a:p>
          <a:pPr marL="0" lvl="0" indent="0" algn="l" defTabSz="1733550">
            <a:lnSpc>
              <a:spcPct val="90000"/>
            </a:lnSpc>
            <a:spcBef>
              <a:spcPct val="0"/>
            </a:spcBef>
            <a:spcAft>
              <a:spcPct val="35000"/>
            </a:spcAft>
            <a:buNone/>
          </a:pPr>
          <a:r>
            <a:rPr lang="en-US" sz="3900" kern="1200" dirty="0"/>
            <a:t>Related-key attack</a:t>
          </a:r>
        </a:p>
      </dsp:txBody>
      <dsp:txXfrm>
        <a:off x="524978" y="3575767"/>
        <a:ext cx="7710058" cy="715079"/>
      </dsp:txXfrm>
    </dsp:sp>
    <dsp:sp modelId="{F24FC899-8467-4DFC-84BD-5BC2C7A07D14}">
      <dsp:nvSpPr>
        <dsp:cNvPr id="0" name=""/>
        <dsp:cNvSpPr/>
      </dsp:nvSpPr>
      <dsp:spPr>
        <a:xfrm>
          <a:off x="78053" y="3486382"/>
          <a:ext cx="893848" cy="893848"/>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9/3/layout/OpposingIdeas">
  <dgm:title val=""/>
  <dgm:desc val=""/>
  <dgm:catLst>
    <dgm:cat type="relationship" pri="3400"/>
  </dgm:catLst>
  <dgm:sampData>
    <dgm:dataModel>
      <dgm:ptLst>
        <dgm:pt modelId="0" type="doc"/>
        <dgm:pt modelId="10">
          <dgm:prSet phldr="1"/>
        </dgm:pt>
        <dgm:pt modelId="11">
          <dgm:prSet phldr="1"/>
        </dgm:pt>
        <dgm:pt modelId="20">
          <dgm:prSet phldr="1"/>
        </dgm:pt>
        <dgm:pt modelId="21">
          <dgm:prSet phldr="1"/>
        </dgm:pt>
      </dgm:ptLst>
      <dgm:cxnLst>
        <dgm:cxn modelId="30" srcId="0" destId="10" srcOrd="0" destOrd="0"/>
        <dgm:cxn modelId="12" srcId="10" destId="11" srcOrd="0" destOrd="0"/>
        <dgm:cxn modelId="40" srcId="0" destId="20" srcOrd="1" destOrd="0"/>
        <dgm:cxn modelId="22" srcId="20" destId="2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30" srcId="0" destId="10" srcOrd="0" destOrd="0"/>
        <dgm:cxn modelId="12" srcId="10" destId="11" srcOrd="0" destOrd="0"/>
        <dgm:cxn modelId="4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Lst>
      <dgm:cxnLst>
        <dgm:cxn modelId="30" srcId="0" destId="10" srcOrd="0" destOrd="0"/>
        <dgm:cxn modelId="12" srcId="10" destId="11" srcOrd="0" destOrd="0"/>
        <dgm:cxn modelId="40" srcId="0" destId="20" srcOrd="1" destOrd="0"/>
        <dgm:cxn modelId="22" srcId="20" destId="21" srcOrd="0" destOrd="0"/>
      </dgm:cxnLst>
      <dgm:bg/>
      <dgm:whole/>
    </dgm:dataModel>
  </dgm:clrData>
  <dgm:layoutNode name="Name0">
    <dgm:varLst>
      <dgm:chMax val="2"/>
      <dgm:dir/>
      <dgm:animOne val="branch"/>
      <dgm:animLvl val="lvl"/>
      <dgm:resizeHandles val="exact"/>
    </dgm:varLst>
    <dgm:choose name="Name1">
      <dgm:if name="Name2" axis="ch" ptType="node" func="cnt" op="lte" val="1">
        <dgm:alg type="composite">
          <dgm:param type="ar" val="0.9928"/>
        </dgm:alg>
      </dgm:if>
      <dgm:else name="Name3">
        <dgm:alg type="composite">
          <dgm:param type="ar" val="1.6364"/>
        </dgm:alg>
      </dgm:else>
    </dgm:choose>
    <dgm:shape xmlns:r="http://schemas.openxmlformats.org/officeDocument/2006/relationships" r:blip="">
      <dgm:adjLst/>
    </dgm:shape>
    <dgm:choose name="Name4">
      <dgm:if name="Name5" func="var" arg="dir" op="equ" val="norm">
        <dgm:choose name="Name6">
          <dgm:if name="Name7" axis="ch" ptType="node" func="cnt" op="lte" val="1">
            <dgm:constrLst>
              <dgm:constr type="primFontSz" for="des" forName="ParentText1" op="equ" val="65"/>
              <dgm:constr type="primFontSz" for="des" forName="ParentText2" refType="primFontSz" refFor="des" refForName="ParentText1" op="equ"/>
              <dgm:constr type="primFontSz" for="des" forName="ChildText1" op="equ" val="65"/>
              <dgm:constr type="primFontSz" for="des" forName="ChildText2" refType="primFontSz" refFor="des" refForName="ChildText1" op="equ"/>
              <dgm:constr type="l" for="ch" forName="ChildText1" refType="w" fact="0.2963"/>
              <dgm:constr type="t" for="ch" forName="ChildText1" refType="h" fact="0.2722"/>
              <dgm:constr type="w" for="ch" forName="ChildText1" refType="w" fact="0.6534"/>
              <dgm:constr type="h" for="ch" forName="ChildText1" refType="h" fact="0.6682"/>
              <dgm:constr type="l" for="ch" forName="Background" refType="w" fact="0.246"/>
              <dgm:constr type="t" for="ch" forName="Background" refType="h" fact="0.2125"/>
              <dgm:constr type="w" for="ch" forName="Background" refType="w" fact="0.754"/>
              <dgm:constr type="h" for="ch" forName="Background" refType="h" fact="0.7875"/>
              <dgm:constr type="l" for="ch" forName="ParentText1" refType="w" fact="0"/>
              <dgm:constr type="t" for="ch" forName="ParentText1" refType="h" fact="0"/>
              <dgm:constr type="w" for="ch" forName="ParentText1" refType="w" fact="0.234"/>
              <dgm:constr type="h" for="ch" forName="ParentText1" refType="h" fact="0.8713"/>
              <dgm:constr type="l" for="ch" forName="ParentShape1" refType="w" fact="0"/>
              <dgm:constr type="t" for="ch" forName="ParentShape1" refType="h" fact="0"/>
              <dgm:constr type="w" for="ch" forName="ParentShape1" refType="w" fact="0.234"/>
              <dgm:constr type="h" for="ch" forName="ParentShape1" refType="h" fact="0.8713"/>
            </dgm:constrLst>
          </dgm:if>
          <dgm:else name="Name8">
            <dgm:constrLst>
              <dgm:constr type="primFontSz" for="des" forName="ParentText1" op="equ" val="65"/>
              <dgm:constr type="primFontSz" for="des" forName="ParentText2" refType="primFontSz" refFor="des" refForName="ParentText1" op="equ"/>
              <dgm:constr type="primFontSz" for="des" forName="ChildText1" op="equ" val="65"/>
              <dgm:constr type="primFontSz" for="des" forName="ChildText2" refType="primFontSz" refFor="des" refForName="ChildText1" op="equ"/>
              <dgm:constr type="l" for="ch" forName="ChildText1" refType="w" fact="0.15"/>
              <dgm:constr type="t" for="ch" forName="ChildText1" refType="h" fact="0.22"/>
              <dgm:constr type="w" for="ch" forName="ChildText1" refType="w" fact="0.325"/>
              <dgm:constr type="h" for="ch" forName="ChildText1" refType="h" fact="0.56"/>
              <dgm:constr type="l" for="ch" forName="ChildText2" refType="w" fact="0.525"/>
              <dgm:constr type="t" for="ch" forName="ChildText2" refType="h" fact="0.22"/>
              <dgm:constr type="w" for="ch" forName="ChildText2" refType="w" fact="0.325"/>
              <dgm:constr type="h" for="ch" forName="ChildText2" refType="h" fact="0.56"/>
              <dgm:constr type="l" for="ch" forName="Background" refType="w" fact="0.125"/>
              <dgm:constr type="t" for="ch" forName="Background" refType="h" fact="0.17"/>
              <dgm:constr type="w" for="ch" forName="Background" refType="w" fact="0.75"/>
              <dgm:constr type="h" for="ch" forName="Background" refType="h" fact="0.66"/>
              <dgm:constr type="l" for="ch" forName="ParentText1" refType="w" fact="0"/>
              <dgm:constr type="t" for="ch" forName="ParentText1" refType="h" fact="0"/>
              <dgm:constr type="w" for="ch" forName="ParentText1" refType="w" fact="0.125"/>
              <dgm:constr type="h" for="ch" forName="ParentText1" refType="h" fact="0.72"/>
              <dgm:constr type="l" for="ch" forName="ParentShape1" refType="w" fact="0"/>
              <dgm:constr type="t" for="ch" forName="ParentShape1" refType="h" fact="0"/>
              <dgm:constr type="w" for="ch" forName="ParentShape1" refType="w" fact="0.125"/>
              <dgm:constr type="h" for="ch" forName="ParentShape1" refType="h" fact="0.72"/>
              <dgm:constr type="l" for="ch" forName="ParentText2" refType="w" fact="0.875"/>
              <dgm:constr type="t" for="ch" forName="ParentText2" refType="h" fact="0.28"/>
              <dgm:constr type="w" for="ch" forName="ParentText2" refType="w" fact="0.125"/>
              <dgm:constr type="h" for="ch" forName="ParentText2" refType="h" fact="0.72"/>
              <dgm:constr type="l" for="ch" forName="ParentShape2" refType="w" fact="0.875"/>
              <dgm:constr type="t" for="ch" forName="ParentShape2" refType="h" fact="0.28"/>
              <dgm:constr type="w" for="ch" forName="ParentShape2" refType="w" fact="0.125"/>
              <dgm:constr type="h" for="ch" forName="ParentShape2" refType="h" fact="0.72"/>
              <dgm:constr type="l" for="ch" forName="Divider" refType="w" fact="0.5"/>
              <dgm:constr type="t" for="ch" forName="Divider" refType="h" fact="0.24"/>
              <dgm:constr type="w" for="ch" forName="Divider" refType="w" fact="0.0001"/>
              <dgm:constr type="h" for="ch" forName="Divider" refType="h" fact="0.52"/>
            </dgm:constrLst>
          </dgm:else>
        </dgm:choose>
      </dgm:if>
      <dgm:else name="Name9">
        <dgm:choose name="Name10">
          <dgm:if name="Name11" axis="ch" ptType="node" func="cnt" op="lte" val="1">
            <dgm:constrLst>
              <dgm:constr type="primFontSz" for="des" forName="ParentText1" op="equ" val="65"/>
              <dgm:constr type="primFontSz" for="des" forName="ParentText2" refType="primFontSz" refFor="des" refForName="ParentText1" op="equ"/>
              <dgm:constr type="primFontSz" for="des" forName="ChildText1" op="equ" val="65"/>
              <dgm:constr type="primFontSz" for="des" forName="ChildText2" refType="primFontSz" refFor="des" refForName="ChildText1" op="equ"/>
              <dgm:constr type="r" for="ch" forName="ChildText1" refType="w" fact="-0.2455"/>
              <dgm:constr type="t" for="ch" forName="ChildText1" refType="h" fact="0.2651"/>
              <dgm:constr type="w" for="ch" forName="ChildText1" refType="w" fact="0.5351"/>
              <dgm:constr type="h" for="ch" forName="ChildText1" refType="h" fact="0.56"/>
              <dgm:constr type="r" for="ch" forName="Background" refType="w" fact="-0.246"/>
              <dgm:constr type="t" for="ch" forName="Background" refType="h" fact="0.2125"/>
              <dgm:constr type="w" for="ch" forName="Background" refType="w" fact="0.754"/>
              <dgm:constr type="h" for="ch" forName="Background" refType="h" fact="0.7875"/>
              <dgm:constr type="r" for="ch" forName="ParentText1" refType="w" fact="0"/>
              <dgm:constr type="t" for="ch" forName="ParentText1" refType="h" fact="0"/>
              <dgm:constr type="w" for="ch" forName="ParentText1" refType="w" fact="0.234"/>
              <dgm:constr type="h" for="ch" forName="ParentText1" refType="h" fact="0.8713"/>
              <dgm:constr type="r" for="ch" forName="ParentShape1" refType="w" fact="0"/>
              <dgm:constr type="t" for="ch" forName="ParentShape1" refType="h" fact="0"/>
              <dgm:constr type="w" for="ch" forName="ParentShape1" refType="w" fact="0.234"/>
              <dgm:constr type="h" for="ch" forName="ParentShape1" refType="h" fact="0.8713"/>
            </dgm:constrLst>
          </dgm:if>
          <dgm:else name="Name12">
            <dgm:constrLst>
              <dgm:constr type="primFontSz" for="des" forName="ParentText1" op="equ" val="65"/>
              <dgm:constr type="primFontSz" for="des" forName="ParentText2" refType="primFontSz" refFor="des" refForName="ParentText1" op="equ"/>
              <dgm:constr type="primFontSz" for="des" forName="ChildText1" op="equ" val="65"/>
              <dgm:constr type="primFontSz" for="des" forName="ChildText2" refType="primFontSz" refFor="des" refForName="ChildText1" op="equ"/>
              <dgm:constr type="r" for="ch" forName="ChildText1" refType="w" fact="-0.15"/>
              <dgm:constr type="t" for="ch" forName="ChildText1" refType="h" fact="0.22"/>
              <dgm:constr type="w" for="ch" forName="ChildText1" refType="w" fact="0.325"/>
              <dgm:constr type="h" for="ch" forName="ChildText1" refType="h" fact="0.56"/>
              <dgm:constr type="r" for="ch" forName="ChildText2" refType="w" fact="-0.525"/>
              <dgm:constr type="t" for="ch" forName="ChildText2" refType="h" fact="0.22"/>
              <dgm:constr type="w" for="ch" forName="ChildText2" refType="w" fact="0.325"/>
              <dgm:constr type="h" for="ch" forName="ChildText2" refType="h" fact="0.56"/>
              <dgm:constr type="r" for="ch" forName="Background" refType="w" fact="-0.125"/>
              <dgm:constr type="t" for="ch" forName="Background" refType="h" fact="0.17"/>
              <dgm:constr type="w" for="ch" forName="Background" refType="w" fact="0.75"/>
              <dgm:constr type="h" for="ch" forName="Background" refType="h" fact="0.66"/>
              <dgm:constr type="r" for="ch" forName="ParentText1" refType="w" fact="0"/>
              <dgm:constr type="t" for="ch" forName="ParentText1" refType="h" fact="0"/>
              <dgm:constr type="w" for="ch" forName="ParentText1" refType="w" fact="0.125"/>
              <dgm:constr type="h" for="ch" forName="ParentText1" refType="h" fact="0.72"/>
              <dgm:constr type="r" for="ch" forName="ParentShape1" refType="w" fact="0"/>
              <dgm:constr type="t" for="ch" forName="ParentShape1" refType="h" fact="0"/>
              <dgm:constr type="w" for="ch" forName="ParentShape1" refType="w" fact="0.125"/>
              <dgm:constr type="h" for="ch" forName="ParentShape1" refType="h" fact="0.72"/>
              <dgm:constr type="r" for="ch" forName="ParentText2" refType="w" fact="-0.875"/>
              <dgm:constr type="t" for="ch" forName="ParentText2" refType="h" fact="0.28"/>
              <dgm:constr type="w" for="ch" forName="ParentText2" refType="w" fact="0.125"/>
              <dgm:constr type="h" for="ch" forName="ParentText2" refType="h" fact="0.72"/>
              <dgm:constr type="r" for="ch" forName="ParentShape2" refType="w" fact="-0.875"/>
              <dgm:constr type="t" for="ch" forName="ParentShape2" refType="h" fact="0.28"/>
              <dgm:constr type="w" for="ch" forName="ParentShape2" refType="w" fact="0.125"/>
              <dgm:constr type="h" for="ch" forName="ParentShape2" refType="h" fact="0.72"/>
              <dgm:constr type="r" for="ch" forName="Divider" refType="w" fact="-0.5"/>
              <dgm:constr type="t" for="ch" forName="Divider" refType="h" fact="0.24"/>
              <dgm:constr type="w" for="ch" forName="Divider" refType="w" fact="0.0001"/>
              <dgm:constr type="h" for="ch" forName="Divider" refType="h" fact="0.52"/>
            </dgm:constrLst>
          </dgm:else>
        </dgm:choose>
      </dgm:else>
    </dgm:choose>
    <dgm:choose name="Name13">
      <dgm:if name="Name14" axis="ch" ptType="node" func="cnt" op="gte" val="1">
        <dgm:layoutNode name="Background" styleLbl="node1">
          <dgm:alg type="sp"/>
          <dgm:choose name="Name15">
            <dgm:if name="Name16" func="var" arg="dir" op="equ" val="norm">
              <dgm:shape xmlns:r="http://schemas.openxmlformats.org/officeDocument/2006/relationships" type="round2DiagRect" r:blip="">
                <dgm:adjLst>
                  <dgm:adj idx="1" val="0"/>
                  <dgm:adj idx="2" val="0.1667"/>
                </dgm:adjLst>
              </dgm:shape>
            </dgm:if>
            <dgm:else name="Name17">
              <dgm:shape xmlns:r="http://schemas.openxmlformats.org/officeDocument/2006/relationships" type="round2DiagRect" r:blip="">
                <dgm:adjLst>
                  <dgm:adj idx="1" val="0.1667"/>
                  <dgm:adj idx="2" val="0"/>
                </dgm:adjLst>
              </dgm:shape>
            </dgm:else>
          </dgm:choose>
          <dgm:presOf/>
        </dgm:layoutNode>
        <dgm:choose name="Name18">
          <dgm:if name="Name19" axis="ch" ptType="node" func="cnt" op="gte" val="2">
            <dgm:layoutNode name="Divider" styleLbl="callout">
              <dgm:alg type="sp"/>
              <dgm:shape xmlns:r="http://schemas.openxmlformats.org/officeDocument/2006/relationships" type="line" r:blip="">
                <dgm:adjLst/>
              </dgm:shape>
              <dgm:presOf/>
            </dgm:layoutNode>
          </dgm:if>
          <dgm:else name="Name20"/>
        </dgm:choose>
        <dgm:layoutNode name="ChildText1" styleLbl="revTx">
          <dgm:varLst>
            <dgm:chMax val="0"/>
            <dgm:chPref val="0"/>
            <dgm:bulletEnabled val="1"/>
          </dgm:varLst>
          <dgm:alg type="tx">
            <dgm:param type="parTxLTRAlign" val="l"/>
            <dgm:param type="txAnchorVert" val="t"/>
          </dgm:alg>
          <dgm:shape xmlns:r="http://schemas.openxmlformats.org/officeDocument/2006/relationships" type="rect" r:blip="" hideGeom="1">
            <dgm:adjLst/>
          </dgm:shape>
          <dgm:presOf axis="ch des"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21">
          <dgm:if name="Name22" axis="ch" ptType="node" func="cnt" op="gte" val="2">
            <dgm:layoutNode name="ChildText2" styleLbl="revTx">
              <dgm:varLst>
                <dgm:chMax val="0"/>
                <dgm:chPref val="0"/>
                <dgm:bulletEnabled val="1"/>
              </dgm:varLst>
              <dgm:alg type="tx">
                <dgm:param type="parTxLTRAlign" val="l"/>
                <dgm:param type="txAnchorVert" val="t"/>
              </dgm:alg>
              <dgm:shape xmlns:r="http://schemas.openxmlformats.org/officeDocument/2006/relationships" type="rect" r:blip="" hideGeom="1">
                <dgm:adjLst/>
              </dgm:shape>
              <dgm:presOf axis="ch des"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3"/>
        </dgm:choose>
        <dgm:layoutNode name="ParentText1" styleLbl="revTx">
          <dgm:varLst>
            <dgm:chMax val="1"/>
            <dgm:chPref val="1"/>
          </dgm:varLst>
          <dgm:choose name="Name24">
            <dgm:if name="Name25" func="var" arg="dir" op="equ" val="norm">
              <dgm:alg type="tx">
                <dgm:param type="parTxLTRAlign" val="r"/>
                <dgm:param type="shpTxLTRAlignCh" val="r"/>
                <dgm:param type="txAnchorVertCh" val="mid"/>
                <dgm:param type="autoTxRot" val="grav"/>
              </dgm:alg>
            </dgm:if>
            <dgm:else name="Name26">
              <dgm:alg type="tx">
                <dgm:param type="parTxLTRAlign" val="l"/>
                <dgm:param type="shpTxLTRAlignCh" val="r"/>
                <dgm:param type="txAnchorVertCh" val="mid"/>
                <dgm:param type="autoTxRot" val="grav"/>
              </dgm:alg>
            </dgm:else>
          </dgm:choose>
          <dgm:choose name="Name27">
            <dgm:if name="Name28" func="var" arg="dir" op="equ" val="norm">
              <dgm:shape xmlns:r="http://schemas.openxmlformats.org/officeDocument/2006/relationships" rot="-90" type="rightArrow" r:blip="" hideGeom="1">
                <dgm:adjLst>
                  <dgm:adj idx="1" val="0.4983"/>
                  <dgm:adj idx="2" val="0.6066"/>
                </dgm:adjLst>
              </dgm:shape>
            </dgm:if>
            <dgm:else name="Name29">
              <dgm:shape xmlns:r="http://schemas.openxmlformats.org/officeDocument/2006/relationships" rot="90" type="leftArrow" r:blip="" hideGeom="1">
                <dgm:adjLst>
                  <dgm:adj idx="1" val="0.4983"/>
                  <dgm:adj idx="2" val="0.6066"/>
                </dgm:adjLst>
              </dgm:shape>
            </dgm:else>
          </dgm:choose>
          <dgm:presOf axis="ch 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Shape1" styleLbl="alignImgPlace1">
          <dgm:varLst/>
          <dgm:alg type="sp"/>
          <dgm:presOf axis="ch self" ptType="node node" st="1 1" cnt="1 0"/>
          <dgm:choose name="Name30">
            <dgm:if name="Name31" func="var" arg="dir" op="equ" val="norm">
              <dgm:shape xmlns:r="http://schemas.openxmlformats.org/officeDocument/2006/relationships" rot="-90" type="rightArrow" r:blip="">
                <dgm:adjLst>
                  <dgm:adj idx="1" val="0.4983"/>
                  <dgm:adj idx="2" val="0.6066"/>
                </dgm:adjLst>
              </dgm:shape>
            </dgm:if>
            <dgm:else name="Name32">
              <dgm:shape xmlns:r="http://schemas.openxmlformats.org/officeDocument/2006/relationships" rot="90" type="leftArrow" r:blip="">
                <dgm:adjLst>
                  <dgm:adj idx="1" val="0.4983"/>
                  <dgm:adj idx="2" val="0.6066"/>
                </dgm:adjLst>
              </dgm:shape>
            </dgm:else>
          </dgm:choose>
        </dgm:layoutNode>
        <dgm:choose name="Name33">
          <dgm:if name="Name34" axis="ch" ptType="node" func="cnt" op="gte" val="2">
            <dgm:layoutNode name="ParentText2" styleLbl="revTx">
              <dgm:varLst>
                <dgm:chMax val="1"/>
                <dgm:chPref val="1"/>
              </dgm:varLst>
              <dgm:choose name="Name35">
                <dgm:if name="Name36" func="var" arg="dir" op="equ" val="norm">
                  <dgm:alg type="tx">
                    <dgm:param type="parTxLTRAlign" val="r"/>
                    <dgm:param type="shpTxLTRAlignCh" val="r"/>
                    <dgm:param type="txAnchorVertCh" val="mid"/>
                    <dgm:param type="autoTxRot" val="grav"/>
                  </dgm:alg>
                </dgm:if>
                <dgm:else name="Name37">
                  <dgm:alg type="tx">
                    <dgm:param type="parTxLTRAlign" val="l"/>
                    <dgm:param type="shpTxLTRAlignCh" val="r"/>
                    <dgm:param type="txAnchorVertCh" val="mid"/>
                    <dgm:param type="autoTxRot" val="grav"/>
                  </dgm:alg>
                </dgm:else>
              </dgm:choose>
              <dgm:choose name="Name38">
                <dgm:if name="Name39" func="var" arg="dir" op="equ" val="norm">
                  <dgm:shape xmlns:r="http://schemas.openxmlformats.org/officeDocument/2006/relationships" rot="90" type="rightArrow" r:blip="" hideGeom="1">
                    <dgm:adjLst>
                      <dgm:adj idx="1" val="0.4983"/>
                      <dgm:adj idx="2" val="0.6066"/>
                    </dgm:adjLst>
                  </dgm:shape>
                </dgm:if>
                <dgm:else name="Name40">
                  <dgm:shape xmlns:r="http://schemas.openxmlformats.org/officeDocument/2006/relationships" rot="-90" type="leftArrow" r:blip="" hideGeom="1">
                    <dgm:adjLst>
                      <dgm:adj idx="1" val="0.4983"/>
                      <dgm:adj idx="2" val="0.6066"/>
                    </dgm:adjLst>
                  </dgm:shape>
                </dgm:else>
              </dgm:choose>
              <dgm:presOf axis="ch 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Shape2" styleLbl="alignImgPlace1">
              <dgm:varLst/>
              <dgm:alg type="sp"/>
              <dgm:choose name="Name41">
                <dgm:if name="Name42" func="var" arg="dir" op="equ" val="norm">
                  <dgm:shape xmlns:r="http://schemas.openxmlformats.org/officeDocument/2006/relationships" rot="90" type="rightArrow" r:blip="">
                    <dgm:adjLst>
                      <dgm:adj idx="1" val="0.4983"/>
                      <dgm:adj idx="2" val="0.6066"/>
                    </dgm:adjLst>
                  </dgm:shape>
                </dgm:if>
                <dgm:else name="Name43">
                  <dgm:shape xmlns:r="http://schemas.openxmlformats.org/officeDocument/2006/relationships" rot="-90" type="leftArrow" r:blip="">
                    <dgm:adjLst>
                      <dgm:adj idx="1" val="0.4983"/>
                      <dgm:adj idx="2" val="0.6066"/>
                    </dgm:adjLst>
                  </dgm:shape>
                </dgm:else>
              </dgm:choose>
              <dgm:presOf axis="ch self" ptType="node node" st="2 1" cnt="1 0"/>
            </dgm:layoutNode>
          </dgm:if>
          <dgm:else name="Name44"/>
        </dgm:choose>
      </dgm:if>
      <dgm:else name="Name45"/>
    </dgm:choose>
  </dgm:layoutNode>
</dgm:layoutDef>
</file>

<file path=ppt/diagrams/layout4.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178" name="Rectangle 2"/>
          <p:cNvSpPr>
            <a:spLocks noGrp="1" noChangeArrowheads="1"/>
          </p:cNvSpPr>
          <p:nvPr>
            <p:ph type="hdr" sz="quarter"/>
          </p:nvPr>
        </p:nvSpPr>
        <p:spPr bwMode="auto">
          <a:xfrm>
            <a:off x="0"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defTabSz="931887" eaLnBrk="1" hangingPunct="1">
              <a:defRPr sz="1300">
                <a:latin typeface="Times New Roman" pitchFamily="18" charset="0"/>
              </a:defRPr>
            </a:lvl1pPr>
          </a:lstStyle>
          <a:p>
            <a:pPr>
              <a:defRPr/>
            </a:pPr>
            <a:endParaRPr lang="en-US" dirty="0"/>
          </a:p>
        </p:txBody>
      </p:sp>
      <p:sp>
        <p:nvSpPr>
          <p:cNvPr id="50179" name="Rectangle 3"/>
          <p:cNvSpPr>
            <a:spLocks noGrp="1" noChangeArrowheads="1"/>
          </p:cNvSpPr>
          <p:nvPr>
            <p:ph type="dt" sz="quarter" idx="1"/>
          </p:nvPr>
        </p:nvSpPr>
        <p:spPr bwMode="auto">
          <a:xfrm>
            <a:off x="3971925"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algn="r" defTabSz="931887" eaLnBrk="1" hangingPunct="1">
              <a:defRPr sz="1300">
                <a:latin typeface="Times New Roman" pitchFamily="18" charset="0"/>
              </a:defRPr>
            </a:lvl1pPr>
          </a:lstStyle>
          <a:p>
            <a:pPr>
              <a:defRPr/>
            </a:pPr>
            <a:fld id="{6AEA17E3-DFE8-4D7E-AB02-20493F910EC0}" type="datetime1">
              <a:rPr lang="en-US"/>
              <a:pPr>
                <a:defRPr/>
              </a:pPr>
              <a:t>7/2/2017</a:t>
            </a:fld>
            <a:endParaRPr lang="en-US" dirty="0"/>
          </a:p>
        </p:txBody>
      </p:sp>
      <p:sp>
        <p:nvSpPr>
          <p:cNvPr id="50181" name="Rectangle 5"/>
          <p:cNvSpPr>
            <a:spLocks noGrp="1" noChangeArrowheads="1"/>
          </p:cNvSpPr>
          <p:nvPr>
            <p:ph type="sldNum" sz="quarter" idx="3"/>
          </p:nvPr>
        </p:nvSpPr>
        <p:spPr bwMode="auto">
          <a:xfrm>
            <a:off x="3971925" y="8832850"/>
            <a:ext cx="3038475" cy="463550"/>
          </a:xfrm>
          <a:prstGeom prst="rect">
            <a:avLst/>
          </a:prstGeom>
          <a:noFill/>
          <a:ln w="9525">
            <a:noFill/>
            <a:miter lim="800000"/>
            <a:headEnd/>
            <a:tailEnd/>
          </a:ln>
          <a:effectLst/>
        </p:spPr>
        <p:txBody>
          <a:bodyPr vert="horz" wrap="square" lIns="93172" tIns="46586" rIns="93172" bIns="46586" numCol="1" anchor="b" anchorCtr="0" compatLnSpc="1">
            <a:prstTxWarp prst="textNoShape">
              <a:avLst/>
            </a:prstTxWarp>
          </a:bodyPr>
          <a:lstStyle>
            <a:lvl1pPr algn="r" defTabSz="931887" eaLnBrk="1" hangingPunct="1">
              <a:defRPr sz="1300">
                <a:latin typeface="Times New Roman" pitchFamily="18" charset="0"/>
              </a:defRPr>
            </a:lvl1pPr>
          </a:lstStyle>
          <a:p>
            <a:pPr>
              <a:defRPr/>
            </a:pPr>
            <a:fld id="{7EFA2FC2-A87F-4F0E-96CC-C5BC3673042B}" type="slidenum">
              <a:rPr lang="en-US"/>
              <a:pPr>
                <a:defRPr/>
              </a:pPr>
              <a:t>‹#›</a:t>
            </a:fld>
            <a:endParaRPr lang="en-US" dirty="0"/>
          </a:p>
        </p:txBody>
      </p:sp>
    </p:spTree>
    <p:extLst>
      <p:ext uri="{BB962C8B-B14F-4D97-AF65-F5344CB8AC3E}">
        <p14:creationId xmlns:p14="http://schemas.microsoft.com/office/powerpoint/2010/main" val="359341330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defTabSz="931887" eaLnBrk="1" hangingPunct="1">
              <a:defRPr sz="1300">
                <a:latin typeface="Times New Roman" pitchFamily="18" charset="0"/>
              </a:defRPr>
            </a:lvl1pPr>
          </a:lstStyle>
          <a:p>
            <a:pPr>
              <a:defRPr/>
            </a:pPr>
            <a:endParaRPr lang="en-US" dirty="0"/>
          </a:p>
        </p:txBody>
      </p:sp>
      <p:sp>
        <p:nvSpPr>
          <p:cNvPr id="6147" name="Rectangle 3"/>
          <p:cNvSpPr>
            <a:spLocks noGrp="1" noChangeArrowheads="1"/>
          </p:cNvSpPr>
          <p:nvPr>
            <p:ph type="dt" idx="1"/>
          </p:nvPr>
        </p:nvSpPr>
        <p:spPr bwMode="auto">
          <a:xfrm>
            <a:off x="3971925"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algn="r" defTabSz="931887" eaLnBrk="1" hangingPunct="1">
              <a:defRPr sz="1300">
                <a:latin typeface="Times New Roman" pitchFamily="18" charset="0"/>
              </a:defRPr>
            </a:lvl1pPr>
          </a:lstStyle>
          <a:p>
            <a:pPr>
              <a:defRPr/>
            </a:pPr>
            <a:fld id="{F41F46DE-F928-4FD3-A2CA-766FDDB51FBF}" type="datetime1">
              <a:rPr lang="en-US"/>
              <a:pPr>
                <a:defRPr/>
              </a:pPr>
              <a:t>7/2/2017</a:t>
            </a:fld>
            <a:endParaRPr lang="en-US" dirty="0"/>
          </a:p>
        </p:txBody>
      </p:sp>
      <p:sp>
        <p:nvSpPr>
          <p:cNvPr id="27652" name="Rectangle 4"/>
          <p:cNvSpPr>
            <a:spLocks noGrp="1" noRot="1" noChangeAspect="1" noChangeArrowheads="1" noTextEdit="1"/>
          </p:cNvSpPr>
          <p:nvPr>
            <p:ph type="sldImg" idx="2"/>
          </p:nvPr>
        </p:nvSpPr>
        <p:spPr bwMode="auto">
          <a:xfrm>
            <a:off x="1181100" y="698500"/>
            <a:ext cx="4648200" cy="3486150"/>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933450" y="4416425"/>
            <a:ext cx="5143500" cy="4181475"/>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1" name="Rectangle 7"/>
          <p:cNvSpPr>
            <a:spLocks noGrp="1" noChangeArrowheads="1"/>
          </p:cNvSpPr>
          <p:nvPr>
            <p:ph type="sldNum" sz="quarter" idx="5"/>
          </p:nvPr>
        </p:nvSpPr>
        <p:spPr bwMode="auto">
          <a:xfrm>
            <a:off x="3971925" y="8832850"/>
            <a:ext cx="3038475" cy="463550"/>
          </a:xfrm>
          <a:prstGeom prst="rect">
            <a:avLst/>
          </a:prstGeom>
          <a:noFill/>
          <a:ln w="9525">
            <a:noFill/>
            <a:miter lim="800000"/>
            <a:headEnd/>
            <a:tailEnd/>
          </a:ln>
          <a:effectLst/>
        </p:spPr>
        <p:txBody>
          <a:bodyPr vert="horz" wrap="square" lIns="93172" tIns="46586" rIns="93172" bIns="46586" numCol="1" anchor="b" anchorCtr="0" compatLnSpc="1">
            <a:prstTxWarp prst="textNoShape">
              <a:avLst/>
            </a:prstTxWarp>
          </a:bodyPr>
          <a:lstStyle>
            <a:lvl1pPr algn="r" defTabSz="931887" eaLnBrk="1" hangingPunct="1">
              <a:defRPr sz="1300">
                <a:latin typeface="Times New Roman" pitchFamily="18" charset="0"/>
              </a:defRPr>
            </a:lvl1pPr>
          </a:lstStyle>
          <a:p>
            <a:pPr>
              <a:defRPr/>
            </a:pPr>
            <a:fld id="{32CC2060-DD40-4C93-B7B4-6D7788221D76}" type="slidenum">
              <a:rPr lang="en-US"/>
              <a:pPr>
                <a:defRPr/>
              </a:pPr>
              <a:t>‹#›</a:t>
            </a:fld>
            <a:endParaRPr lang="en-US" dirty="0"/>
          </a:p>
        </p:txBody>
      </p:sp>
    </p:spTree>
    <p:extLst>
      <p:ext uri="{BB962C8B-B14F-4D97-AF65-F5344CB8AC3E}">
        <p14:creationId xmlns:p14="http://schemas.microsoft.com/office/powerpoint/2010/main" val="3508967510"/>
      </p:ext>
    </p:extLst>
  </p:cSld>
  <p:clrMap bg1="lt1" tx1="dk1" bg2="lt2" tx2="dk2" accent1="accent1" accent2="accent2" accent3="accent3" accent4="accent4" accent5="accent5" accent6="accent6" hlink="hlink" folHlink="folHlink"/>
  <p:hf hdr="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p>
            <a:pPr defTabSz="930275"/>
            <a:fld id="{BC51C31A-30C4-458D-AC0D-FEADBB0E9D8C}" type="slidenum">
              <a:rPr lang="en-US" smtClean="0">
                <a:ea typeface="MS PGothic" pitchFamily="34" charset="-128"/>
              </a:rPr>
              <a:pPr defTabSz="930275"/>
              <a:t>1</a:t>
            </a:fld>
            <a:endParaRPr lang="en-US" dirty="0">
              <a:ea typeface="MS PGothic" pitchFamily="34" charset="-128"/>
            </a:endParaRPr>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18661937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Rot="1" noChangeAspect="1" noChangeArrowheads="1" noTextEdit="1"/>
          </p:cNvSpPr>
          <p:nvPr>
            <p:ph type="sldImg"/>
          </p:nvPr>
        </p:nvSpPr>
        <p:spPr>
          <a:ln/>
        </p:spPr>
      </p:sp>
      <p:sp>
        <p:nvSpPr>
          <p:cNvPr id="29699"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6910932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Rot="1" noChangeAspect="1" noChangeArrowheads="1" noTextEdit="1"/>
          </p:cNvSpPr>
          <p:nvPr>
            <p:ph type="sldImg"/>
          </p:nvPr>
        </p:nvSpPr>
        <p:spPr>
          <a:ln/>
        </p:spPr>
      </p:sp>
      <p:sp>
        <p:nvSpPr>
          <p:cNvPr id="30723"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38180333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endParaRPr lang="en-US" dirty="0"/>
          </a:p>
        </p:txBody>
      </p:sp>
      <p:sp>
        <p:nvSpPr>
          <p:cNvPr id="33796" name="Date Placeholder 3"/>
          <p:cNvSpPr>
            <a:spLocks noGrp="1"/>
          </p:cNvSpPr>
          <p:nvPr>
            <p:ph type="dt" sz="quarter" idx="1"/>
          </p:nvPr>
        </p:nvSpPr>
        <p:spPr>
          <a:noFill/>
        </p:spPr>
        <p:txBody>
          <a:bodyPr/>
          <a:lstStyle/>
          <a:p>
            <a:pPr defTabSz="931863"/>
            <a:fld id="{42C039F9-CC0D-4672-AE23-0CDDC450DAC8}" type="datetime1">
              <a:rPr lang="en-US" smtClean="0"/>
              <a:pPr defTabSz="931863"/>
              <a:t>7/2/2017</a:t>
            </a:fld>
            <a:endParaRPr lang="en-US" dirty="0"/>
          </a:p>
        </p:txBody>
      </p:sp>
      <p:sp>
        <p:nvSpPr>
          <p:cNvPr id="33798" name="Slide Number Placeholder 5"/>
          <p:cNvSpPr>
            <a:spLocks noGrp="1"/>
          </p:cNvSpPr>
          <p:nvPr>
            <p:ph type="sldNum" sz="quarter" idx="5"/>
          </p:nvPr>
        </p:nvSpPr>
        <p:spPr>
          <a:noFill/>
        </p:spPr>
        <p:txBody>
          <a:bodyPr/>
          <a:lstStyle/>
          <a:p>
            <a:pPr defTabSz="931863"/>
            <a:fld id="{CE0702E3-C5AB-4A2E-B67C-891965ECD872}" type="slidenum">
              <a:rPr lang="en-US" smtClean="0"/>
              <a:pPr defTabSz="931863"/>
              <a:t>4</a:t>
            </a:fld>
            <a:endParaRPr lang="en-US" dirty="0"/>
          </a:p>
        </p:txBody>
      </p:sp>
    </p:spTree>
    <p:extLst>
      <p:ext uri="{BB962C8B-B14F-4D97-AF65-F5344CB8AC3E}">
        <p14:creationId xmlns:p14="http://schemas.microsoft.com/office/powerpoint/2010/main" val="360948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r>
              <a:rPr lang="en-US" sz="1200" b="0" i="0" u="none" strike="noStrike" kern="1200" baseline="0" dirty="0">
                <a:solidFill>
                  <a:schemeClr val="tx1"/>
                </a:solidFill>
                <a:latin typeface="Times New Roman" pitchFamily="18" charset="0"/>
                <a:ea typeface="+mn-ea"/>
                <a:cs typeface="+mn-cs"/>
              </a:rPr>
              <a:t>The LSB method depends on the fact that computers store things in bits and bytes.</a:t>
            </a:r>
          </a:p>
          <a:p>
            <a:endParaRPr lang="en-US" sz="1200" b="0" i="0" u="none" strike="noStrike" kern="1200" baseline="0" dirty="0">
              <a:solidFill>
                <a:schemeClr val="tx1"/>
              </a:solidFill>
              <a:latin typeface="Times New Roman" pitchFamily="18" charset="0"/>
              <a:ea typeface="+mn-ea"/>
              <a:cs typeface="+mn-cs"/>
            </a:endParaRPr>
          </a:p>
          <a:p>
            <a:r>
              <a:rPr lang="en-US" sz="1200" b="0" i="0" u="none" strike="noStrike" kern="1200" baseline="0" dirty="0">
                <a:solidFill>
                  <a:schemeClr val="tx1"/>
                </a:solidFill>
                <a:latin typeface="Times New Roman" pitchFamily="18" charset="0"/>
                <a:ea typeface="+mn-ea"/>
                <a:cs typeface="+mn-cs"/>
              </a:rPr>
              <a:t>Consider an 8-bit byte.</a:t>
            </a:r>
          </a:p>
          <a:p>
            <a:endParaRPr lang="en-US" sz="1200" b="0" i="0" u="none" strike="noStrike" kern="1200" baseline="0" dirty="0">
              <a:solidFill>
                <a:schemeClr val="tx1"/>
              </a:solidFill>
              <a:latin typeface="Times New Roman" pitchFamily="18" charset="0"/>
              <a:ea typeface="+mn-ea"/>
              <a:cs typeface="+mn-cs"/>
            </a:endParaRPr>
          </a:p>
          <a:p>
            <a:r>
              <a:rPr lang="en-US" sz="1200" b="0" i="0" u="none" strike="noStrike" kern="1200" baseline="0" dirty="0">
                <a:solidFill>
                  <a:schemeClr val="tx1"/>
                </a:solidFill>
                <a:latin typeface="Times New Roman" pitchFamily="18" charset="0"/>
                <a:ea typeface="+mn-ea"/>
                <a:cs typeface="+mn-cs"/>
              </a:rPr>
              <a:t>For example, consider 11111111. If you convert this to decimal numbers, it equals 255.</a:t>
            </a:r>
          </a:p>
          <a:p>
            <a:endParaRPr lang="en-US" sz="1200" b="0" i="0" u="none" strike="noStrike" kern="1200" baseline="0" dirty="0">
              <a:solidFill>
                <a:schemeClr val="tx1"/>
              </a:solidFill>
              <a:latin typeface="Times New Roman" pitchFamily="18" charset="0"/>
              <a:ea typeface="+mn-ea"/>
              <a:cs typeface="+mn-cs"/>
            </a:endParaRPr>
          </a:p>
          <a:p>
            <a:r>
              <a:rPr lang="en-US" sz="1200" b="0" i="0" u="none" strike="noStrike" kern="1200" baseline="0" dirty="0">
                <a:solidFill>
                  <a:schemeClr val="tx1"/>
                </a:solidFill>
                <a:latin typeface="Times New Roman" pitchFamily="18" charset="0"/>
                <a:ea typeface="+mn-ea"/>
                <a:cs typeface="+mn-cs"/>
              </a:rPr>
              <a:t>If you change the first 1 to a zero, you get 01111111. This equals 127 in decimal numbers, which is a pretty major change.</a:t>
            </a:r>
          </a:p>
          <a:p>
            <a:endParaRPr lang="en-US" sz="1200" b="0" i="0" u="none" strike="noStrike" kern="1200" baseline="0" dirty="0">
              <a:solidFill>
                <a:schemeClr val="tx1"/>
              </a:solidFill>
              <a:latin typeface="Times New Roman" pitchFamily="18" charset="0"/>
              <a:ea typeface="+mn-ea"/>
              <a:cs typeface="+mn-cs"/>
            </a:endParaRPr>
          </a:p>
          <a:p>
            <a:r>
              <a:rPr lang="en-US" sz="1200" b="0" i="0" u="none" strike="noStrike" kern="1200" baseline="0" dirty="0">
                <a:solidFill>
                  <a:schemeClr val="tx1"/>
                </a:solidFill>
                <a:latin typeface="Times New Roman" pitchFamily="18" charset="0"/>
                <a:ea typeface="+mn-ea"/>
                <a:cs typeface="+mn-cs"/>
              </a:rPr>
              <a:t>If you change the last zero instead, you get 11111110. This equals 254 in decimal numbers. This is a trivial change. That is why this last bit is called the least significant bit. Changing the least significant bit from a 0 to a 1 or from a 1 to a 0 makes the smallest change in the original information.</a:t>
            </a:r>
          </a:p>
          <a:p>
            <a:endParaRPr lang="en-US" sz="1200" b="0" i="0" u="none" strike="noStrike" kern="1200" baseline="0" dirty="0">
              <a:solidFill>
                <a:schemeClr val="tx1"/>
              </a:solidFill>
              <a:latin typeface="Times New Roman" pitchFamily="18" charset="0"/>
              <a:ea typeface="+mn-ea"/>
              <a:cs typeface="+mn-cs"/>
            </a:endParaRPr>
          </a:p>
        </p:txBody>
      </p:sp>
      <p:sp>
        <p:nvSpPr>
          <p:cNvPr id="33796" name="Date Placeholder 3"/>
          <p:cNvSpPr>
            <a:spLocks noGrp="1"/>
          </p:cNvSpPr>
          <p:nvPr>
            <p:ph type="dt" sz="quarter" idx="1"/>
          </p:nvPr>
        </p:nvSpPr>
        <p:spPr>
          <a:noFill/>
        </p:spPr>
        <p:txBody>
          <a:bodyPr/>
          <a:lstStyle/>
          <a:p>
            <a:pPr defTabSz="931863"/>
            <a:fld id="{42C039F9-CC0D-4672-AE23-0CDDC450DAC8}" type="datetime1">
              <a:rPr lang="en-US" smtClean="0"/>
              <a:pPr defTabSz="931863"/>
              <a:t>7/2/2017</a:t>
            </a:fld>
            <a:endParaRPr lang="en-US" dirty="0"/>
          </a:p>
        </p:txBody>
      </p:sp>
      <p:sp>
        <p:nvSpPr>
          <p:cNvPr id="33798" name="Slide Number Placeholder 5"/>
          <p:cNvSpPr>
            <a:spLocks noGrp="1"/>
          </p:cNvSpPr>
          <p:nvPr>
            <p:ph type="sldNum" sz="quarter" idx="5"/>
          </p:nvPr>
        </p:nvSpPr>
        <p:spPr>
          <a:noFill/>
        </p:spPr>
        <p:txBody>
          <a:bodyPr/>
          <a:lstStyle/>
          <a:p>
            <a:pPr defTabSz="931863"/>
            <a:fld id="{CE0702E3-C5AB-4A2E-B67C-891965ECD872}" type="slidenum">
              <a:rPr lang="en-US" smtClean="0"/>
              <a:pPr defTabSz="931863"/>
              <a:t>5</a:t>
            </a:fld>
            <a:endParaRPr lang="en-US" dirty="0"/>
          </a:p>
        </p:txBody>
      </p:sp>
    </p:spTree>
    <p:extLst>
      <p:ext uri="{BB962C8B-B14F-4D97-AF65-F5344CB8AC3E}">
        <p14:creationId xmlns:p14="http://schemas.microsoft.com/office/powerpoint/2010/main" val="21212355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r>
              <a:rPr lang="en-US" dirty="0"/>
              <a:t>Windows color palette in the Edit Colors dialog box</a:t>
            </a:r>
          </a:p>
          <a:p>
            <a:endParaRPr lang="en-US" dirty="0"/>
          </a:p>
          <a:p>
            <a:r>
              <a:rPr lang="en-US" dirty="0"/>
              <a:t>Colored pixels in a computer are stored in bits. In Windows, for example, 24 bit is the normal color resolution. If you examine the Windows color palette, you’ll find that you define a color by selecting three values between 0 and 255 in the Red, Green, and Blue text boxes.</a:t>
            </a:r>
          </a:p>
        </p:txBody>
      </p:sp>
      <p:sp>
        <p:nvSpPr>
          <p:cNvPr id="33796" name="Date Placeholder 3"/>
          <p:cNvSpPr>
            <a:spLocks noGrp="1"/>
          </p:cNvSpPr>
          <p:nvPr>
            <p:ph type="dt" sz="quarter" idx="1"/>
          </p:nvPr>
        </p:nvSpPr>
        <p:spPr>
          <a:noFill/>
        </p:spPr>
        <p:txBody>
          <a:bodyPr/>
          <a:lstStyle/>
          <a:p>
            <a:pPr defTabSz="931863"/>
            <a:fld id="{42C039F9-CC0D-4672-AE23-0CDDC450DAC8}" type="datetime1">
              <a:rPr lang="en-US" smtClean="0"/>
              <a:pPr defTabSz="931863"/>
              <a:t>7/2/2017</a:t>
            </a:fld>
            <a:endParaRPr lang="en-US" dirty="0"/>
          </a:p>
        </p:txBody>
      </p:sp>
      <p:sp>
        <p:nvSpPr>
          <p:cNvPr id="33798" name="Slide Number Placeholder 5"/>
          <p:cNvSpPr>
            <a:spLocks noGrp="1"/>
          </p:cNvSpPr>
          <p:nvPr>
            <p:ph type="sldNum" sz="quarter" idx="5"/>
          </p:nvPr>
        </p:nvSpPr>
        <p:spPr>
          <a:noFill/>
        </p:spPr>
        <p:txBody>
          <a:bodyPr/>
          <a:lstStyle/>
          <a:p>
            <a:pPr defTabSz="931863"/>
            <a:fld id="{CE0702E3-C5AB-4A2E-B67C-891965ECD872}" type="slidenum">
              <a:rPr lang="en-US" smtClean="0"/>
              <a:pPr defTabSz="931863"/>
              <a:t>6</a:t>
            </a:fld>
            <a:endParaRPr lang="en-US" dirty="0"/>
          </a:p>
        </p:txBody>
      </p:sp>
    </p:spTree>
    <p:extLst>
      <p:ext uri="{BB962C8B-B14F-4D97-AF65-F5344CB8AC3E}">
        <p14:creationId xmlns:p14="http://schemas.microsoft.com/office/powerpoint/2010/main" val="25749702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r>
              <a:rPr lang="en-US" dirty="0"/>
              <a:t>Windows color changed by one bit.</a:t>
            </a:r>
          </a:p>
          <a:p>
            <a:endParaRPr lang="en-US" dirty="0"/>
          </a:p>
          <a:p>
            <a:r>
              <a:rPr lang="en-US" dirty="0"/>
              <a:t>If you change the least significant bit in a pixel, the image still looks the same. But a picture is made up of thousands—sometimes millions—of pixels. So by changing the least significant bit of many pixels, you can store data that is hidden in an image. This is the basis for modern image steganography. </a:t>
            </a:r>
          </a:p>
        </p:txBody>
      </p:sp>
      <p:sp>
        <p:nvSpPr>
          <p:cNvPr id="33796" name="Date Placeholder 3"/>
          <p:cNvSpPr>
            <a:spLocks noGrp="1"/>
          </p:cNvSpPr>
          <p:nvPr>
            <p:ph type="dt" sz="quarter" idx="1"/>
          </p:nvPr>
        </p:nvSpPr>
        <p:spPr>
          <a:noFill/>
        </p:spPr>
        <p:txBody>
          <a:bodyPr/>
          <a:lstStyle/>
          <a:p>
            <a:pPr defTabSz="931863"/>
            <a:fld id="{42C039F9-CC0D-4672-AE23-0CDDC450DAC8}" type="datetime1">
              <a:rPr lang="en-US" smtClean="0"/>
              <a:pPr defTabSz="931863"/>
              <a:t>7/2/2017</a:t>
            </a:fld>
            <a:endParaRPr lang="en-US" dirty="0"/>
          </a:p>
        </p:txBody>
      </p:sp>
      <p:sp>
        <p:nvSpPr>
          <p:cNvPr id="33798" name="Slide Number Placeholder 5"/>
          <p:cNvSpPr>
            <a:spLocks noGrp="1"/>
          </p:cNvSpPr>
          <p:nvPr>
            <p:ph type="sldNum" sz="quarter" idx="5"/>
          </p:nvPr>
        </p:nvSpPr>
        <p:spPr>
          <a:noFill/>
        </p:spPr>
        <p:txBody>
          <a:bodyPr/>
          <a:lstStyle/>
          <a:p>
            <a:pPr defTabSz="931863"/>
            <a:fld id="{CE0702E3-C5AB-4A2E-B67C-891965ECD872}" type="slidenum">
              <a:rPr lang="en-US" smtClean="0"/>
              <a:pPr defTabSz="931863"/>
              <a:t>7</a:t>
            </a:fld>
            <a:endParaRPr lang="en-US" dirty="0"/>
          </a:p>
        </p:txBody>
      </p:sp>
    </p:spTree>
    <p:extLst>
      <p:ext uri="{BB962C8B-B14F-4D97-AF65-F5344CB8AC3E}">
        <p14:creationId xmlns:p14="http://schemas.microsoft.com/office/powerpoint/2010/main" val="28807137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r>
              <a:rPr lang="en-US" sz="1200" b="0" i="0" u="none" strike="noStrike" kern="1200" baseline="0" dirty="0">
                <a:solidFill>
                  <a:schemeClr val="tx1"/>
                </a:solidFill>
                <a:latin typeface="Times New Roman" pitchFamily="18" charset="0"/>
                <a:ea typeface="+mn-ea"/>
                <a:cs typeface="+mn-cs"/>
              </a:rPr>
              <a:t>Payload</a:t>
            </a:r>
          </a:p>
          <a:p>
            <a:r>
              <a:rPr lang="en-US" sz="1200" b="0" i="0" u="none" strike="noStrike" kern="1200" baseline="0" dirty="0">
                <a:solidFill>
                  <a:schemeClr val="tx1"/>
                </a:solidFill>
                <a:latin typeface="Times New Roman" pitchFamily="18" charset="0"/>
                <a:ea typeface="+mn-ea"/>
                <a:cs typeface="+mn-cs"/>
              </a:rPr>
              <a:t>The information to be covertly communicated; the message the user wants to hide</a:t>
            </a:r>
          </a:p>
          <a:p>
            <a:endParaRPr lang="en-US" sz="1200" b="0" i="0" u="none" strike="noStrike" kern="1200" baseline="0" dirty="0">
              <a:solidFill>
                <a:schemeClr val="tx1"/>
              </a:solidFill>
              <a:latin typeface="Times New Roman" pitchFamily="18" charset="0"/>
              <a:ea typeface="+mn-ea"/>
              <a:cs typeface="+mn-cs"/>
            </a:endParaRPr>
          </a:p>
          <a:p>
            <a:r>
              <a:rPr lang="en-US" sz="1200" b="0" i="0" u="none" strike="noStrike" kern="1200" baseline="0" dirty="0">
                <a:solidFill>
                  <a:schemeClr val="tx1"/>
                </a:solidFill>
                <a:latin typeface="Times New Roman" pitchFamily="18" charset="0"/>
                <a:ea typeface="+mn-ea"/>
                <a:cs typeface="+mn-cs"/>
              </a:rPr>
              <a:t>Carrier</a:t>
            </a:r>
          </a:p>
          <a:p>
            <a:r>
              <a:rPr lang="en-US" sz="1200" b="0" i="0" u="none" strike="noStrike" kern="1200" baseline="0" dirty="0">
                <a:solidFill>
                  <a:schemeClr val="tx1"/>
                </a:solidFill>
                <a:latin typeface="Times New Roman" pitchFamily="18" charset="0"/>
                <a:ea typeface="+mn-ea"/>
                <a:cs typeface="+mn-cs"/>
              </a:rPr>
              <a:t>The signal, stream, or file in which the payload is hidden</a:t>
            </a:r>
          </a:p>
          <a:p>
            <a:endParaRPr lang="en-US" sz="1200" b="0" i="0" u="none" strike="noStrike" kern="1200" baseline="0" dirty="0">
              <a:solidFill>
                <a:schemeClr val="tx1"/>
              </a:solidFill>
              <a:latin typeface="Times New Roman" pitchFamily="18" charset="0"/>
              <a:ea typeface="+mn-ea"/>
              <a:cs typeface="+mn-cs"/>
            </a:endParaRPr>
          </a:p>
          <a:p>
            <a:r>
              <a:rPr lang="en-US" sz="1200" b="0" i="0" u="none" strike="noStrike" kern="1200" baseline="0" dirty="0">
                <a:solidFill>
                  <a:schemeClr val="tx1"/>
                </a:solidFill>
                <a:latin typeface="Times New Roman" pitchFamily="18" charset="0"/>
                <a:ea typeface="+mn-ea"/>
                <a:cs typeface="+mn-cs"/>
              </a:rPr>
              <a:t>Channel</a:t>
            </a:r>
          </a:p>
          <a:p>
            <a:r>
              <a:rPr lang="en-US" sz="1200" b="0" i="0" u="none" strike="noStrike" kern="1200" baseline="0" dirty="0">
                <a:solidFill>
                  <a:schemeClr val="tx1"/>
                </a:solidFill>
                <a:latin typeface="Times New Roman" pitchFamily="18" charset="0"/>
                <a:ea typeface="+mn-ea"/>
                <a:cs typeface="+mn-cs"/>
              </a:rPr>
              <a:t>The type of medium used. It can be a passive channel such as photos, video, or sound files. It can also be an active channel such as a streaming video connection.</a:t>
            </a:r>
          </a:p>
          <a:p>
            <a:endParaRPr lang="en-US" sz="1200" b="0" i="0" u="none" strike="noStrike" kern="1200" baseline="0" dirty="0">
              <a:solidFill>
                <a:schemeClr val="tx1"/>
              </a:solidFill>
              <a:latin typeface="Times New Roman" pitchFamily="18" charset="0"/>
              <a:ea typeface="+mn-ea"/>
              <a:cs typeface="+mn-cs"/>
            </a:endParaRPr>
          </a:p>
        </p:txBody>
      </p:sp>
      <p:sp>
        <p:nvSpPr>
          <p:cNvPr id="33796" name="Date Placeholder 3"/>
          <p:cNvSpPr>
            <a:spLocks noGrp="1"/>
          </p:cNvSpPr>
          <p:nvPr>
            <p:ph type="dt" sz="quarter" idx="1"/>
          </p:nvPr>
        </p:nvSpPr>
        <p:spPr>
          <a:noFill/>
        </p:spPr>
        <p:txBody>
          <a:bodyPr/>
          <a:lstStyle/>
          <a:p>
            <a:pPr defTabSz="931863"/>
            <a:fld id="{42C039F9-CC0D-4672-AE23-0CDDC450DAC8}" type="datetime1">
              <a:rPr lang="en-US" smtClean="0"/>
              <a:pPr defTabSz="931863"/>
              <a:t>7/2/2017</a:t>
            </a:fld>
            <a:endParaRPr lang="en-US" dirty="0"/>
          </a:p>
        </p:txBody>
      </p:sp>
      <p:sp>
        <p:nvSpPr>
          <p:cNvPr id="33798" name="Slide Number Placeholder 5"/>
          <p:cNvSpPr>
            <a:spLocks noGrp="1"/>
          </p:cNvSpPr>
          <p:nvPr>
            <p:ph type="sldNum" sz="quarter" idx="5"/>
          </p:nvPr>
        </p:nvSpPr>
        <p:spPr>
          <a:noFill/>
        </p:spPr>
        <p:txBody>
          <a:bodyPr/>
          <a:lstStyle/>
          <a:p>
            <a:pPr defTabSz="931863"/>
            <a:fld id="{CE0702E3-C5AB-4A2E-B67C-891965ECD872}" type="slidenum">
              <a:rPr lang="en-US" smtClean="0"/>
              <a:pPr defTabSz="931863"/>
              <a:t>8</a:t>
            </a:fld>
            <a:endParaRPr lang="en-US" dirty="0"/>
          </a:p>
        </p:txBody>
      </p:sp>
    </p:spTree>
    <p:extLst>
      <p:ext uri="{BB962C8B-B14F-4D97-AF65-F5344CB8AC3E}">
        <p14:creationId xmlns:p14="http://schemas.microsoft.com/office/powerpoint/2010/main" val="5140048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ln/>
        </p:spPr>
      </p:sp>
      <p:sp>
        <p:nvSpPr>
          <p:cNvPr id="45059" name="Notes Placeholder 2"/>
          <p:cNvSpPr>
            <a:spLocks noGrp="1"/>
          </p:cNvSpPr>
          <p:nvPr>
            <p:ph type="body" idx="1"/>
          </p:nvPr>
        </p:nvSpPr>
        <p:spPr>
          <a:noFill/>
          <a:ln/>
        </p:spPr>
        <p:txBody>
          <a:bodyPr/>
          <a:lstStyle/>
          <a:p>
            <a:endParaRPr lang="en-US" dirty="0"/>
          </a:p>
        </p:txBody>
      </p:sp>
      <p:sp>
        <p:nvSpPr>
          <p:cNvPr id="45060" name="Date Placeholder 3"/>
          <p:cNvSpPr txBox="1">
            <a:spLocks noGrp="1"/>
          </p:cNvSpPr>
          <p:nvPr/>
        </p:nvSpPr>
        <p:spPr bwMode="auto">
          <a:xfrm>
            <a:off x="3971925" y="0"/>
            <a:ext cx="3038475" cy="463550"/>
          </a:xfrm>
          <a:prstGeom prst="rect">
            <a:avLst/>
          </a:prstGeom>
          <a:noFill/>
          <a:ln w="9525">
            <a:noFill/>
            <a:miter lim="800000"/>
            <a:headEnd/>
            <a:tailEnd/>
          </a:ln>
        </p:spPr>
        <p:txBody>
          <a:bodyPr lIns="93172" tIns="46586" rIns="93172" bIns="46586"/>
          <a:lstStyle/>
          <a:p>
            <a:pPr algn="r" defTabSz="931863"/>
            <a:fld id="{C57D9FD7-9B0B-46D8-AE3C-8BE46436AF79}" type="datetime1">
              <a:rPr lang="en-US" sz="1300">
                <a:latin typeface="Times New Roman" pitchFamily="18" charset="0"/>
              </a:rPr>
              <a:pPr algn="r" defTabSz="931863"/>
              <a:t>7/2/2017</a:t>
            </a:fld>
            <a:endParaRPr lang="en-US" sz="1300" dirty="0">
              <a:latin typeface="Times New Roman" pitchFamily="18" charset="0"/>
            </a:endParaRPr>
          </a:p>
        </p:txBody>
      </p:sp>
      <p:sp>
        <p:nvSpPr>
          <p:cNvPr id="45062" name="Slide Number Placeholder 5"/>
          <p:cNvSpPr txBox="1">
            <a:spLocks noGrp="1"/>
          </p:cNvSpPr>
          <p:nvPr/>
        </p:nvSpPr>
        <p:spPr bwMode="auto">
          <a:xfrm>
            <a:off x="3971925" y="8832850"/>
            <a:ext cx="3038475" cy="463550"/>
          </a:xfrm>
          <a:prstGeom prst="rect">
            <a:avLst/>
          </a:prstGeom>
          <a:noFill/>
          <a:ln w="9525">
            <a:noFill/>
            <a:miter lim="800000"/>
            <a:headEnd/>
            <a:tailEnd/>
          </a:ln>
        </p:spPr>
        <p:txBody>
          <a:bodyPr lIns="93172" tIns="46586" rIns="93172" bIns="46586" anchor="b"/>
          <a:lstStyle/>
          <a:p>
            <a:pPr algn="r" defTabSz="931863"/>
            <a:fld id="{F43933DE-3761-4F7B-867B-345FB9D48D54}" type="slidenum">
              <a:rPr lang="en-US" sz="1300">
                <a:latin typeface="Times New Roman" pitchFamily="18" charset="0"/>
              </a:rPr>
              <a:pPr algn="r" defTabSz="931863"/>
              <a:t>9</a:t>
            </a:fld>
            <a:endParaRPr lang="en-US" sz="1300" dirty="0">
              <a:latin typeface="Times New Roman" pitchFamily="18" charset="0"/>
            </a:endParaRPr>
          </a:p>
        </p:txBody>
      </p:sp>
    </p:spTree>
    <p:extLst>
      <p:ext uri="{BB962C8B-B14F-4D97-AF65-F5344CB8AC3E}">
        <p14:creationId xmlns:p14="http://schemas.microsoft.com/office/powerpoint/2010/main" val="42339906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r>
              <a:rPr lang="en-US" sz="1200" kern="1200" dirty="0">
                <a:solidFill>
                  <a:schemeClr val="tx1"/>
                </a:solidFill>
                <a:effectLst/>
                <a:latin typeface="Times New Roman" pitchFamily="18" charset="0"/>
                <a:ea typeface="+mn-ea"/>
                <a:cs typeface="+mn-cs"/>
              </a:rPr>
              <a:t>Using digital images to hide messages is just one form of steganography. Steganography can also take these forms:</a:t>
            </a:r>
            <a:endParaRPr lang="en-US" dirty="0">
              <a:effectLst/>
            </a:endParaRPr>
          </a:p>
          <a:p>
            <a:pPr lvl="0"/>
            <a:endParaRPr lang="en-US" dirty="0">
              <a:effectLst/>
            </a:endParaRPr>
          </a:p>
          <a:p>
            <a:pPr lvl="0"/>
            <a:r>
              <a:rPr lang="en-US" dirty="0">
                <a:effectLst/>
              </a:rPr>
              <a:t>Steganophony—Hiding messages in sound files.</a:t>
            </a:r>
          </a:p>
          <a:p>
            <a:pPr lvl="0"/>
            <a:r>
              <a:rPr lang="en-US" dirty="0">
                <a:effectLst/>
              </a:rPr>
              <a:t>Video steganography—Hiding information in video files.</a:t>
            </a:r>
          </a:p>
          <a:p>
            <a:r>
              <a:rPr lang="en-US" sz="1200" b="0" i="0" u="none" strike="noStrike" kern="1200" baseline="0" dirty="0">
                <a:solidFill>
                  <a:schemeClr val="tx1"/>
                </a:solidFill>
                <a:latin typeface="Times New Roman" pitchFamily="18" charset="0"/>
                <a:ea typeface="+mn-ea"/>
                <a:cs typeface="+mn-cs"/>
              </a:rPr>
              <a:t>Advanced</a:t>
            </a:r>
            <a:r>
              <a:rPr lang="en-US" dirty="0">
                <a:effectLst/>
              </a:rPr>
              <a:t>—With BPCS, carrier is often an image that stores colors in 24 bits, and this fact can be used to increase storage area for payload. The complex</a:t>
            </a:r>
          </a:p>
          <a:p>
            <a:r>
              <a:rPr lang="en-US" dirty="0">
                <a:effectLst/>
              </a:rPr>
              <a:t>areas on the bit planes are replaced with the payload.</a:t>
            </a:r>
            <a:endParaRPr lang="en-US" sz="1200" b="0" i="0" u="none" strike="noStrike" kern="1200" baseline="0" dirty="0">
              <a:solidFill>
                <a:schemeClr val="tx1"/>
              </a:solidFill>
              <a:latin typeface="Times New Roman" pitchFamily="18" charset="0"/>
              <a:ea typeface="+mn-ea"/>
              <a:cs typeface="+mn-cs"/>
            </a:endParaRPr>
          </a:p>
        </p:txBody>
      </p:sp>
      <p:sp>
        <p:nvSpPr>
          <p:cNvPr id="33796" name="Date Placeholder 3"/>
          <p:cNvSpPr>
            <a:spLocks noGrp="1"/>
          </p:cNvSpPr>
          <p:nvPr>
            <p:ph type="dt" sz="quarter" idx="1"/>
          </p:nvPr>
        </p:nvSpPr>
        <p:spPr>
          <a:noFill/>
        </p:spPr>
        <p:txBody>
          <a:bodyPr/>
          <a:lstStyle/>
          <a:p>
            <a:pPr defTabSz="931863"/>
            <a:fld id="{42C039F9-CC0D-4672-AE23-0CDDC450DAC8}" type="datetime1">
              <a:rPr lang="en-US" smtClean="0"/>
              <a:pPr defTabSz="931863"/>
              <a:t>7/2/2017</a:t>
            </a:fld>
            <a:endParaRPr lang="en-US" dirty="0"/>
          </a:p>
        </p:txBody>
      </p:sp>
      <p:sp>
        <p:nvSpPr>
          <p:cNvPr id="33798" name="Slide Number Placeholder 5"/>
          <p:cNvSpPr>
            <a:spLocks noGrp="1"/>
          </p:cNvSpPr>
          <p:nvPr>
            <p:ph type="sldNum" sz="quarter" idx="5"/>
          </p:nvPr>
        </p:nvSpPr>
        <p:spPr>
          <a:noFill/>
        </p:spPr>
        <p:txBody>
          <a:bodyPr/>
          <a:lstStyle/>
          <a:p>
            <a:pPr defTabSz="931863"/>
            <a:fld id="{CE0702E3-C5AB-4A2E-B67C-891965ECD872}" type="slidenum">
              <a:rPr lang="en-US" smtClean="0"/>
              <a:pPr defTabSz="931863"/>
              <a:t>10</a:t>
            </a:fld>
            <a:endParaRPr lang="en-US" dirty="0"/>
          </a:p>
        </p:txBody>
      </p:sp>
    </p:spTree>
    <p:extLst>
      <p:ext uri="{BB962C8B-B14F-4D97-AF65-F5344CB8AC3E}">
        <p14:creationId xmlns:p14="http://schemas.microsoft.com/office/powerpoint/2010/main" val="6261816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r>
              <a:rPr lang="en-US" dirty="0">
                <a:effectLst/>
              </a:rPr>
              <a:t>Steganalysis is the process of analyzing a file or files for hidden content.</a:t>
            </a:r>
          </a:p>
          <a:p>
            <a:r>
              <a:rPr lang="en-US" sz="1200" kern="1200" dirty="0">
                <a:solidFill>
                  <a:schemeClr val="tx1"/>
                </a:solidFill>
                <a:effectLst/>
                <a:latin typeface="Times New Roman" pitchFamily="18" charset="0"/>
                <a:ea typeface="+mn-ea"/>
                <a:cs typeface="+mn-cs"/>
              </a:rPr>
              <a:t>	</a:t>
            </a:r>
            <a:endParaRPr lang="en-US" dirty="0">
              <a:effectLst/>
            </a:endParaRPr>
          </a:p>
          <a:p>
            <a:r>
              <a:rPr lang="en-US" sz="1200" kern="1200" dirty="0">
                <a:solidFill>
                  <a:schemeClr val="tx1"/>
                </a:solidFill>
                <a:effectLst/>
                <a:latin typeface="Times New Roman" pitchFamily="18" charset="0"/>
                <a:ea typeface="+mn-ea"/>
                <a:cs typeface="+mn-cs"/>
              </a:rPr>
              <a:t>At one time, digital steganography was only used by computer professionals because it required writing specific computer program code to manipulate the bits in an image. That is not the case today. There are a number of tools readily available on the Internet that will enable a user to hide information in an image or detect steganography. Examples of steganalysis tools:</a:t>
            </a:r>
          </a:p>
          <a:p>
            <a:r>
              <a:rPr lang="en-US" dirty="0">
                <a:effectLst/>
              </a:rPr>
              <a:t>• StegSecret</a:t>
            </a:r>
          </a:p>
          <a:p>
            <a:r>
              <a:rPr lang="en-US" dirty="0">
                <a:effectLst/>
              </a:rPr>
              <a:t>• StegSpy</a:t>
            </a:r>
          </a:p>
          <a:p>
            <a:r>
              <a:rPr lang="en-US" dirty="0">
                <a:effectLst/>
              </a:rPr>
              <a:t>• </a:t>
            </a:r>
            <a:r>
              <a:rPr lang="en-US" sz="1200" kern="1200" dirty="0">
                <a:solidFill>
                  <a:schemeClr val="tx1"/>
                </a:solidFill>
                <a:effectLst/>
                <a:latin typeface="Times New Roman" pitchFamily="18" charset="0"/>
                <a:ea typeface="+mn-ea"/>
                <a:cs typeface="+mn-cs"/>
              </a:rPr>
              <a:t>Invisible Secrets</a:t>
            </a:r>
          </a:p>
          <a:p>
            <a:r>
              <a:rPr lang="en-US" dirty="0">
                <a:effectLst/>
              </a:rPr>
              <a:t>• </a:t>
            </a:r>
            <a:r>
              <a:rPr lang="en-US" sz="1200" kern="1200" dirty="0">
                <a:solidFill>
                  <a:schemeClr val="tx1"/>
                </a:solidFill>
                <a:effectLst/>
                <a:latin typeface="Times New Roman" pitchFamily="18" charset="0"/>
                <a:ea typeface="+mn-ea"/>
                <a:cs typeface="+mn-cs"/>
              </a:rPr>
              <a:t>MP3Stego</a:t>
            </a:r>
            <a:endParaRPr lang="en-US" dirty="0">
              <a:effectLst/>
            </a:endParaRPr>
          </a:p>
          <a:p>
            <a:endParaRPr lang="en-US" sz="1200" b="0" i="0" u="none" strike="noStrike" kern="1200" baseline="0" dirty="0">
              <a:solidFill>
                <a:schemeClr val="tx1"/>
              </a:solidFill>
              <a:latin typeface="Times New Roman" pitchFamily="18" charset="0"/>
              <a:ea typeface="+mn-ea"/>
              <a:cs typeface="+mn-cs"/>
            </a:endParaRPr>
          </a:p>
        </p:txBody>
      </p:sp>
      <p:sp>
        <p:nvSpPr>
          <p:cNvPr id="33796" name="Date Placeholder 3"/>
          <p:cNvSpPr>
            <a:spLocks noGrp="1"/>
          </p:cNvSpPr>
          <p:nvPr>
            <p:ph type="dt" sz="quarter" idx="1"/>
          </p:nvPr>
        </p:nvSpPr>
        <p:spPr>
          <a:noFill/>
        </p:spPr>
        <p:txBody>
          <a:bodyPr/>
          <a:lstStyle/>
          <a:p>
            <a:pPr defTabSz="931863"/>
            <a:fld id="{42C039F9-CC0D-4672-AE23-0CDDC450DAC8}" type="datetime1">
              <a:rPr lang="en-US" smtClean="0"/>
              <a:pPr defTabSz="931863"/>
              <a:t>7/2/2017</a:t>
            </a:fld>
            <a:endParaRPr lang="en-US" dirty="0"/>
          </a:p>
        </p:txBody>
      </p:sp>
      <p:sp>
        <p:nvSpPr>
          <p:cNvPr id="33798" name="Slide Number Placeholder 5"/>
          <p:cNvSpPr>
            <a:spLocks noGrp="1"/>
          </p:cNvSpPr>
          <p:nvPr>
            <p:ph type="sldNum" sz="quarter" idx="5"/>
          </p:nvPr>
        </p:nvSpPr>
        <p:spPr>
          <a:noFill/>
        </p:spPr>
        <p:txBody>
          <a:bodyPr/>
          <a:lstStyle/>
          <a:p>
            <a:pPr defTabSz="931863"/>
            <a:fld id="{CE0702E3-C5AB-4A2E-B67C-891965ECD872}" type="slidenum">
              <a:rPr lang="en-US" smtClean="0"/>
              <a:pPr defTabSz="931863"/>
              <a:t>11</a:t>
            </a:fld>
            <a:endParaRPr lang="en-US" dirty="0"/>
          </a:p>
        </p:txBody>
      </p:sp>
    </p:spTree>
    <p:extLst>
      <p:ext uri="{BB962C8B-B14F-4D97-AF65-F5344CB8AC3E}">
        <p14:creationId xmlns:p14="http://schemas.microsoft.com/office/powerpoint/2010/main" val="12138152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r>
              <a:rPr lang="en-US" dirty="0">
                <a:effectLst/>
              </a:rPr>
              <a:t>Choose whether you want to hide a file or extract a hidden file. For this example, suppose you want to hide a file. You select your chosen option in the Invisible Secrets Select Action dialog box.</a:t>
            </a:r>
          </a:p>
        </p:txBody>
      </p:sp>
      <p:sp>
        <p:nvSpPr>
          <p:cNvPr id="33796" name="Date Placeholder 3"/>
          <p:cNvSpPr>
            <a:spLocks noGrp="1"/>
          </p:cNvSpPr>
          <p:nvPr>
            <p:ph type="dt" sz="quarter" idx="1"/>
          </p:nvPr>
        </p:nvSpPr>
        <p:spPr>
          <a:noFill/>
        </p:spPr>
        <p:txBody>
          <a:bodyPr/>
          <a:lstStyle/>
          <a:p>
            <a:pPr defTabSz="931863"/>
            <a:fld id="{42C039F9-CC0D-4672-AE23-0CDDC450DAC8}" type="datetime1">
              <a:rPr lang="en-US" smtClean="0"/>
              <a:pPr defTabSz="931863"/>
              <a:t>7/2/2017</a:t>
            </a:fld>
            <a:endParaRPr lang="en-US" dirty="0"/>
          </a:p>
        </p:txBody>
      </p:sp>
      <p:sp>
        <p:nvSpPr>
          <p:cNvPr id="33798" name="Slide Number Placeholder 5"/>
          <p:cNvSpPr>
            <a:spLocks noGrp="1"/>
          </p:cNvSpPr>
          <p:nvPr>
            <p:ph type="sldNum" sz="quarter" idx="5"/>
          </p:nvPr>
        </p:nvSpPr>
        <p:spPr>
          <a:noFill/>
        </p:spPr>
        <p:txBody>
          <a:bodyPr/>
          <a:lstStyle/>
          <a:p>
            <a:pPr defTabSz="931863"/>
            <a:fld id="{CE0702E3-C5AB-4A2E-B67C-891965ECD872}" type="slidenum">
              <a:rPr lang="en-US" smtClean="0"/>
              <a:pPr defTabSz="931863"/>
              <a:t>12</a:t>
            </a:fld>
            <a:endParaRPr lang="en-US" dirty="0"/>
          </a:p>
        </p:txBody>
      </p:sp>
    </p:spTree>
    <p:extLst>
      <p:ext uri="{BB962C8B-B14F-4D97-AF65-F5344CB8AC3E}">
        <p14:creationId xmlns:p14="http://schemas.microsoft.com/office/powerpoint/2010/main" val="5418954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r>
              <a:rPr lang="en-US" dirty="0">
                <a:effectLst/>
              </a:rPr>
              <a:t>Select an image you want to use as the carrier file.</a:t>
            </a:r>
          </a:p>
        </p:txBody>
      </p:sp>
      <p:sp>
        <p:nvSpPr>
          <p:cNvPr id="33796" name="Date Placeholder 3"/>
          <p:cNvSpPr>
            <a:spLocks noGrp="1"/>
          </p:cNvSpPr>
          <p:nvPr>
            <p:ph type="dt" sz="quarter" idx="1"/>
          </p:nvPr>
        </p:nvSpPr>
        <p:spPr>
          <a:noFill/>
        </p:spPr>
        <p:txBody>
          <a:bodyPr/>
          <a:lstStyle/>
          <a:p>
            <a:pPr defTabSz="931863"/>
            <a:fld id="{42C039F9-CC0D-4672-AE23-0CDDC450DAC8}" type="datetime1">
              <a:rPr lang="en-US" smtClean="0"/>
              <a:pPr defTabSz="931863"/>
              <a:t>7/2/2017</a:t>
            </a:fld>
            <a:endParaRPr lang="en-US" dirty="0"/>
          </a:p>
        </p:txBody>
      </p:sp>
      <p:sp>
        <p:nvSpPr>
          <p:cNvPr id="33798" name="Slide Number Placeholder 5"/>
          <p:cNvSpPr>
            <a:spLocks noGrp="1"/>
          </p:cNvSpPr>
          <p:nvPr>
            <p:ph type="sldNum" sz="quarter" idx="5"/>
          </p:nvPr>
        </p:nvSpPr>
        <p:spPr>
          <a:noFill/>
        </p:spPr>
        <p:txBody>
          <a:bodyPr/>
          <a:lstStyle/>
          <a:p>
            <a:pPr defTabSz="931863"/>
            <a:fld id="{CE0702E3-C5AB-4A2E-B67C-891965ECD872}" type="slidenum">
              <a:rPr lang="en-US" smtClean="0"/>
              <a:pPr defTabSz="931863"/>
              <a:t>13</a:t>
            </a:fld>
            <a:endParaRPr lang="en-US" dirty="0"/>
          </a:p>
        </p:txBody>
      </p:sp>
    </p:spTree>
    <p:extLst>
      <p:ext uri="{BB962C8B-B14F-4D97-AF65-F5344CB8AC3E}">
        <p14:creationId xmlns:p14="http://schemas.microsoft.com/office/powerpoint/2010/main" val="23936653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r>
              <a:rPr lang="en-US" dirty="0">
                <a:effectLst/>
              </a:rPr>
              <a:t>Select the file you want to hide. It can be a text file or another image file. You can also choose to encrypt as well as hide.</a:t>
            </a:r>
          </a:p>
        </p:txBody>
      </p:sp>
      <p:sp>
        <p:nvSpPr>
          <p:cNvPr id="33796" name="Date Placeholder 3"/>
          <p:cNvSpPr>
            <a:spLocks noGrp="1"/>
          </p:cNvSpPr>
          <p:nvPr>
            <p:ph type="dt" sz="quarter" idx="1"/>
          </p:nvPr>
        </p:nvSpPr>
        <p:spPr>
          <a:noFill/>
        </p:spPr>
        <p:txBody>
          <a:bodyPr/>
          <a:lstStyle/>
          <a:p>
            <a:pPr defTabSz="931863"/>
            <a:fld id="{42C039F9-CC0D-4672-AE23-0CDDC450DAC8}" type="datetime1">
              <a:rPr lang="en-US" smtClean="0"/>
              <a:pPr defTabSz="931863"/>
              <a:t>7/2/2017</a:t>
            </a:fld>
            <a:endParaRPr lang="en-US" dirty="0"/>
          </a:p>
        </p:txBody>
      </p:sp>
      <p:sp>
        <p:nvSpPr>
          <p:cNvPr id="33798" name="Slide Number Placeholder 5"/>
          <p:cNvSpPr>
            <a:spLocks noGrp="1"/>
          </p:cNvSpPr>
          <p:nvPr>
            <p:ph type="sldNum" sz="quarter" idx="5"/>
          </p:nvPr>
        </p:nvSpPr>
        <p:spPr>
          <a:noFill/>
        </p:spPr>
        <p:txBody>
          <a:bodyPr/>
          <a:lstStyle/>
          <a:p>
            <a:pPr defTabSz="931863"/>
            <a:fld id="{CE0702E3-C5AB-4A2E-B67C-891965ECD872}" type="slidenum">
              <a:rPr lang="en-US" smtClean="0"/>
              <a:pPr defTabSz="931863"/>
              <a:t>14</a:t>
            </a:fld>
            <a:endParaRPr lang="en-US" dirty="0"/>
          </a:p>
        </p:txBody>
      </p:sp>
    </p:spTree>
    <p:extLst>
      <p:ext uri="{BB962C8B-B14F-4D97-AF65-F5344CB8AC3E}">
        <p14:creationId xmlns:p14="http://schemas.microsoft.com/office/powerpoint/2010/main" val="26545288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r>
              <a:rPr lang="en-US" dirty="0">
                <a:effectLst/>
              </a:rPr>
              <a:t>Select a password for your hidden file.</a:t>
            </a:r>
          </a:p>
        </p:txBody>
      </p:sp>
      <p:sp>
        <p:nvSpPr>
          <p:cNvPr id="33796" name="Date Placeholder 3"/>
          <p:cNvSpPr>
            <a:spLocks noGrp="1"/>
          </p:cNvSpPr>
          <p:nvPr>
            <p:ph type="dt" sz="quarter" idx="1"/>
          </p:nvPr>
        </p:nvSpPr>
        <p:spPr>
          <a:noFill/>
        </p:spPr>
        <p:txBody>
          <a:bodyPr/>
          <a:lstStyle/>
          <a:p>
            <a:pPr defTabSz="931863"/>
            <a:fld id="{42C039F9-CC0D-4672-AE23-0CDDC450DAC8}" type="datetime1">
              <a:rPr lang="en-US" smtClean="0"/>
              <a:pPr defTabSz="931863"/>
              <a:t>7/2/2017</a:t>
            </a:fld>
            <a:endParaRPr lang="en-US" dirty="0"/>
          </a:p>
        </p:txBody>
      </p:sp>
      <p:sp>
        <p:nvSpPr>
          <p:cNvPr id="33798" name="Slide Number Placeholder 5"/>
          <p:cNvSpPr>
            <a:spLocks noGrp="1"/>
          </p:cNvSpPr>
          <p:nvPr>
            <p:ph type="sldNum" sz="quarter" idx="5"/>
          </p:nvPr>
        </p:nvSpPr>
        <p:spPr>
          <a:noFill/>
        </p:spPr>
        <p:txBody>
          <a:bodyPr/>
          <a:lstStyle/>
          <a:p>
            <a:pPr defTabSz="931863"/>
            <a:fld id="{CE0702E3-C5AB-4A2E-B67C-891965ECD872}" type="slidenum">
              <a:rPr lang="en-US" smtClean="0"/>
              <a:pPr defTabSz="931863"/>
              <a:t>15</a:t>
            </a:fld>
            <a:endParaRPr lang="en-US" dirty="0"/>
          </a:p>
        </p:txBody>
      </p:sp>
    </p:spTree>
    <p:extLst>
      <p:ext uri="{BB962C8B-B14F-4D97-AF65-F5344CB8AC3E}">
        <p14:creationId xmlns:p14="http://schemas.microsoft.com/office/powerpoint/2010/main" val="15542359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r>
              <a:rPr lang="en-US" dirty="0">
                <a:effectLst/>
              </a:rPr>
              <a:t>Pick a name for the resulting file that contains your hidden file.</a:t>
            </a:r>
          </a:p>
          <a:p>
            <a:endParaRPr lang="en-US" dirty="0">
              <a:effectLst/>
            </a:endParaRPr>
          </a:p>
          <a:p>
            <a:r>
              <a:rPr lang="en-US" dirty="0">
                <a:effectLst/>
              </a:rPr>
              <a:t>That’s it!</a:t>
            </a:r>
          </a:p>
        </p:txBody>
      </p:sp>
      <p:sp>
        <p:nvSpPr>
          <p:cNvPr id="33796" name="Date Placeholder 3"/>
          <p:cNvSpPr>
            <a:spLocks noGrp="1"/>
          </p:cNvSpPr>
          <p:nvPr>
            <p:ph type="dt" sz="quarter" idx="1"/>
          </p:nvPr>
        </p:nvSpPr>
        <p:spPr>
          <a:noFill/>
        </p:spPr>
        <p:txBody>
          <a:bodyPr/>
          <a:lstStyle/>
          <a:p>
            <a:pPr defTabSz="931863"/>
            <a:fld id="{42C039F9-CC0D-4672-AE23-0CDDC450DAC8}" type="datetime1">
              <a:rPr lang="en-US" smtClean="0"/>
              <a:pPr defTabSz="931863"/>
              <a:t>7/2/2017</a:t>
            </a:fld>
            <a:endParaRPr lang="en-US" dirty="0"/>
          </a:p>
        </p:txBody>
      </p:sp>
      <p:sp>
        <p:nvSpPr>
          <p:cNvPr id="33798" name="Slide Number Placeholder 5"/>
          <p:cNvSpPr>
            <a:spLocks noGrp="1"/>
          </p:cNvSpPr>
          <p:nvPr>
            <p:ph type="sldNum" sz="quarter" idx="5"/>
          </p:nvPr>
        </p:nvSpPr>
        <p:spPr>
          <a:noFill/>
        </p:spPr>
        <p:txBody>
          <a:bodyPr/>
          <a:lstStyle/>
          <a:p>
            <a:pPr defTabSz="931863"/>
            <a:fld id="{CE0702E3-C5AB-4A2E-B67C-891965ECD872}" type="slidenum">
              <a:rPr lang="en-US" smtClean="0"/>
              <a:pPr defTabSz="931863"/>
              <a:t>16</a:t>
            </a:fld>
            <a:endParaRPr lang="en-US" dirty="0"/>
          </a:p>
        </p:txBody>
      </p:sp>
    </p:spTree>
    <p:extLst>
      <p:ext uri="{BB962C8B-B14F-4D97-AF65-F5344CB8AC3E}">
        <p14:creationId xmlns:p14="http://schemas.microsoft.com/office/powerpoint/2010/main" val="8427947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r>
              <a:rPr lang="en-US" sz="1200" kern="1200" dirty="0">
                <a:solidFill>
                  <a:schemeClr val="tx1"/>
                </a:solidFill>
                <a:effectLst/>
                <a:latin typeface="Times New Roman" pitchFamily="18" charset="0"/>
                <a:ea typeface="+mn-ea"/>
                <a:cs typeface="+mn-cs"/>
              </a:rPr>
              <a:t>Encryption (or cryptography) has to do with obfuscating the message so that it cannot be read. </a:t>
            </a:r>
            <a:endParaRPr lang="en-US" dirty="0">
              <a:effectLst/>
            </a:endParaRPr>
          </a:p>
          <a:p>
            <a:r>
              <a:rPr lang="en-US" sz="1200" kern="1200" dirty="0">
                <a:solidFill>
                  <a:schemeClr val="tx1"/>
                </a:solidFill>
                <a:effectLst/>
                <a:latin typeface="Times New Roman" pitchFamily="18" charset="0"/>
                <a:ea typeface="+mn-ea"/>
                <a:cs typeface="+mn-cs"/>
              </a:rPr>
              <a:t> </a:t>
            </a:r>
            <a:endParaRPr lang="en-US" dirty="0">
              <a:effectLst/>
            </a:endParaRPr>
          </a:p>
          <a:p>
            <a:r>
              <a:rPr lang="en-US" sz="1200" kern="1200" dirty="0">
                <a:solidFill>
                  <a:schemeClr val="tx1"/>
                </a:solidFill>
                <a:effectLst/>
                <a:latin typeface="Times New Roman" pitchFamily="18" charset="0"/>
                <a:ea typeface="+mn-ea"/>
                <a:cs typeface="+mn-cs"/>
              </a:rPr>
              <a:t>The concept of cryptography is simple: Messages must be changed in such a way that they cannot be read easily if intercepted but can be decoded easily by the intended recipient.</a:t>
            </a:r>
            <a:endParaRPr lang="en-US" dirty="0">
              <a:effectLst/>
            </a:endParaRPr>
          </a:p>
          <a:p>
            <a:r>
              <a:rPr lang="en-US" sz="1200" kern="1200" dirty="0">
                <a:solidFill>
                  <a:schemeClr val="tx1"/>
                </a:solidFill>
                <a:effectLst/>
                <a:latin typeface="Times New Roman" pitchFamily="18" charset="0"/>
                <a:ea typeface="+mn-ea"/>
                <a:cs typeface="+mn-cs"/>
              </a:rPr>
              <a:t> </a:t>
            </a:r>
            <a:endParaRPr lang="en-US" dirty="0">
              <a:effectLst/>
            </a:endParaRPr>
          </a:p>
          <a:p>
            <a:endParaRPr lang="en-US" dirty="0">
              <a:effectLst/>
            </a:endParaRPr>
          </a:p>
        </p:txBody>
      </p:sp>
      <p:sp>
        <p:nvSpPr>
          <p:cNvPr id="33796" name="Date Placeholder 3"/>
          <p:cNvSpPr>
            <a:spLocks noGrp="1"/>
          </p:cNvSpPr>
          <p:nvPr>
            <p:ph type="dt" sz="quarter" idx="1"/>
          </p:nvPr>
        </p:nvSpPr>
        <p:spPr>
          <a:noFill/>
        </p:spPr>
        <p:txBody>
          <a:bodyPr/>
          <a:lstStyle/>
          <a:p>
            <a:pPr defTabSz="931863"/>
            <a:fld id="{42C039F9-CC0D-4672-AE23-0CDDC450DAC8}" type="datetime1">
              <a:rPr lang="en-US" smtClean="0"/>
              <a:pPr defTabSz="931863"/>
              <a:t>7/2/2017</a:t>
            </a:fld>
            <a:endParaRPr lang="en-US" dirty="0"/>
          </a:p>
        </p:txBody>
      </p:sp>
      <p:sp>
        <p:nvSpPr>
          <p:cNvPr id="33798" name="Slide Number Placeholder 5"/>
          <p:cNvSpPr>
            <a:spLocks noGrp="1"/>
          </p:cNvSpPr>
          <p:nvPr>
            <p:ph type="sldNum" sz="quarter" idx="5"/>
          </p:nvPr>
        </p:nvSpPr>
        <p:spPr>
          <a:noFill/>
        </p:spPr>
        <p:txBody>
          <a:bodyPr/>
          <a:lstStyle/>
          <a:p>
            <a:pPr defTabSz="931863"/>
            <a:fld id="{CE0702E3-C5AB-4A2E-B67C-891965ECD872}" type="slidenum">
              <a:rPr lang="en-US" smtClean="0"/>
              <a:pPr defTabSz="931863"/>
              <a:t>17</a:t>
            </a:fld>
            <a:endParaRPr lang="en-US" dirty="0"/>
          </a:p>
        </p:txBody>
      </p:sp>
    </p:spTree>
    <p:extLst>
      <p:ext uri="{BB962C8B-B14F-4D97-AF65-F5344CB8AC3E}">
        <p14:creationId xmlns:p14="http://schemas.microsoft.com/office/powerpoint/2010/main" val="20534157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r>
              <a:rPr lang="en-US" sz="1200" kern="1200" dirty="0">
                <a:solidFill>
                  <a:schemeClr val="tx1"/>
                </a:solidFill>
                <a:effectLst/>
                <a:latin typeface="Times New Roman" pitchFamily="18" charset="0"/>
                <a:ea typeface="+mn-ea"/>
                <a:cs typeface="+mn-cs"/>
              </a:rPr>
              <a:t>With steganography, an examiner may not even be aware that a message is present. With cryptography, it is obvious that a message is present, but the message is not easily deciphered. </a:t>
            </a:r>
            <a:endParaRPr lang="en-US" dirty="0">
              <a:effectLst/>
            </a:endParaRPr>
          </a:p>
          <a:p>
            <a:r>
              <a:rPr lang="en-US" sz="1200" kern="1200" dirty="0">
                <a:solidFill>
                  <a:schemeClr val="tx1"/>
                </a:solidFill>
                <a:effectLst/>
                <a:latin typeface="Times New Roman" pitchFamily="18" charset="0"/>
                <a:ea typeface="+mn-ea"/>
                <a:cs typeface="+mn-cs"/>
              </a:rPr>
              <a:t>  </a:t>
            </a:r>
            <a:endParaRPr lang="en-US" dirty="0">
              <a:effectLst/>
            </a:endParaRPr>
          </a:p>
        </p:txBody>
      </p:sp>
      <p:sp>
        <p:nvSpPr>
          <p:cNvPr id="33796" name="Date Placeholder 3"/>
          <p:cNvSpPr>
            <a:spLocks noGrp="1"/>
          </p:cNvSpPr>
          <p:nvPr>
            <p:ph type="dt" sz="quarter" idx="1"/>
          </p:nvPr>
        </p:nvSpPr>
        <p:spPr>
          <a:noFill/>
        </p:spPr>
        <p:txBody>
          <a:bodyPr/>
          <a:lstStyle/>
          <a:p>
            <a:pPr defTabSz="931863"/>
            <a:fld id="{42C039F9-CC0D-4672-AE23-0CDDC450DAC8}" type="datetime1">
              <a:rPr lang="en-US" smtClean="0"/>
              <a:pPr defTabSz="931863"/>
              <a:t>7/2/2017</a:t>
            </a:fld>
            <a:endParaRPr lang="en-US" dirty="0"/>
          </a:p>
        </p:txBody>
      </p:sp>
      <p:sp>
        <p:nvSpPr>
          <p:cNvPr id="33798" name="Slide Number Placeholder 5"/>
          <p:cNvSpPr>
            <a:spLocks noGrp="1"/>
          </p:cNvSpPr>
          <p:nvPr>
            <p:ph type="sldNum" sz="quarter" idx="5"/>
          </p:nvPr>
        </p:nvSpPr>
        <p:spPr>
          <a:noFill/>
        </p:spPr>
        <p:txBody>
          <a:bodyPr/>
          <a:lstStyle/>
          <a:p>
            <a:pPr defTabSz="931863"/>
            <a:fld id="{CE0702E3-C5AB-4A2E-B67C-891965ECD872}" type="slidenum">
              <a:rPr lang="en-US" smtClean="0"/>
              <a:pPr defTabSz="931863"/>
              <a:t>18</a:t>
            </a:fld>
            <a:endParaRPr lang="en-US" dirty="0"/>
          </a:p>
        </p:txBody>
      </p:sp>
    </p:spTree>
    <p:extLst>
      <p:ext uri="{BB962C8B-B14F-4D97-AF65-F5344CB8AC3E}">
        <p14:creationId xmlns:p14="http://schemas.microsoft.com/office/powerpoint/2010/main" val="14697694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The Caesar cipher was used by the ancient Romans. It is also referred to as the substitution cipher because you choose some number by which to shift each letter of a text and substitute the new alphabetic letter for the letter being encrypted. It is a very simple method of encryption and very easy to crack.</a:t>
            </a:r>
          </a:p>
          <a:p>
            <a:endParaRPr lang="en-US" dirty="0">
              <a:effectLst/>
            </a:endParaRPr>
          </a:p>
        </p:txBody>
      </p:sp>
      <p:sp>
        <p:nvSpPr>
          <p:cNvPr id="33796" name="Date Placeholder 3"/>
          <p:cNvSpPr>
            <a:spLocks noGrp="1"/>
          </p:cNvSpPr>
          <p:nvPr>
            <p:ph type="dt" sz="quarter" idx="1"/>
          </p:nvPr>
        </p:nvSpPr>
        <p:spPr>
          <a:noFill/>
        </p:spPr>
        <p:txBody>
          <a:bodyPr/>
          <a:lstStyle/>
          <a:p>
            <a:pPr defTabSz="931863"/>
            <a:fld id="{42C039F9-CC0D-4672-AE23-0CDDC450DAC8}" type="datetime1">
              <a:rPr lang="en-US" smtClean="0"/>
              <a:pPr defTabSz="931863"/>
              <a:t>7/2/2017</a:t>
            </a:fld>
            <a:endParaRPr lang="en-US" dirty="0"/>
          </a:p>
        </p:txBody>
      </p:sp>
      <p:sp>
        <p:nvSpPr>
          <p:cNvPr id="33798" name="Slide Number Placeholder 5"/>
          <p:cNvSpPr>
            <a:spLocks noGrp="1"/>
          </p:cNvSpPr>
          <p:nvPr>
            <p:ph type="sldNum" sz="quarter" idx="5"/>
          </p:nvPr>
        </p:nvSpPr>
        <p:spPr>
          <a:noFill/>
        </p:spPr>
        <p:txBody>
          <a:bodyPr/>
          <a:lstStyle/>
          <a:p>
            <a:pPr defTabSz="931863"/>
            <a:fld id="{CE0702E3-C5AB-4A2E-B67C-891965ECD872}" type="slidenum">
              <a:rPr lang="en-US" smtClean="0"/>
              <a:pPr defTabSz="931863"/>
              <a:t>19</a:t>
            </a:fld>
            <a:endParaRPr lang="en-US" dirty="0"/>
          </a:p>
        </p:txBody>
      </p:sp>
    </p:spTree>
    <p:extLst>
      <p:ext uri="{BB962C8B-B14F-4D97-AF65-F5344CB8AC3E}">
        <p14:creationId xmlns:p14="http://schemas.microsoft.com/office/powerpoint/2010/main" val="37595450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endParaRPr lang="en-US" dirty="0">
              <a:effectLst/>
            </a:endParaRPr>
          </a:p>
        </p:txBody>
      </p:sp>
      <p:sp>
        <p:nvSpPr>
          <p:cNvPr id="33796" name="Date Placeholder 3"/>
          <p:cNvSpPr>
            <a:spLocks noGrp="1"/>
          </p:cNvSpPr>
          <p:nvPr>
            <p:ph type="dt" sz="quarter" idx="1"/>
          </p:nvPr>
        </p:nvSpPr>
        <p:spPr>
          <a:noFill/>
        </p:spPr>
        <p:txBody>
          <a:bodyPr/>
          <a:lstStyle/>
          <a:p>
            <a:pPr defTabSz="931863"/>
            <a:fld id="{42C039F9-CC0D-4672-AE23-0CDDC450DAC8}" type="datetime1">
              <a:rPr lang="en-US" smtClean="0"/>
              <a:pPr defTabSz="931863"/>
              <a:t>7/2/2017</a:t>
            </a:fld>
            <a:endParaRPr lang="en-US" dirty="0"/>
          </a:p>
        </p:txBody>
      </p:sp>
      <p:sp>
        <p:nvSpPr>
          <p:cNvPr id="33798" name="Slide Number Placeholder 5"/>
          <p:cNvSpPr>
            <a:spLocks noGrp="1"/>
          </p:cNvSpPr>
          <p:nvPr>
            <p:ph type="sldNum" sz="quarter" idx="5"/>
          </p:nvPr>
        </p:nvSpPr>
        <p:spPr>
          <a:noFill/>
        </p:spPr>
        <p:txBody>
          <a:bodyPr/>
          <a:lstStyle/>
          <a:p>
            <a:pPr defTabSz="931863"/>
            <a:fld id="{CE0702E3-C5AB-4A2E-B67C-891965ECD872}" type="slidenum">
              <a:rPr lang="en-US" smtClean="0"/>
              <a:pPr defTabSz="931863"/>
              <a:t>20</a:t>
            </a:fld>
            <a:endParaRPr lang="en-US" dirty="0"/>
          </a:p>
        </p:txBody>
      </p:sp>
    </p:spTree>
    <p:extLst>
      <p:ext uri="{BB962C8B-B14F-4D97-AF65-F5344CB8AC3E}">
        <p14:creationId xmlns:p14="http://schemas.microsoft.com/office/powerpoint/2010/main" val="28814961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endParaRPr lang="en-US" dirty="0">
              <a:effectLst/>
            </a:endParaRPr>
          </a:p>
        </p:txBody>
      </p:sp>
      <p:sp>
        <p:nvSpPr>
          <p:cNvPr id="33796" name="Date Placeholder 3"/>
          <p:cNvSpPr>
            <a:spLocks noGrp="1"/>
          </p:cNvSpPr>
          <p:nvPr>
            <p:ph type="dt" sz="quarter" idx="1"/>
          </p:nvPr>
        </p:nvSpPr>
        <p:spPr>
          <a:noFill/>
        </p:spPr>
        <p:txBody>
          <a:bodyPr/>
          <a:lstStyle/>
          <a:p>
            <a:pPr defTabSz="931863"/>
            <a:fld id="{42C039F9-CC0D-4672-AE23-0CDDC450DAC8}" type="datetime1">
              <a:rPr lang="en-US" smtClean="0"/>
              <a:pPr defTabSz="931863"/>
              <a:t>7/2/2017</a:t>
            </a:fld>
            <a:endParaRPr lang="en-US" dirty="0"/>
          </a:p>
        </p:txBody>
      </p:sp>
      <p:sp>
        <p:nvSpPr>
          <p:cNvPr id="33798" name="Slide Number Placeholder 5"/>
          <p:cNvSpPr>
            <a:spLocks noGrp="1"/>
          </p:cNvSpPr>
          <p:nvPr>
            <p:ph type="sldNum" sz="quarter" idx="5"/>
          </p:nvPr>
        </p:nvSpPr>
        <p:spPr>
          <a:noFill/>
        </p:spPr>
        <p:txBody>
          <a:bodyPr/>
          <a:lstStyle/>
          <a:p>
            <a:pPr defTabSz="931863"/>
            <a:fld id="{CE0702E3-C5AB-4A2E-B67C-891965ECD872}" type="slidenum">
              <a:rPr lang="en-US" smtClean="0"/>
              <a:pPr defTabSz="931863"/>
              <a:t>21</a:t>
            </a:fld>
            <a:endParaRPr lang="en-US" dirty="0"/>
          </a:p>
        </p:txBody>
      </p:sp>
    </p:spTree>
    <p:extLst>
      <p:ext uri="{BB962C8B-B14F-4D97-AF65-F5344CB8AC3E}">
        <p14:creationId xmlns:p14="http://schemas.microsoft.com/office/powerpoint/2010/main" val="32222670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r>
              <a:rPr lang="en-US" dirty="0">
                <a:effectLst/>
              </a:rPr>
              <a:t>This cipher was used by Hebrew scholars copying the book of Jeremiah. This cipher simply reverses the alphabet—substituting the first letter of the alphabet for the last letter, the second letter for the second-to-last letter, and so on. It is primitive and easy to break.</a:t>
            </a:r>
          </a:p>
          <a:p>
            <a:endParaRPr lang="en-US" dirty="0">
              <a:effectLst/>
            </a:endParaRPr>
          </a:p>
          <a:p>
            <a:endParaRPr lang="en-US" dirty="0">
              <a:effectLst/>
            </a:endParaRPr>
          </a:p>
        </p:txBody>
      </p:sp>
      <p:sp>
        <p:nvSpPr>
          <p:cNvPr id="33796" name="Date Placeholder 3"/>
          <p:cNvSpPr>
            <a:spLocks noGrp="1"/>
          </p:cNvSpPr>
          <p:nvPr>
            <p:ph type="dt" sz="quarter" idx="1"/>
          </p:nvPr>
        </p:nvSpPr>
        <p:spPr>
          <a:noFill/>
        </p:spPr>
        <p:txBody>
          <a:bodyPr/>
          <a:lstStyle/>
          <a:p>
            <a:pPr defTabSz="931863"/>
            <a:fld id="{42C039F9-CC0D-4672-AE23-0CDDC450DAC8}" type="datetime1">
              <a:rPr lang="en-US" smtClean="0"/>
              <a:pPr defTabSz="931863"/>
              <a:t>7/2/2017</a:t>
            </a:fld>
            <a:endParaRPr lang="en-US" dirty="0"/>
          </a:p>
        </p:txBody>
      </p:sp>
      <p:sp>
        <p:nvSpPr>
          <p:cNvPr id="33798" name="Slide Number Placeholder 5"/>
          <p:cNvSpPr>
            <a:spLocks noGrp="1"/>
          </p:cNvSpPr>
          <p:nvPr>
            <p:ph type="sldNum" sz="quarter" idx="5"/>
          </p:nvPr>
        </p:nvSpPr>
        <p:spPr>
          <a:noFill/>
        </p:spPr>
        <p:txBody>
          <a:bodyPr/>
          <a:lstStyle/>
          <a:p>
            <a:pPr defTabSz="931863"/>
            <a:fld id="{CE0702E3-C5AB-4A2E-B67C-891965ECD872}" type="slidenum">
              <a:rPr lang="en-US" smtClean="0"/>
              <a:pPr defTabSz="931863"/>
              <a:t>22</a:t>
            </a:fld>
            <a:endParaRPr lang="en-US" dirty="0"/>
          </a:p>
        </p:txBody>
      </p:sp>
    </p:spTree>
    <p:extLst>
      <p:ext uri="{BB962C8B-B14F-4D97-AF65-F5344CB8AC3E}">
        <p14:creationId xmlns:p14="http://schemas.microsoft.com/office/powerpoint/2010/main" val="26058381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endParaRPr lang="en-US" dirty="0">
              <a:effectLst/>
            </a:endParaRPr>
          </a:p>
        </p:txBody>
      </p:sp>
      <p:sp>
        <p:nvSpPr>
          <p:cNvPr id="33796" name="Date Placeholder 3"/>
          <p:cNvSpPr>
            <a:spLocks noGrp="1"/>
          </p:cNvSpPr>
          <p:nvPr>
            <p:ph type="dt" sz="quarter" idx="1"/>
          </p:nvPr>
        </p:nvSpPr>
        <p:spPr>
          <a:noFill/>
        </p:spPr>
        <p:txBody>
          <a:bodyPr/>
          <a:lstStyle/>
          <a:p>
            <a:pPr defTabSz="931863"/>
            <a:fld id="{42C039F9-CC0D-4672-AE23-0CDDC450DAC8}" type="datetime1">
              <a:rPr lang="en-US" smtClean="0"/>
              <a:pPr defTabSz="931863"/>
              <a:t>7/2/2017</a:t>
            </a:fld>
            <a:endParaRPr lang="en-US" dirty="0"/>
          </a:p>
        </p:txBody>
      </p:sp>
      <p:sp>
        <p:nvSpPr>
          <p:cNvPr id="33798" name="Slide Number Placeholder 5"/>
          <p:cNvSpPr>
            <a:spLocks noGrp="1"/>
          </p:cNvSpPr>
          <p:nvPr>
            <p:ph type="sldNum" sz="quarter" idx="5"/>
          </p:nvPr>
        </p:nvSpPr>
        <p:spPr>
          <a:noFill/>
        </p:spPr>
        <p:txBody>
          <a:bodyPr/>
          <a:lstStyle/>
          <a:p>
            <a:pPr defTabSz="931863"/>
            <a:fld id="{CE0702E3-C5AB-4A2E-B67C-891965ECD872}" type="slidenum">
              <a:rPr lang="en-US" smtClean="0"/>
              <a:pPr defTabSz="931863"/>
              <a:t>23</a:t>
            </a:fld>
            <a:endParaRPr lang="en-US" dirty="0"/>
          </a:p>
        </p:txBody>
      </p:sp>
    </p:spTree>
    <p:extLst>
      <p:ext uri="{BB962C8B-B14F-4D97-AF65-F5344CB8AC3E}">
        <p14:creationId xmlns:p14="http://schemas.microsoft.com/office/powerpoint/2010/main" val="15498615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r>
              <a:rPr lang="en-US" dirty="0">
                <a:effectLst/>
              </a:rPr>
              <a:t>The scytale is a physical cylinder or baton. It was used to encrypt messages by wrapping a leather strip around the cylinder and writing across the leather. Turning the cylinder produced different ciphertexts. The message was decrypted by reading the message once placed over the same leather “key” wrapped around the same size cylinder.</a:t>
            </a:r>
          </a:p>
        </p:txBody>
      </p:sp>
      <p:sp>
        <p:nvSpPr>
          <p:cNvPr id="33796" name="Date Placeholder 3"/>
          <p:cNvSpPr>
            <a:spLocks noGrp="1"/>
          </p:cNvSpPr>
          <p:nvPr>
            <p:ph type="dt" sz="quarter" idx="1"/>
          </p:nvPr>
        </p:nvSpPr>
        <p:spPr>
          <a:noFill/>
        </p:spPr>
        <p:txBody>
          <a:bodyPr/>
          <a:lstStyle/>
          <a:p>
            <a:pPr defTabSz="931863"/>
            <a:fld id="{42C039F9-CC0D-4672-AE23-0CDDC450DAC8}" type="datetime1">
              <a:rPr lang="en-US" smtClean="0"/>
              <a:pPr defTabSz="931863"/>
              <a:t>7/2/2017</a:t>
            </a:fld>
            <a:endParaRPr lang="en-US" dirty="0"/>
          </a:p>
        </p:txBody>
      </p:sp>
      <p:sp>
        <p:nvSpPr>
          <p:cNvPr id="33798" name="Slide Number Placeholder 5"/>
          <p:cNvSpPr>
            <a:spLocks noGrp="1"/>
          </p:cNvSpPr>
          <p:nvPr>
            <p:ph type="sldNum" sz="quarter" idx="5"/>
          </p:nvPr>
        </p:nvSpPr>
        <p:spPr>
          <a:noFill/>
        </p:spPr>
        <p:txBody>
          <a:bodyPr/>
          <a:lstStyle/>
          <a:p>
            <a:pPr defTabSz="931863"/>
            <a:fld id="{CE0702E3-C5AB-4A2E-B67C-891965ECD872}" type="slidenum">
              <a:rPr lang="en-US" smtClean="0"/>
              <a:pPr defTabSz="931863"/>
              <a:t>24</a:t>
            </a:fld>
            <a:endParaRPr lang="en-US" dirty="0"/>
          </a:p>
        </p:txBody>
      </p:sp>
    </p:spTree>
    <p:extLst>
      <p:ext uri="{BB962C8B-B14F-4D97-AF65-F5344CB8AC3E}">
        <p14:creationId xmlns:p14="http://schemas.microsoft.com/office/powerpoint/2010/main" val="14280016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lvl="1" indent="0">
              <a:buSzTx/>
              <a:buFont typeface="Wingdings" pitchFamily="2" charset="2"/>
              <a:buNone/>
            </a:pPr>
            <a:r>
              <a:rPr lang="en-US" sz="3200" dirty="0"/>
              <a:t>To use the Playfair cipher, one need only memorize that keyword and four rules.</a:t>
            </a:r>
          </a:p>
          <a:p>
            <a:pPr marL="0" lvl="1" indent="0">
              <a:buSzTx/>
              <a:buFont typeface="Wingdings" pitchFamily="2" charset="2"/>
              <a:buNone/>
            </a:pPr>
            <a:endParaRPr lang="en-US" sz="3200" dirty="0"/>
          </a:p>
          <a:p>
            <a:pPr marL="0" lvl="1" indent="0">
              <a:buSzTx/>
              <a:buFont typeface="Wingdings" pitchFamily="2" charset="2"/>
              <a:buNone/>
            </a:pPr>
            <a:r>
              <a:rPr lang="en-US" sz="3200" dirty="0"/>
              <a:t>To use the cipher, first break the plaintext message into digraphs; so, for example, "Attack at dawn" becomes "At ta ck at da wn." If the final digraph is just a single letter, you can pad it with a letter z.</a:t>
            </a:r>
          </a:p>
          <a:p>
            <a:pPr marL="233363" lvl="1" indent="-233363">
              <a:buSzTx/>
              <a:buFont typeface="Wingdings" pitchFamily="2" charset="2"/>
              <a:buChar char="§"/>
            </a:pPr>
            <a:endParaRPr lang="en-US" sz="3200" dirty="0"/>
          </a:p>
          <a:p>
            <a:endParaRPr lang="en-US" dirty="0">
              <a:effectLst/>
            </a:endParaRPr>
          </a:p>
        </p:txBody>
      </p:sp>
      <p:sp>
        <p:nvSpPr>
          <p:cNvPr id="33796" name="Date Placeholder 3"/>
          <p:cNvSpPr>
            <a:spLocks noGrp="1"/>
          </p:cNvSpPr>
          <p:nvPr>
            <p:ph type="dt" sz="quarter" idx="1"/>
          </p:nvPr>
        </p:nvSpPr>
        <p:spPr>
          <a:noFill/>
        </p:spPr>
        <p:txBody>
          <a:bodyPr/>
          <a:lstStyle/>
          <a:p>
            <a:pPr defTabSz="931863"/>
            <a:fld id="{42C039F9-CC0D-4672-AE23-0CDDC450DAC8}" type="datetime1">
              <a:rPr lang="en-US" smtClean="0"/>
              <a:pPr defTabSz="931863"/>
              <a:t>7/2/2017</a:t>
            </a:fld>
            <a:endParaRPr lang="en-US" dirty="0"/>
          </a:p>
        </p:txBody>
      </p:sp>
      <p:sp>
        <p:nvSpPr>
          <p:cNvPr id="33798" name="Slide Number Placeholder 5"/>
          <p:cNvSpPr>
            <a:spLocks noGrp="1"/>
          </p:cNvSpPr>
          <p:nvPr>
            <p:ph type="sldNum" sz="quarter" idx="5"/>
          </p:nvPr>
        </p:nvSpPr>
        <p:spPr>
          <a:noFill/>
        </p:spPr>
        <p:txBody>
          <a:bodyPr/>
          <a:lstStyle/>
          <a:p>
            <a:pPr defTabSz="931863"/>
            <a:fld id="{CE0702E3-C5AB-4A2E-B67C-891965ECD872}" type="slidenum">
              <a:rPr lang="en-US" smtClean="0"/>
              <a:pPr defTabSz="931863"/>
              <a:t>25</a:t>
            </a:fld>
            <a:endParaRPr lang="en-US" dirty="0"/>
          </a:p>
        </p:txBody>
      </p:sp>
    </p:spTree>
    <p:extLst>
      <p:ext uri="{BB962C8B-B14F-4D97-AF65-F5344CB8AC3E}">
        <p14:creationId xmlns:p14="http://schemas.microsoft.com/office/powerpoint/2010/main" val="11847073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233363" lvl="1" indent="-233363">
              <a:buSzTx/>
              <a:buFont typeface="Wingdings" pitchFamily="2" charset="2"/>
              <a:buChar char="§"/>
            </a:pPr>
            <a:endParaRPr lang="en-US" sz="3200" dirty="0"/>
          </a:p>
          <a:p>
            <a:endParaRPr lang="en-US" dirty="0">
              <a:effectLst/>
            </a:endParaRPr>
          </a:p>
        </p:txBody>
      </p:sp>
      <p:sp>
        <p:nvSpPr>
          <p:cNvPr id="33796" name="Date Placeholder 3"/>
          <p:cNvSpPr>
            <a:spLocks noGrp="1"/>
          </p:cNvSpPr>
          <p:nvPr>
            <p:ph type="dt" sz="quarter" idx="1"/>
          </p:nvPr>
        </p:nvSpPr>
        <p:spPr>
          <a:noFill/>
        </p:spPr>
        <p:txBody>
          <a:bodyPr/>
          <a:lstStyle/>
          <a:p>
            <a:pPr defTabSz="931863"/>
            <a:fld id="{42C039F9-CC0D-4672-AE23-0CDDC450DAC8}" type="datetime1">
              <a:rPr lang="en-US" smtClean="0"/>
              <a:pPr defTabSz="931863"/>
              <a:t>7/2/2017</a:t>
            </a:fld>
            <a:endParaRPr lang="en-US" dirty="0"/>
          </a:p>
        </p:txBody>
      </p:sp>
      <p:sp>
        <p:nvSpPr>
          <p:cNvPr id="33798" name="Slide Number Placeholder 5"/>
          <p:cNvSpPr>
            <a:spLocks noGrp="1"/>
          </p:cNvSpPr>
          <p:nvPr>
            <p:ph type="sldNum" sz="quarter" idx="5"/>
          </p:nvPr>
        </p:nvSpPr>
        <p:spPr>
          <a:noFill/>
        </p:spPr>
        <p:txBody>
          <a:bodyPr/>
          <a:lstStyle/>
          <a:p>
            <a:pPr defTabSz="931863"/>
            <a:fld id="{CE0702E3-C5AB-4A2E-B67C-891965ECD872}" type="slidenum">
              <a:rPr lang="en-US" smtClean="0"/>
              <a:pPr defTabSz="931863"/>
              <a:t>26</a:t>
            </a:fld>
            <a:endParaRPr lang="en-US" dirty="0"/>
          </a:p>
        </p:txBody>
      </p:sp>
    </p:spTree>
    <p:extLst>
      <p:ext uri="{BB962C8B-B14F-4D97-AF65-F5344CB8AC3E}">
        <p14:creationId xmlns:p14="http://schemas.microsoft.com/office/powerpoint/2010/main" val="417822643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233363" lvl="1" indent="-233363">
              <a:buSzTx/>
              <a:buFont typeface="Wingdings" pitchFamily="2" charset="2"/>
              <a:buChar char="§"/>
            </a:pPr>
            <a:endParaRPr lang="en-US" sz="3200" dirty="0"/>
          </a:p>
          <a:p>
            <a:endParaRPr lang="en-US" dirty="0">
              <a:effectLst/>
            </a:endParaRPr>
          </a:p>
        </p:txBody>
      </p:sp>
      <p:sp>
        <p:nvSpPr>
          <p:cNvPr id="33796" name="Date Placeholder 3"/>
          <p:cNvSpPr>
            <a:spLocks noGrp="1"/>
          </p:cNvSpPr>
          <p:nvPr>
            <p:ph type="dt" sz="quarter" idx="1"/>
          </p:nvPr>
        </p:nvSpPr>
        <p:spPr>
          <a:noFill/>
        </p:spPr>
        <p:txBody>
          <a:bodyPr/>
          <a:lstStyle/>
          <a:p>
            <a:pPr defTabSz="931863"/>
            <a:fld id="{42C039F9-CC0D-4672-AE23-0CDDC450DAC8}" type="datetime1">
              <a:rPr lang="en-US" smtClean="0"/>
              <a:pPr defTabSz="931863"/>
              <a:t>7/2/2017</a:t>
            </a:fld>
            <a:endParaRPr lang="en-US" dirty="0"/>
          </a:p>
        </p:txBody>
      </p:sp>
      <p:sp>
        <p:nvSpPr>
          <p:cNvPr id="33798" name="Slide Number Placeholder 5"/>
          <p:cNvSpPr>
            <a:spLocks noGrp="1"/>
          </p:cNvSpPr>
          <p:nvPr>
            <p:ph type="sldNum" sz="quarter" idx="5"/>
          </p:nvPr>
        </p:nvSpPr>
        <p:spPr>
          <a:noFill/>
        </p:spPr>
        <p:txBody>
          <a:bodyPr/>
          <a:lstStyle/>
          <a:p>
            <a:pPr defTabSz="931863"/>
            <a:fld id="{CE0702E3-C5AB-4A2E-B67C-891965ECD872}" type="slidenum">
              <a:rPr lang="en-US" smtClean="0"/>
              <a:pPr defTabSz="931863"/>
              <a:t>27</a:t>
            </a:fld>
            <a:endParaRPr lang="en-US" dirty="0"/>
          </a:p>
        </p:txBody>
      </p:sp>
    </p:spTree>
    <p:extLst>
      <p:ext uri="{BB962C8B-B14F-4D97-AF65-F5344CB8AC3E}">
        <p14:creationId xmlns:p14="http://schemas.microsoft.com/office/powerpoint/2010/main" val="7796721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233363" lvl="1" indent="-233363">
              <a:buSzTx/>
              <a:buFont typeface="Wingdings" pitchFamily="2" charset="2"/>
              <a:buChar char="§"/>
            </a:pPr>
            <a:endParaRPr lang="en-US" sz="3200" dirty="0"/>
          </a:p>
          <a:p>
            <a:endParaRPr lang="en-US" dirty="0">
              <a:effectLst/>
            </a:endParaRPr>
          </a:p>
        </p:txBody>
      </p:sp>
      <p:sp>
        <p:nvSpPr>
          <p:cNvPr id="33796" name="Date Placeholder 3"/>
          <p:cNvSpPr>
            <a:spLocks noGrp="1"/>
          </p:cNvSpPr>
          <p:nvPr>
            <p:ph type="dt" sz="quarter" idx="1"/>
          </p:nvPr>
        </p:nvSpPr>
        <p:spPr>
          <a:noFill/>
        </p:spPr>
        <p:txBody>
          <a:bodyPr/>
          <a:lstStyle/>
          <a:p>
            <a:pPr defTabSz="931863"/>
            <a:fld id="{42C039F9-CC0D-4672-AE23-0CDDC450DAC8}" type="datetime1">
              <a:rPr lang="en-US" smtClean="0"/>
              <a:pPr defTabSz="931863"/>
              <a:t>7/2/2017</a:t>
            </a:fld>
            <a:endParaRPr lang="en-US" dirty="0"/>
          </a:p>
        </p:txBody>
      </p:sp>
      <p:sp>
        <p:nvSpPr>
          <p:cNvPr id="33798" name="Slide Number Placeholder 5"/>
          <p:cNvSpPr>
            <a:spLocks noGrp="1"/>
          </p:cNvSpPr>
          <p:nvPr>
            <p:ph type="sldNum" sz="quarter" idx="5"/>
          </p:nvPr>
        </p:nvSpPr>
        <p:spPr>
          <a:noFill/>
        </p:spPr>
        <p:txBody>
          <a:bodyPr/>
          <a:lstStyle/>
          <a:p>
            <a:pPr defTabSz="931863"/>
            <a:fld id="{CE0702E3-C5AB-4A2E-B67C-891965ECD872}" type="slidenum">
              <a:rPr lang="en-US" smtClean="0"/>
              <a:pPr defTabSz="931863"/>
              <a:t>28</a:t>
            </a:fld>
            <a:endParaRPr lang="en-US" dirty="0"/>
          </a:p>
        </p:txBody>
      </p:sp>
    </p:spTree>
    <p:extLst>
      <p:ext uri="{BB962C8B-B14F-4D97-AF65-F5344CB8AC3E}">
        <p14:creationId xmlns:p14="http://schemas.microsoft.com/office/powerpoint/2010/main" val="409532511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This cipher uses multiple numbers by which letters in plaintext are shifted. Multiple substitution alphabets are created. This cipher represented a slight improvement on the Caesar cipher but is still easily cracked.</a:t>
            </a:r>
          </a:p>
          <a:p>
            <a:endParaRPr lang="en-US" dirty="0">
              <a:effectLst/>
            </a:endParaRPr>
          </a:p>
        </p:txBody>
      </p:sp>
      <p:sp>
        <p:nvSpPr>
          <p:cNvPr id="33796" name="Date Placeholder 3"/>
          <p:cNvSpPr>
            <a:spLocks noGrp="1"/>
          </p:cNvSpPr>
          <p:nvPr>
            <p:ph type="dt" sz="quarter" idx="1"/>
          </p:nvPr>
        </p:nvSpPr>
        <p:spPr>
          <a:noFill/>
        </p:spPr>
        <p:txBody>
          <a:bodyPr/>
          <a:lstStyle/>
          <a:p>
            <a:pPr defTabSz="931863"/>
            <a:fld id="{42C039F9-CC0D-4672-AE23-0CDDC450DAC8}" type="datetime1">
              <a:rPr lang="en-US" smtClean="0"/>
              <a:pPr defTabSz="931863"/>
              <a:t>7/2/2017</a:t>
            </a:fld>
            <a:endParaRPr lang="en-US" dirty="0"/>
          </a:p>
        </p:txBody>
      </p:sp>
      <p:sp>
        <p:nvSpPr>
          <p:cNvPr id="33798" name="Slide Number Placeholder 5"/>
          <p:cNvSpPr>
            <a:spLocks noGrp="1"/>
          </p:cNvSpPr>
          <p:nvPr>
            <p:ph type="sldNum" sz="quarter" idx="5"/>
          </p:nvPr>
        </p:nvSpPr>
        <p:spPr>
          <a:noFill/>
        </p:spPr>
        <p:txBody>
          <a:bodyPr/>
          <a:lstStyle/>
          <a:p>
            <a:pPr defTabSz="931863"/>
            <a:fld id="{CE0702E3-C5AB-4A2E-B67C-891965ECD872}" type="slidenum">
              <a:rPr lang="en-US" smtClean="0"/>
              <a:pPr defTabSz="931863"/>
              <a:t>29</a:t>
            </a:fld>
            <a:endParaRPr lang="en-US" dirty="0"/>
          </a:p>
        </p:txBody>
      </p:sp>
    </p:spTree>
    <p:extLst>
      <p:ext uri="{BB962C8B-B14F-4D97-AF65-F5344CB8AC3E}">
        <p14:creationId xmlns:p14="http://schemas.microsoft.com/office/powerpoint/2010/main" val="2157966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233363" lvl="1" indent="-233363">
              <a:buSzTx/>
              <a:buFont typeface="Wingdings" pitchFamily="2" charset="2"/>
              <a:buChar char="§"/>
            </a:pPr>
            <a:r>
              <a:rPr lang="en-US" sz="3200" dirty="0"/>
              <a:t>Notice that the fourth letter starts over with another +2.</a:t>
            </a:r>
          </a:p>
          <a:p>
            <a:pPr marL="233363" lvl="1" indent="-233363">
              <a:buSzTx/>
              <a:buFont typeface="Wingdings" pitchFamily="2" charset="2"/>
              <a:buChar char="§"/>
            </a:pPr>
            <a:r>
              <a:rPr lang="en-US" sz="3200" dirty="0"/>
              <a:t>The first A was transformed to C and the second A was transformed to D.</a:t>
            </a:r>
          </a:p>
        </p:txBody>
      </p:sp>
      <p:sp>
        <p:nvSpPr>
          <p:cNvPr id="33796" name="Date Placeholder 3"/>
          <p:cNvSpPr>
            <a:spLocks noGrp="1"/>
          </p:cNvSpPr>
          <p:nvPr>
            <p:ph type="dt" sz="quarter" idx="1"/>
          </p:nvPr>
        </p:nvSpPr>
        <p:spPr>
          <a:noFill/>
        </p:spPr>
        <p:txBody>
          <a:bodyPr/>
          <a:lstStyle/>
          <a:p>
            <a:pPr defTabSz="931863"/>
            <a:fld id="{42C039F9-CC0D-4672-AE23-0CDDC450DAC8}" type="datetime1">
              <a:rPr lang="en-US" smtClean="0"/>
              <a:pPr defTabSz="931863"/>
              <a:t>7/2/2017</a:t>
            </a:fld>
            <a:endParaRPr lang="en-US" dirty="0"/>
          </a:p>
        </p:txBody>
      </p:sp>
      <p:sp>
        <p:nvSpPr>
          <p:cNvPr id="33798" name="Slide Number Placeholder 5"/>
          <p:cNvSpPr>
            <a:spLocks noGrp="1"/>
          </p:cNvSpPr>
          <p:nvPr>
            <p:ph type="sldNum" sz="quarter" idx="5"/>
          </p:nvPr>
        </p:nvSpPr>
        <p:spPr>
          <a:noFill/>
        </p:spPr>
        <p:txBody>
          <a:bodyPr/>
          <a:lstStyle/>
          <a:p>
            <a:pPr defTabSz="931863"/>
            <a:fld id="{CE0702E3-C5AB-4A2E-B67C-891965ECD872}" type="slidenum">
              <a:rPr lang="en-US" smtClean="0"/>
              <a:pPr defTabSz="931863"/>
              <a:t>30</a:t>
            </a:fld>
            <a:endParaRPr lang="en-US" dirty="0"/>
          </a:p>
        </p:txBody>
      </p:sp>
    </p:spTree>
    <p:extLst>
      <p:ext uri="{BB962C8B-B14F-4D97-AF65-F5344CB8AC3E}">
        <p14:creationId xmlns:p14="http://schemas.microsoft.com/office/powerpoint/2010/main" val="390797784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This method uses a table and a selected keyword to encrypt a message.</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Match the letter of your keyword on the top with the letter of your plaintext on the left to find the ciphertext.</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This type of multialphabet cipher is more secure than a single-alphabet substitution cipher but is still easily cracked by computers.</a:t>
            </a:r>
          </a:p>
          <a:p>
            <a:endParaRPr lang="en-US" dirty="0">
              <a:effectLst/>
            </a:endParaRPr>
          </a:p>
          <a:p>
            <a:r>
              <a:rPr lang="en-US" dirty="0">
                <a:effectLst/>
              </a:rPr>
              <a:t>Example: if you are encrypting the word </a:t>
            </a:r>
            <a:r>
              <a:rPr lang="en-US" i="1" dirty="0">
                <a:effectLst/>
              </a:rPr>
              <a:t>cat</a:t>
            </a:r>
            <a:r>
              <a:rPr lang="en-US" dirty="0">
                <a:effectLst/>
              </a:rPr>
              <a:t> and your keyword is </a:t>
            </a:r>
            <a:r>
              <a:rPr lang="en-US" i="1" dirty="0">
                <a:effectLst/>
              </a:rPr>
              <a:t>horse</a:t>
            </a:r>
            <a:r>
              <a:rPr lang="en-US" dirty="0">
                <a:effectLst/>
              </a:rPr>
              <a:t>, then the ciphertext is </a:t>
            </a:r>
            <a:r>
              <a:rPr lang="en-US" i="1" dirty="0">
                <a:effectLst/>
              </a:rPr>
              <a:t>jok</a:t>
            </a:r>
            <a:r>
              <a:rPr lang="en-US" dirty="0">
                <a:effectLst/>
              </a:rPr>
              <a:t>.</a:t>
            </a:r>
          </a:p>
        </p:txBody>
      </p:sp>
      <p:sp>
        <p:nvSpPr>
          <p:cNvPr id="33796" name="Date Placeholder 3"/>
          <p:cNvSpPr>
            <a:spLocks noGrp="1"/>
          </p:cNvSpPr>
          <p:nvPr>
            <p:ph type="dt" sz="quarter" idx="1"/>
          </p:nvPr>
        </p:nvSpPr>
        <p:spPr>
          <a:noFill/>
        </p:spPr>
        <p:txBody>
          <a:bodyPr/>
          <a:lstStyle/>
          <a:p>
            <a:pPr defTabSz="931863"/>
            <a:fld id="{42C039F9-CC0D-4672-AE23-0CDDC450DAC8}" type="datetime1">
              <a:rPr lang="en-US" smtClean="0"/>
              <a:pPr defTabSz="931863"/>
              <a:t>7/2/2017</a:t>
            </a:fld>
            <a:endParaRPr lang="en-US" dirty="0"/>
          </a:p>
        </p:txBody>
      </p:sp>
      <p:sp>
        <p:nvSpPr>
          <p:cNvPr id="33798" name="Slide Number Placeholder 5"/>
          <p:cNvSpPr>
            <a:spLocks noGrp="1"/>
          </p:cNvSpPr>
          <p:nvPr>
            <p:ph type="sldNum" sz="quarter" idx="5"/>
          </p:nvPr>
        </p:nvSpPr>
        <p:spPr>
          <a:noFill/>
        </p:spPr>
        <p:txBody>
          <a:bodyPr/>
          <a:lstStyle/>
          <a:p>
            <a:pPr defTabSz="931863"/>
            <a:fld id="{CE0702E3-C5AB-4A2E-B67C-891965ECD872}" type="slidenum">
              <a:rPr lang="en-US" smtClean="0"/>
              <a:pPr defTabSz="931863"/>
              <a:t>31</a:t>
            </a:fld>
            <a:endParaRPr lang="en-US" dirty="0"/>
          </a:p>
        </p:txBody>
      </p:sp>
    </p:spTree>
    <p:extLst>
      <p:ext uri="{BB962C8B-B14F-4D97-AF65-F5344CB8AC3E}">
        <p14:creationId xmlns:p14="http://schemas.microsoft.com/office/powerpoint/2010/main" val="232539001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In World War II, the Germans used an electromechanical rotor-based cipher system known as the Enigma machine. It is a multialphabet substitution cipher using machinery to accomplish the encryption. The machine was designed so that when the operator pressed a key, the encrypted ciphertext for that plaintext was altered each time. The Enigma machine and its many variations were essentially mechanical implementations of multialphabet substitution.</a:t>
            </a:r>
          </a:p>
          <a:p>
            <a:endParaRPr lang="en-US" dirty="0">
              <a:effectLst/>
            </a:endParaRPr>
          </a:p>
        </p:txBody>
      </p:sp>
      <p:sp>
        <p:nvSpPr>
          <p:cNvPr id="33796" name="Date Placeholder 3"/>
          <p:cNvSpPr>
            <a:spLocks noGrp="1"/>
          </p:cNvSpPr>
          <p:nvPr>
            <p:ph type="dt" sz="quarter" idx="1"/>
          </p:nvPr>
        </p:nvSpPr>
        <p:spPr>
          <a:noFill/>
        </p:spPr>
        <p:txBody>
          <a:bodyPr/>
          <a:lstStyle/>
          <a:p>
            <a:pPr defTabSz="931863"/>
            <a:fld id="{42C039F9-CC0D-4672-AE23-0CDDC450DAC8}" type="datetime1">
              <a:rPr lang="en-US" smtClean="0"/>
              <a:pPr defTabSz="931863"/>
              <a:t>7/2/2017</a:t>
            </a:fld>
            <a:endParaRPr lang="en-US" dirty="0"/>
          </a:p>
        </p:txBody>
      </p:sp>
      <p:sp>
        <p:nvSpPr>
          <p:cNvPr id="33798" name="Slide Number Placeholder 5"/>
          <p:cNvSpPr>
            <a:spLocks noGrp="1"/>
          </p:cNvSpPr>
          <p:nvPr>
            <p:ph type="sldNum" sz="quarter" idx="5"/>
          </p:nvPr>
        </p:nvSpPr>
        <p:spPr>
          <a:noFill/>
        </p:spPr>
        <p:txBody>
          <a:bodyPr/>
          <a:lstStyle/>
          <a:p>
            <a:pPr defTabSz="931863"/>
            <a:fld id="{CE0702E3-C5AB-4A2E-B67C-891965ECD872}" type="slidenum">
              <a:rPr lang="en-US" smtClean="0"/>
              <a:pPr defTabSz="931863"/>
              <a:t>32</a:t>
            </a:fld>
            <a:endParaRPr lang="en-US" dirty="0"/>
          </a:p>
        </p:txBody>
      </p:sp>
    </p:spTree>
    <p:extLst>
      <p:ext uri="{BB962C8B-B14F-4D97-AF65-F5344CB8AC3E}">
        <p14:creationId xmlns:p14="http://schemas.microsoft.com/office/powerpoint/2010/main" val="17742013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endParaRPr lang="en-US" dirty="0">
              <a:effectLst/>
            </a:endParaRPr>
          </a:p>
        </p:txBody>
      </p:sp>
      <p:sp>
        <p:nvSpPr>
          <p:cNvPr id="33796" name="Date Placeholder 3"/>
          <p:cNvSpPr>
            <a:spLocks noGrp="1"/>
          </p:cNvSpPr>
          <p:nvPr>
            <p:ph type="dt" sz="quarter" idx="1"/>
          </p:nvPr>
        </p:nvSpPr>
        <p:spPr>
          <a:noFill/>
        </p:spPr>
        <p:txBody>
          <a:bodyPr/>
          <a:lstStyle/>
          <a:p>
            <a:pPr defTabSz="931863"/>
            <a:fld id="{42C039F9-CC0D-4672-AE23-0CDDC450DAC8}" type="datetime1">
              <a:rPr lang="en-US" smtClean="0"/>
              <a:pPr defTabSz="931863"/>
              <a:t>7/2/2017</a:t>
            </a:fld>
            <a:endParaRPr lang="en-US" dirty="0"/>
          </a:p>
        </p:txBody>
      </p:sp>
      <p:sp>
        <p:nvSpPr>
          <p:cNvPr id="33798" name="Slide Number Placeholder 5"/>
          <p:cNvSpPr>
            <a:spLocks noGrp="1"/>
          </p:cNvSpPr>
          <p:nvPr>
            <p:ph type="sldNum" sz="quarter" idx="5"/>
          </p:nvPr>
        </p:nvSpPr>
        <p:spPr>
          <a:noFill/>
        </p:spPr>
        <p:txBody>
          <a:bodyPr/>
          <a:lstStyle/>
          <a:p>
            <a:pPr defTabSz="931863"/>
            <a:fld id="{CE0702E3-C5AB-4A2E-B67C-891965ECD872}" type="slidenum">
              <a:rPr lang="en-US" smtClean="0"/>
              <a:pPr defTabSz="931863"/>
              <a:t>33</a:t>
            </a:fld>
            <a:endParaRPr lang="en-US" dirty="0"/>
          </a:p>
        </p:txBody>
      </p:sp>
    </p:spTree>
    <p:extLst>
      <p:ext uri="{BB962C8B-B14F-4D97-AF65-F5344CB8AC3E}">
        <p14:creationId xmlns:p14="http://schemas.microsoft.com/office/powerpoint/2010/main" val="22666499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endParaRPr lang="en-US" dirty="0">
              <a:effectLst/>
            </a:endParaRPr>
          </a:p>
        </p:txBody>
      </p:sp>
      <p:sp>
        <p:nvSpPr>
          <p:cNvPr id="33796" name="Date Placeholder 3"/>
          <p:cNvSpPr>
            <a:spLocks noGrp="1"/>
          </p:cNvSpPr>
          <p:nvPr>
            <p:ph type="dt" sz="quarter" idx="1"/>
          </p:nvPr>
        </p:nvSpPr>
        <p:spPr>
          <a:noFill/>
        </p:spPr>
        <p:txBody>
          <a:bodyPr/>
          <a:lstStyle/>
          <a:p>
            <a:pPr defTabSz="931863"/>
            <a:fld id="{42C039F9-CC0D-4672-AE23-0CDDC450DAC8}" type="datetime1">
              <a:rPr lang="en-US" smtClean="0"/>
              <a:pPr defTabSz="931863"/>
              <a:t>7/2/2017</a:t>
            </a:fld>
            <a:endParaRPr lang="en-US" dirty="0"/>
          </a:p>
        </p:txBody>
      </p:sp>
      <p:sp>
        <p:nvSpPr>
          <p:cNvPr id="33798" name="Slide Number Placeholder 5"/>
          <p:cNvSpPr>
            <a:spLocks noGrp="1"/>
          </p:cNvSpPr>
          <p:nvPr>
            <p:ph type="sldNum" sz="quarter" idx="5"/>
          </p:nvPr>
        </p:nvSpPr>
        <p:spPr>
          <a:noFill/>
        </p:spPr>
        <p:txBody>
          <a:bodyPr/>
          <a:lstStyle/>
          <a:p>
            <a:pPr defTabSz="931863"/>
            <a:fld id="{CE0702E3-C5AB-4A2E-B67C-891965ECD872}" type="slidenum">
              <a:rPr lang="en-US" smtClean="0"/>
              <a:pPr defTabSz="931863"/>
              <a:t>34</a:t>
            </a:fld>
            <a:endParaRPr lang="en-US" dirty="0"/>
          </a:p>
        </p:txBody>
      </p:sp>
    </p:spTree>
    <p:extLst>
      <p:ext uri="{BB962C8B-B14F-4D97-AF65-F5344CB8AC3E}">
        <p14:creationId xmlns:p14="http://schemas.microsoft.com/office/powerpoint/2010/main" val="198861217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endParaRPr lang="en-US" dirty="0">
              <a:effectLst/>
            </a:endParaRPr>
          </a:p>
        </p:txBody>
      </p:sp>
      <p:sp>
        <p:nvSpPr>
          <p:cNvPr id="33796" name="Date Placeholder 3"/>
          <p:cNvSpPr>
            <a:spLocks noGrp="1"/>
          </p:cNvSpPr>
          <p:nvPr>
            <p:ph type="dt" sz="quarter" idx="1"/>
          </p:nvPr>
        </p:nvSpPr>
        <p:spPr>
          <a:noFill/>
        </p:spPr>
        <p:txBody>
          <a:bodyPr/>
          <a:lstStyle/>
          <a:p>
            <a:pPr defTabSz="931863"/>
            <a:fld id="{42C039F9-CC0D-4672-AE23-0CDDC450DAC8}" type="datetime1">
              <a:rPr lang="en-US" smtClean="0"/>
              <a:pPr defTabSz="931863"/>
              <a:t>7/2/2017</a:t>
            </a:fld>
            <a:endParaRPr lang="en-US" dirty="0"/>
          </a:p>
        </p:txBody>
      </p:sp>
      <p:sp>
        <p:nvSpPr>
          <p:cNvPr id="33798" name="Slide Number Placeholder 5"/>
          <p:cNvSpPr>
            <a:spLocks noGrp="1"/>
          </p:cNvSpPr>
          <p:nvPr>
            <p:ph type="sldNum" sz="quarter" idx="5"/>
          </p:nvPr>
        </p:nvSpPr>
        <p:spPr>
          <a:noFill/>
        </p:spPr>
        <p:txBody>
          <a:bodyPr/>
          <a:lstStyle/>
          <a:p>
            <a:pPr defTabSz="931863"/>
            <a:fld id="{CE0702E3-C5AB-4A2E-B67C-891965ECD872}" type="slidenum">
              <a:rPr lang="en-US" smtClean="0"/>
              <a:pPr defTabSz="931863"/>
              <a:t>35</a:t>
            </a:fld>
            <a:endParaRPr lang="en-US" dirty="0"/>
          </a:p>
        </p:txBody>
      </p:sp>
    </p:spTree>
    <p:extLst>
      <p:ext uri="{BB962C8B-B14F-4D97-AF65-F5344CB8AC3E}">
        <p14:creationId xmlns:p14="http://schemas.microsoft.com/office/powerpoint/2010/main" val="421574407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endParaRPr lang="en-US" dirty="0">
              <a:effectLst/>
            </a:endParaRPr>
          </a:p>
        </p:txBody>
      </p:sp>
      <p:sp>
        <p:nvSpPr>
          <p:cNvPr id="33796" name="Date Placeholder 3"/>
          <p:cNvSpPr>
            <a:spLocks noGrp="1"/>
          </p:cNvSpPr>
          <p:nvPr>
            <p:ph type="dt" sz="quarter" idx="1"/>
          </p:nvPr>
        </p:nvSpPr>
        <p:spPr>
          <a:noFill/>
        </p:spPr>
        <p:txBody>
          <a:bodyPr/>
          <a:lstStyle/>
          <a:p>
            <a:pPr defTabSz="931863"/>
            <a:fld id="{42C039F9-CC0D-4672-AE23-0CDDC450DAC8}" type="datetime1">
              <a:rPr lang="en-US" smtClean="0"/>
              <a:pPr defTabSz="931863"/>
              <a:t>7/2/2017</a:t>
            </a:fld>
            <a:endParaRPr lang="en-US" dirty="0"/>
          </a:p>
        </p:txBody>
      </p:sp>
      <p:sp>
        <p:nvSpPr>
          <p:cNvPr id="33798" name="Slide Number Placeholder 5"/>
          <p:cNvSpPr>
            <a:spLocks noGrp="1"/>
          </p:cNvSpPr>
          <p:nvPr>
            <p:ph type="sldNum" sz="quarter" idx="5"/>
          </p:nvPr>
        </p:nvSpPr>
        <p:spPr>
          <a:noFill/>
        </p:spPr>
        <p:txBody>
          <a:bodyPr/>
          <a:lstStyle/>
          <a:p>
            <a:pPr defTabSz="931863"/>
            <a:fld id="{CE0702E3-C5AB-4A2E-B67C-891965ECD872}" type="slidenum">
              <a:rPr lang="en-US" smtClean="0"/>
              <a:pPr defTabSz="931863"/>
              <a:t>36</a:t>
            </a:fld>
            <a:endParaRPr lang="en-US" dirty="0"/>
          </a:p>
        </p:txBody>
      </p:sp>
    </p:spTree>
    <p:extLst>
      <p:ext uri="{BB962C8B-B14F-4D97-AF65-F5344CB8AC3E}">
        <p14:creationId xmlns:p14="http://schemas.microsoft.com/office/powerpoint/2010/main" val="137251135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r>
              <a:rPr lang="en-US" sz="1200" kern="1200" dirty="0">
                <a:solidFill>
                  <a:schemeClr val="tx1"/>
                </a:solidFill>
                <a:effectLst/>
                <a:latin typeface="Times New Roman" pitchFamily="18" charset="0"/>
                <a:ea typeface="+mn-ea"/>
                <a:cs typeface="+mn-cs"/>
              </a:rPr>
              <a:t>All of the historical examples examined in this lesson have been simple substitution ciphers because each single character of plaintext is converted into a single character of ciphertext. </a:t>
            </a:r>
          </a:p>
          <a:p>
            <a:r>
              <a:rPr lang="en-US" sz="1200" kern="1200" dirty="0">
                <a:solidFill>
                  <a:schemeClr val="tx1"/>
                </a:solidFill>
                <a:effectLst/>
                <a:latin typeface="Times New Roman" pitchFamily="18" charset="0"/>
                <a:ea typeface="+mn-ea"/>
                <a:cs typeface="+mn-cs"/>
              </a:rPr>
              <a:t> </a:t>
            </a:r>
          </a:p>
          <a:p>
            <a:r>
              <a:rPr lang="en-US" sz="1200" kern="1200" dirty="0">
                <a:solidFill>
                  <a:schemeClr val="tx1"/>
                </a:solidFill>
                <a:effectLst/>
                <a:latin typeface="Times New Roman" pitchFamily="18" charset="0"/>
                <a:ea typeface="+mn-ea"/>
                <a:cs typeface="+mn-cs"/>
              </a:rPr>
              <a:t>However, all modern block-cipher algorithms use both substitution and transposition, which is the swapping of blocks of ciphertext. This combination of substitution and transposition increases the security of the resultant ciphertext by making cryptanalysis more complex.</a:t>
            </a:r>
          </a:p>
          <a:p>
            <a:endParaRPr lang="en-US" dirty="0">
              <a:effectLst/>
            </a:endParaRPr>
          </a:p>
        </p:txBody>
      </p:sp>
      <p:sp>
        <p:nvSpPr>
          <p:cNvPr id="33796" name="Date Placeholder 3"/>
          <p:cNvSpPr>
            <a:spLocks noGrp="1"/>
          </p:cNvSpPr>
          <p:nvPr>
            <p:ph type="dt" sz="quarter" idx="1"/>
          </p:nvPr>
        </p:nvSpPr>
        <p:spPr>
          <a:noFill/>
        </p:spPr>
        <p:txBody>
          <a:bodyPr/>
          <a:lstStyle/>
          <a:p>
            <a:pPr defTabSz="931863"/>
            <a:fld id="{42C039F9-CC0D-4672-AE23-0CDDC450DAC8}" type="datetime1">
              <a:rPr lang="en-US" smtClean="0"/>
              <a:pPr defTabSz="931863"/>
              <a:t>7/2/2017</a:t>
            </a:fld>
            <a:endParaRPr lang="en-US" dirty="0"/>
          </a:p>
        </p:txBody>
      </p:sp>
      <p:sp>
        <p:nvSpPr>
          <p:cNvPr id="33798" name="Slide Number Placeholder 5"/>
          <p:cNvSpPr>
            <a:spLocks noGrp="1"/>
          </p:cNvSpPr>
          <p:nvPr>
            <p:ph type="sldNum" sz="quarter" idx="5"/>
          </p:nvPr>
        </p:nvSpPr>
        <p:spPr>
          <a:noFill/>
        </p:spPr>
        <p:txBody>
          <a:bodyPr/>
          <a:lstStyle/>
          <a:p>
            <a:pPr defTabSz="931863"/>
            <a:fld id="{CE0702E3-C5AB-4A2E-B67C-891965ECD872}" type="slidenum">
              <a:rPr lang="en-US" smtClean="0"/>
              <a:pPr defTabSz="931863"/>
              <a:t>37</a:t>
            </a:fld>
            <a:endParaRPr lang="en-US" dirty="0"/>
          </a:p>
        </p:txBody>
      </p:sp>
    </p:spTree>
    <p:extLst>
      <p:ext uri="{BB962C8B-B14F-4D97-AF65-F5344CB8AC3E}">
        <p14:creationId xmlns:p14="http://schemas.microsoft.com/office/powerpoint/2010/main" val="171897187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r>
              <a:rPr lang="en-US" sz="1200" kern="1200" dirty="0">
                <a:solidFill>
                  <a:schemeClr val="tx1"/>
                </a:solidFill>
                <a:effectLst/>
                <a:latin typeface="Times New Roman" pitchFamily="18" charset="0"/>
                <a:ea typeface="+mn-ea"/>
                <a:cs typeface="+mn-cs"/>
              </a:rPr>
              <a:t>There are two types of symmetric approaches: block ciphers and stream ciphers. A block cipher literally encrypts the data in groups of bits, also known as blocks. Stream ciphers encrypt the data as a stream, one bit at a time. </a:t>
            </a:r>
          </a:p>
          <a:p>
            <a:r>
              <a:rPr lang="en-US" sz="1200" kern="1200" dirty="0">
                <a:solidFill>
                  <a:schemeClr val="tx1"/>
                </a:solidFill>
                <a:effectLst/>
                <a:latin typeface="Times New Roman" pitchFamily="18" charset="0"/>
                <a:ea typeface="+mn-ea"/>
                <a:cs typeface="+mn-cs"/>
              </a:rPr>
              <a:t> </a:t>
            </a:r>
          </a:p>
          <a:p>
            <a:r>
              <a:rPr lang="en-US" sz="1200" kern="1200" dirty="0">
                <a:solidFill>
                  <a:schemeClr val="tx1"/>
                </a:solidFill>
                <a:effectLst/>
                <a:latin typeface="Times New Roman" pitchFamily="18" charset="0"/>
                <a:ea typeface="+mn-ea"/>
                <a:cs typeface="+mn-cs"/>
              </a:rPr>
              <a:t>There are a few basic facts that are generally applicable to all block ciphers. Assuming the actual algorithm is mathematically sound, then the following is true:</a:t>
            </a:r>
          </a:p>
          <a:p>
            <a:pPr lvl="0"/>
            <a:r>
              <a:rPr lang="en-US" sz="1200" kern="1200" dirty="0">
                <a:solidFill>
                  <a:schemeClr val="tx1"/>
                </a:solidFill>
                <a:effectLst/>
                <a:latin typeface="Times New Roman" pitchFamily="18" charset="0"/>
                <a:ea typeface="+mn-ea"/>
                <a:cs typeface="+mn-cs"/>
              </a:rPr>
              <a:t>Larger block sizes increase security.</a:t>
            </a:r>
          </a:p>
          <a:p>
            <a:pPr lvl="0"/>
            <a:r>
              <a:rPr lang="en-US" sz="1200" kern="1200" dirty="0">
                <a:solidFill>
                  <a:schemeClr val="tx1"/>
                </a:solidFill>
                <a:effectLst/>
                <a:latin typeface="Times New Roman" pitchFamily="18" charset="0"/>
                <a:ea typeface="+mn-ea"/>
                <a:cs typeface="+mn-cs"/>
              </a:rPr>
              <a:t>Larger key sizes increase security against </a:t>
            </a:r>
            <a:r>
              <a:rPr lang="en-US" sz="1200" b="1" kern="1200" dirty="0">
                <a:solidFill>
                  <a:schemeClr val="tx1"/>
                </a:solidFill>
                <a:effectLst/>
                <a:latin typeface="Times New Roman" pitchFamily="18" charset="0"/>
                <a:ea typeface="+mn-ea"/>
                <a:cs typeface="+mn-cs"/>
              </a:rPr>
              <a:t>brute-force</a:t>
            </a:r>
            <a:r>
              <a:rPr lang="en-US" sz="1200" kern="1200" dirty="0">
                <a:solidFill>
                  <a:schemeClr val="tx1"/>
                </a:solidFill>
                <a:effectLst/>
                <a:latin typeface="Times New Roman" pitchFamily="18" charset="0"/>
                <a:ea typeface="+mn-ea"/>
                <a:cs typeface="+mn-cs"/>
              </a:rPr>
              <a:t> </a:t>
            </a:r>
            <a:r>
              <a:rPr lang="en-US" sz="1200" b="1" kern="1200" dirty="0">
                <a:solidFill>
                  <a:schemeClr val="tx1"/>
                </a:solidFill>
                <a:effectLst/>
                <a:latin typeface="Times New Roman" pitchFamily="18" charset="0"/>
                <a:ea typeface="+mn-ea"/>
                <a:cs typeface="+mn-cs"/>
              </a:rPr>
              <a:t>attack</a:t>
            </a:r>
            <a:r>
              <a:rPr lang="en-US" sz="1200" kern="1200" dirty="0">
                <a:solidFill>
                  <a:schemeClr val="tx1"/>
                </a:solidFill>
                <a:effectLst/>
                <a:latin typeface="Times New Roman" pitchFamily="18" charset="0"/>
                <a:ea typeface="+mn-ea"/>
                <a:cs typeface="+mn-cs"/>
              </a:rPr>
              <a:t> methods.</a:t>
            </a:r>
          </a:p>
          <a:p>
            <a:pPr lvl="0"/>
            <a:r>
              <a:rPr lang="en-US" sz="1200" kern="1200" dirty="0">
                <a:solidFill>
                  <a:schemeClr val="tx1"/>
                </a:solidFill>
                <a:effectLst/>
                <a:latin typeface="Times New Roman" pitchFamily="18" charset="0"/>
                <a:ea typeface="+mn-ea"/>
                <a:cs typeface="+mn-cs"/>
              </a:rPr>
              <a:t>If the round function is secure, then more rounds increase security to a point.</a:t>
            </a:r>
          </a:p>
          <a:p>
            <a:r>
              <a:rPr lang="en-US" sz="1200" kern="1200" dirty="0">
                <a:solidFill>
                  <a:schemeClr val="tx1"/>
                </a:solidFill>
                <a:effectLst/>
                <a:latin typeface="Times New Roman" pitchFamily="18" charset="0"/>
                <a:ea typeface="+mn-ea"/>
                <a:cs typeface="+mn-cs"/>
              </a:rPr>
              <a:t> </a:t>
            </a:r>
          </a:p>
          <a:p>
            <a:endParaRPr lang="en-US" dirty="0">
              <a:effectLst/>
            </a:endParaRPr>
          </a:p>
        </p:txBody>
      </p:sp>
      <p:sp>
        <p:nvSpPr>
          <p:cNvPr id="33796" name="Date Placeholder 3"/>
          <p:cNvSpPr>
            <a:spLocks noGrp="1"/>
          </p:cNvSpPr>
          <p:nvPr>
            <p:ph type="dt" sz="quarter" idx="1"/>
          </p:nvPr>
        </p:nvSpPr>
        <p:spPr>
          <a:noFill/>
        </p:spPr>
        <p:txBody>
          <a:bodyPr/>
          <a:lstStyle/>
          <a:p>
            <a:pPr defTabSz="931863"/>
            <a:fld id="{42C039F9-CC0D-4672-AE23-0CDDC450DAC8}" type="datetime1">
              <a:rPr lang="en-US" smtClean="0"/>
              <a:pPr defTabSz="931863"/>
              <a:t>7/2/2017</a:t>
            </a:fld>
            <a:endParaRPr lang="en-US" dirty="0"/>
          </a:p>
        </p:txBody>
      </p:sp>
      <p:sp>
        <p:nvSpPr>
          <p:cNvPr id="33798" name="Slide Number Placeholder 5"/>
          <p:cNvSpPr>
            <a:spLocks noGrp="1"/>
          </p:cNvSpPr>
          <p:nvPr>
            <p:ph type="sldNum" sz="quarter" idx="5"/>
          </p:nvPr>
        </p:nvSpPr>
        <p:spPr>
          <a:noFill/>
        </p:spPr>
        <p:txBody>
          <a:bodyPr/>
          <a:lstStyle/>
          <a:p>
            <a:pPr defTabSz="931863"/>
            <a:fld id="{CE0702E3-C5AB-4A2E-B67C-891965ECD872}" type="slidenum">
              <a:rPr lang="en-US" smtClean="0"/>
              <a:pPr defTabSz="931863"/>
              <a:t>38</a:t>
            </a:fld>
            <a:endParaRPr lang="en-US" dirty="0"/>
          </a:p>
        </p:txBody>
      </p:sp>
    </p:spTree>
    <p:extLst>
      <p:ext uri="{BB962C8B-B14F-4D97-AF65-F5344CB8AC3E}">
        <p14:creationId xmlns:p14="http://schemas.microsoft.com/office/powerpoint/2010/main" val="353820982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endParaRPr lang="en-US" dirty="0">
              <a:effectLst/>
            </a:endParaRPr>
          </a:p>
        </p:txBody>
      </p:sp>
      <p:sp>
        <p:nvSpPr>
          <p:cNvPr id="33796" name="Date Placeholder 3"/>
          <p:cNvSpPr>
            <a:spLocks noGrp="1"/>
          </p:cNvSpPr>
          <p:nvPr>
            <p:ph type="dt" sz="quarter" idx="1"/>
          </p:nvPr>
        </p:nvSpPr>
        <p:spPr>
          <a:noFill/>
        </p:spPr>
        <p:txBody>
          <a:bodyPr/>
          <a:lstStyle/>
          <a:p>
            <a:pPr defTabSz="931863"/>
            <a:fld id="{42C039F9-CC0D-4672-AE23-0CDDC450DAC8}" type="datetime1">
              <a:rPr lang="en-US" smtClean="0"/>
              <a:pPr defTabSz="931863"/>
              <a:t>7/2/2017</a:t>
            </a:fld>
            <a:endParaRPr lang="en-US" dirty="0"/>
          </a:p>
        </p:txBody>
      </p:sp>
      <p:sp>
        <p:nvSpPr>
          <p:cNvPr id="33798" name="Slide Number Placeholder 5"/>
          <p:cNvSpPr>
            <a:spLocks noGrp="1"/>
          </p:cNvSpPr>
          <p:nvPr>
            <p:ph type="sldNum" sz="quarter" idx="5"/>
          </p:nvPr>
        </p:nvSpPr>
        <p:spPr>
          <a:noFill/>
        </p:spPr>
        <p:txBody>
          <a:bodyPr/>
          <a:lstStyle/>
          <a:p>
            <a:pPr defTabSz="931863"/>
            <a:fld id="{CE0702E3-C5AB-4A2E-B67C-891965ECD872}" type="slidenum">
              <a:rPr lang="en-US" smtClean="0"/>
              <a:pPr defTabSz="931863"/>
              <a:t>39</a:t>
            </a:fld>
            <a:endParaRPr lang="en-US" dirty="0"/>
          </a:p>
        </p:txBody>
      </p:sp>
    </p:spTree>
    <p:extLst>
      <p:ext uri="{BB962C8B-B14F-4D97-AF65-F5344CB8AC3E}">
        <p14:creationId xmlns:p14="http://schemas.microsoft.com/office/powerpoint/2010/main" val="275425126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r>
              <a:rPr lang="en-US" sz="1200" kern="1200" dirty="0">
                <a:solidFill>
                  <a:schemeClr val="tx1"/>
                </a:solidFill>
                <a:effectLst/>
                <a:latin typeface="Times New Roman" pitchFamily="18" charset="0"/>
                <a:ea typeface="+mn-ea"/>
                <a:cs typeface="+mn-cs"/>
              </a:rPr>
              <a:t>One of the oldest of the modern symmetric ciphers is the Data Encryption Standard (DES). It was developed by IBM in the early 1970s and is a block cipher. The basic concept of DES is:</a:t>
            </a:r>
          </a:p>
          <a:p>
            <a:r>
              <a:rPr lang="en-US" sz="1200" kern="1200" dirty="0">
                <a:solidFill>
                  <a:schemeClr val="tx1"/>
                </a:solidFill>
                <a:effectLst/>
                <a:latin typeface="Times New Roman" pitchFamily="18" charset="0"/>
                <a:ea typeface="+mn-ea"/>
                <a:cs typeface="+mn-cs"/>
              </a:rPr>
              <a:t>1. Data is divided into 64-bit blocks.</a:t>
            </a:r>
          </a:p>
          <a:p>
            <a:r>
              <a:rPr lang="en-US" sz="1200" kern="1200" dirty="0">
                <a:solidFill>
                  <a:schemeClr val="tx1"/>
                </a:solidFill>
                <a:effectLst/>
                <a:latin typeface="Times New Roman" pitchFamily="18" charset="0"/>
                <a:ea typeface="+mn-ea"/>
                <a:cs typeface="+mn-cs"/>
              </a:rPr>
              <a:t>2. That data is then manipulated by 16 separate steps of encryption involving substitutions, bit-shifting, and logical operations using a 56-bit key.</a:t>
            </a:r>
          </a:p>
          <a:p>
            <a:r>
              <a:rPr lang="en-US" sz="1200" kern="1200" dirty="0">
                <a:solidFill>
                  <a:schemeClr val="tx1"/>
                </a:solidFill>
                <a:effectLst/>
                <a:latin typeface="Times New Roman" pitchFamily="18" charset="0"/>
                <a:ea typeface="+mn-ea"/>
                <a:cs typeface="+mn-cs"/>
              </a:rPr>
              <a:t>3. Data is then further scrambled using a swapping algorithm.</a:t>
            </a:r>
          </a:p>
          <a:p>
            <a:r>
              <a:rPr lang="en-US" sz="1200" kern="1200" dirty="0">
                <a:solidFill>
                  <a:schemeClr val="tx1"/>
                </a:solidFill>
                <a:effectLst/>
                <a:latin typeface="Times New Roman" pitchFamily="18" charset="0"/>
                <a:ea typeface="+mn-ea"/>
                <a:cs typeface="+mn-cs"/>
              </a:rPr>
              <a:t>4. Data is finally transposed one last time.</a:t>
            </a:r>
          </a:p>
          <a:p>
            <a:r>
              <a:rPr lang="en-US" sz="1200" kern="1200" dirty="0">
                <a:solidFill>
                  <a:schemeClr val="tx1"/>
                </a:solidFill>
                <a:effectLst/>
                <a:latin typeface="Times New Roman" pitchFamily="18" charset="0"/>
                <a:ea typeface="+mn-ea"/>
                <a:cs typeface="+mn-cs"/>
              </a:rPr>
              <a:t>These steps provide a simplified view of DES. As you can see, it works on splitting the block into two sections, as with all Feistel ciphers. The idea is to continually scramble the underlying message to make it appear as random as possible.</a:t>
            </a:r>
          </a:p>
          <a:p>
            <a:r>
              <a:rPr lang="en-US" sz="1200" kern="1200" dirty="0">
                <a:solidFill>
                  <a:schemeClr val="tx1"/>
                </a:solidFill>
                <a:effectLst/>
                <a:latin typeface="Times New Roman" pitchFamily="18" charset="0"/>
                <a:ea typeface="+mn-ea"/>
                <a:cs typeface="+mn-cs"/>
              </a:rPr>
              <a:t> </a:t>
            </a:r>
          </a:p>
          <a:p>
            <a:endParaRPr lang="en-US" dirty="0">
              <a:effectLst/>
            </a:endParaRPr>
          </a:p>
        </p:txBody>
      </p:sp>
      <p:sp>
        <p:nvSpPr>
          <p:cNvPr id="33796" name="Date Placeholder 3"/>
          <p:cNvSpPr>
            <a:spLocks noGrp="1"/>
          </p:cNvSpPr>
          <p:nvPr>
            <p:ph type="dt" sz="quarter" idx="1"/>
          </p:nvPr>
        </p:nvSpPr>
        <p:spPr>
          <a:noFill/>
        </p:spPr>
        <p:txBody>
          <a:bodyPr/>
          <a:lstStyle/>
          <a:p>
            <a:pPr defTabSz="931863"/>
            <a:fld id="{42C039F9-CC0D-4672-AE23-0CDDC450DAC8}" type="datetime1">
              <a:rPr lang="en-US" smtClean="0"/>
              <a:pPr defTabSz="931863"/>
              <a:t>7/2/2017</a:t>
            </a:fld>
            <a:endParaRPr lang="en-US" dirty="0"/>
          </a:p>
        </p:txBody>
      </p:sp>
      <p:sp>
        <p:nvSpPr>
          <p:cNvPr id="33798" name="Slide Number Placeholder 5"/>
          <p:cNvSpPr>
            <a:spLocks noGrp="1"/>
          </p:cNvSpPr>
          <p:nvPr>
            <p:ph type="sldNum" sz="quarter" idx="5"/>
          </p:nvPr>
        </p:nvSpPr>
        <p:spPr>
          <a:noFill/>
        </p:spPr>
        <p:txBody>
          <a:bodyPr/>
          <a:lstStyle/>
          <a:p>
            <a:pPr defTabSz="931863"/>
            <a:fld id="{CE0702E3-C5AB-4A2E-B67C-891965ECD872}" type="slidenum">
              <a:rPr lang="en-US" smtClean="0"/>
              <a:pPr defTabSz="931863"/>
              <a:t>40</a:t>
            </a:fld>
            <a:endParaRPr lang="en-US" dirty="0"/>
          </a:p>
        </p:txBody>
      </p:sp>
    </p:spTree>
    <p:extLst>
      <p:ext uri="{BB962C8B-B14F-4D97-AF65-F5344CB8AC3E}">
        <p14:creationId xmlns:p14="http://schemas.microsoft.com/office/powerpoint/2010/main" val="171473938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endParaRPr lang="en-US" dirty="0">
              <a:effectLst/>
            </a:endParaRPr>
          </a:p>
        </p:txBody>
      </p:sp>
      <p:sp>
        <p:nvSpPr>
          <p:cNvPr id="33796" name="Date Placeholder 3"/>
          <p:cNvSpPr>
            <a:spLocks noGrp="1"/>
          </p:cNvSpPr>
          <p:nvPr>
            <p:ph type="dt" sz="quarter" idx="1"/>
          </p:nvPr>
        </p:nvSpPr>
        <p:spPr>
          <a:noFill/>
        </p:spPr>
        <p:txBody>
          <a:bodyPr/>
          <a:lstStyle/>
          <a:p>
            <a:pPr defTabSz="931863"/>
            <a:fld id="{42C039F9-CC0D-4672-AE23-0CDDC450DAC8}" type="datetime1">
              <a:rPr lang="en-US" smtClean="0"/>
              <a:pPr defTabSz="931863"/>
              <a:t>7/2/2017</a:t>
            </a:fld>
            <a:endParaRPr lang="en-US" dirty="0"/>
          </a:p>
        </p:txBody>
      </p:sp>
      <p:sp>
        <p:nvSpPr>
          <p:cNvPr id="33798" name="Slide Number Placeholder 5"/>
          <p:cNvSpPr>
            <a:spLocks noGrp="1"/>
          </p:cNvSpPr>
          <p:nvPr>
            <p:ph type="sldNum" sz="quarter" idx="5"/>
          </p:nvPr>
        </p:nvSpPr>
        <p:spPr>
          <a:noFill/>
        </p:spPr>
        <p:txBody>
          <a:bodyPr/>
          <a:lstStyle/>
          <a:p>
            <a:pPr defTabSz="931863"/>
            <a:fld id="{CE0702E3-C5AB-4A2E-B67C-891965ECD872}" type="slidenum">
              <a:rPr lang="en-US" smtClean="0"/>
              <a:pPr defTabSz="931863"/>
              <a:t>41</a:t>
            </a:fld>
            <a:endParaRPr lang="en-US" dirty="0"/>
          </a:p>
        </p:txBody>
      </p:sp>
    </p:spTree>
    <p:extLst>
      <p:ext uri="{BB962C8B-B14F-4D97-AF65-F5344CB8AC3E}">
        <p14:creationId xmlns:p14="http://schemas.microsoft.com/office/powerpoint/2010/main" val="296041645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Eventually, it became obvious that DES would no longer be secure. The U.S. federal government began a contest seeking a replacement cryptography algorithm. In the meantime, Triple Des (3DES) was created as an interim solution. Essentially, it does DES three times, with three different keys. </a:t>
            </a:r>
          </a:p>
          <a:p>
            <a:endParaRPr lang="en-US" dirty="0">
              <a:effectLst/>
            </a:endParaRPr>
          </a:p>
        </p:txBody>
      </p:sp>
      <p:sp>
        <p:nvSpPr>
          <p:cNvPr id="33796" name="Date Placeholder 3"/>
          <p:cNvSpPr>
            <a:spLocks noGrp="1"/>
          </p:cNvSpPr>
          <p:nvPr>
            <p:ph type="dt" sz="quarter" idx="1"/>
          </p:nvPr>
        </p:nvSpPr>
        <p:spPr>
          <a:noFill/>
        </p:spPr>
        <p:txBody>
          <a:bodyPr/>
          <a:lstStyle/>
          <a:p>
            <a:pPr defTabSz="931863"/>
            <a:fld id="{42C039F9-CC0D-4672-AE23-0CDDC450DAC8}" type="datetime1">
              <a:rPr lang="en-US" smtClean="0"/>
              <a:pPr defTabSz="931863"/>
              <a:t>7/2/2017</a:t>
            </a:fld>
            <a:endParaRPr lang="en-US" dirty="0"/>
          </a:p>
        </p:txBody>
      </p:sp>
      <p:sp>
        <p:nvSpPr>
          <p:cNvPr id="33798" name="Slide Number Placeholder 5"/>
          <p:cNvSpPr>
            <a:spLocks noGrp="1"/>
          </p:cNvSpPr>
          <p:nvPr>
            <p:ph type="sldNum" sz="quarter" idx="5"/>
          </p:nvPr>
        </p:nvSpPr>
        <p:spPr>
          <a:noFill/>
        </p:spPr>
        <p:txBody>
          <a:bodyPr/>
          <a:lstStyle/>
          <a:p>
            <a:pPr defTabSz="931863"/>
            <a:fld id="{CE0702E3-C5AB-4A2E-B67C-891965ECD872}" type="slidenum">
              <a:rPr lang="en-US" smtClean="0"/>
              <a:pPr defTabSz="931863"/>
              <a:t>42</a:t>
            </a:fld>
            <a:endParaRPr lang="en-US" dirty="0"/>
          </a:p>
        </p:txBody>
      </p:sp>
    </p:spTree>
    <p:extLst>
      <p:ext uri="{BB962C8B-B14F-4D97-AF65-F5344CB8AC3E}">
        <p14:creationId xmlns:p14="http://schemas.microsoft.com/office/powerpoint/2010/main" val="49217659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r>
              <a:rPr lang="en-US" dirty="0">
                <a:effectLst/>
              </a:rPr>
              <a:t>4DES was never implemented because early simulations indicated that 4DES was too scrambled—so scrambled, in fact, that blocks of the original plaintext appeared in the final ciphertext. This was one of the driving factors behind searching for a new algorithm not in the DES line.</a:t>
            </a:r>
          </a:p>
        </p:txBody>
      </p:sp>
      <p:sp>
        <p:nvSpPr>
          <p:cNvPr id="33796" name="Date Placeholder 3"/>
          <p:cNvSpPr>
            <a:spLocks noGrp="1"/>
          </p:cNvSpPr>
          <p:nvPr>
            <p:ph type="dt" sz="quarter" idx="1"/>
          </p:nvPr>
        </p:nvSpPr>
        <p:spPr>
          <a:noFill/>
        </p:spPr>
        <p:txBody>
          <a:bodyPr/>
          <a:lstStyle/>
          <a:p>
            <a:pPr defTabSz="931863"/>
            <a:fld id="{42C039F9-CC0D-4672-AE23-0CDDC450DAC8}" type="datetime1">
              <a:rPr lang="en-US" smtClean="0"/>
              <a:pPr defTabSz="931863"/>
              <a:t>7/2/2017</a:t>
            </a:fld>
            <a:endParaRPr lang="en-US" dirty="0"/>
          </a:p>
        </p:txBody>
      </p:sp>
      <p:sp>
        <p:nvSpPr>
          <p:cNvPr id="33798" name="Slide Number Placeholder 5"/>
          <p:cNvSpPr>
            <a:spLocks noGrp="1"/>
          </p:cNvSpPr>
          <p:nvPr>
            <p:ph type="sldNum" sz="quarter" idx="5"/>
          </p:nvPr>
        </p:nvSpPr>
        <p:spPr>
          <a:noFill/>
        </p:spPr>
        <p:txBody>
          <a:bodyPr/>
          <a:lstStyle/>
          <a:p>
            <a:pPr defTabSz="931863"/>
            <a:fld id="{CE0702E3-C5AB-4A2E-B67C-891965ECD872}" type="slidenum">
              <a:rPr lang="en-US" smtClean="0"/>
              <a:pPr defTabSz="931863"/>
              <a:t>43</a:t>
            </a:fld>
            <a:endParaRPr lang="en-US" dirty="0"/>
          </a:p>
        </p:txBody>
      </p:sp>
    </p:spTree>
    <p:extLst>
      <p:ext uri="{BB962C8B-B14F-4D97-AF65-F5344CB8AC3E}">
        <p14:creationId xmlns:p14="http://schemas.microsoft.com/office/powerpoint/2010/main" val="313117853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r>
              <a:rPr lang="en-US" dirty="0">
                <a:effectLst/>
              </a:rPr>
              <a:t>The Advanced Encryption Standard (AES) is also known as the Rijndael block cipher. It was officially designated as a replacement for DES in 2001. AES can have three different key sizes: 128, 192, or 256 bits. The three different implementations of AES are referred to as AES 128, AES 192, and AES 256. All three operate on a block size of 128 bits.</a:t>
            </a:r>
          </a:p>
          <a:p>
            <a:endParaRPr lang="en-US" dirty="0">
              <a:effectLst/>
            </a:endParaRPr>
          </a:p>
          <a:p>
            <a:r>
              <a:rPr lang="en-US" dirty="0">
                <a:effectLst/>
              </a:rPr>
              <a:t>Unlike both DES and 3DES, AES is not based on a Feistel network. AES uses a substitution-permutation matrix rather than a Feistel network. AES operates on a 4×4 column matrix of bytes, termed the state (versions of AES with a larger block size have additional columns in the state).</a:t>
            </a:r>
          </a:p>
          <a:p>
            <a:endParaRPr lang="en-US" dirty="0">
              <a:effectLst/>
            </a:endParaRPr>
          </a:p>
        </p:txBody>
      </p:sp>
      <p:sp>
        <p:nvSpPr>
          <p:cNvPr id="33796" name="Date Placeholder 3"/>
          <p:cNvSpPr>
            <a:spLocks noGrp="1"/>
          </p:cNvSpPr>
          <p:nvPr>
            <p:ph type="dt" sz="quarter" idx="1"/>
          </p:nvPr>
        </p:nvSpPr>
        <p:spPr>
          <a:noFill/>
        </p:spPr>
        <p:txBody>
          <a:bodyPr/>
          <a:lstStyle/>
          <a:p>
            <a:pPr defTabSz="931863"/>
            <a:fld id="{42C039F9-CC0D-4672-AE23-0CDDC450DAC8}" type="datetime1">
              <a:rPr lang="en-US" smtClean="0"/>
              <a:pPr defTabSz="931863"/>
              <a:t>7/2/2017</a:t>
            </a:fld>
            <a:endParaRPr lang="en-US" dirty="0"/>
          </a:p>
        </p:txBody>
      </p:sp>
      <p:sp>
        <p:nvSpPr>
          <p:cNvPr id="33798" name="Slide Number Placeholder 5"/>
          <p:cNvSpPr>
            <a:spLocks noGrp="1"/>
          </p:cNvSpPr>
          <p:nvPr>
            <p:ph type="sldNum" sz="quarter" idx="5"/>
          </p:nvPr>
        </p:nvSpPr>
        <p:spPr>
          <a:noFill/>
        </p:spPr>
        <p:txBody>
          <a:bodyPr/>
          <a:lstStyle/>
          <a:p>
            <a:pPr defTabSz="931863"/>
            <a:fld id="{CE0702E3-C5AB-4A2E-B67C-891965ECD872}" type="slidenum">
              <a:rPr lang="en-US" smtClean="0"/>
              <a:pPr defTabSz="931863"/>
              <a:t>44</a:t>
            </a:fld>
            <a:endParaRPr lang="en-US" dirty="0"/>
          </a:p>
        </p:txBody>
      </p:sp>
    </p:spTree>
    <p:extLst>
      <p:ext uri="{BB962C8B-B14F-4D97-AF65-F5344CB8AC3E}">
        <p14:creationId xmlns:p14="http://schemas.microsoft.com/office/powerpoint/2010/main" val="14878776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endParaRPr lang="en-US" dirty="0">
              <a:effectLst/>
            </a:endParaRPr>
          </a:p>
        </p:txBody>
      </p:sp>
      <p:sp>
        <p:nvSpPr>
          <p:cNvPr id="33796" name="Date Placeholder 3"/>
          <p:cNvSpPr>
            <a:spLocks noGrp="1"/>
          </p:cNvSpPr>
          <p:nvPr>
            <p:ph type="dt" sz="quarter" idx="1"/>
          </p:nvPr>
        </p:nvSpPr>
        <p:spPr>
          <a:noFill/>
        </p:spPr>
        <p:txBody>
          <a:bodyPr/>
          <a:lstStyle/>
          <a:p>
            <a:pPr defTabSz="931863"/>
            <a:fld id="{42C039F9-CC0D-4672-AE23-0CDDC450DAC8}" type="datetime1">
              <a:rPr lang="en-US" smtClean="0"/>
              <a:pPr defTabSz="931863"/>
              <a:t>7/2/2017</a:t>
            </a:fld>
            <a:endParaRPr lang="en-US" dirty="0"/>
          </a:p>
        </p:txBody>
      </p:sp>
      <p:sp>
        <p:nvSpPr>
          <p:cNvPr id="33798" name="Slide Number Placeholder 5"/>
          <p:cNvSpPr>
            <a:spLocks noGrp="1"/>
          </p:cNvSpPr>
          <p:nvPr>
            <p:ph type="sldNum" sz="quarter" idx="5"/>
          </p:nvPr>
        </p:nvSpPr>
        <p:spPr>
          <a:noFill/>
        </p:spPr>
        <p:txBody>
          <a:bodyPr/>
          <a:lstStyle/>
          <a:p>
            <a:pPr defTabSz="931863"/>
            <a:fld id="{CE0702E3-C5AB-4A2E-B67C-891965ECD872}" type="slidenum">
              <a:rPr lang="en-US" smtClean="0"/>
              <a:pPr defTabSz="931863"/>
              <a:t>45</a:t>
            </a:fld>
            <a:endParaRPr lang="en-US" dirty="0"/>
          </a:p>
        </p:txBody>
      </p:sp>
    </p:spTree>
    <p:extLst>
      <p:ext uri="{BB962C8B-B14F-4D97-AF65-F5344CB8AC3E}">
        <p14:creationId xmlns:p14="http://schemas.microsoft.com/office/powerpoint/2010/main" val="404630122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r>
              <a:rPr lang="en-US" sz="1200" kern="0" dirty="0"/>
              <a:t> A collision occurs when two different inputs to the same hashing algorithm produce the same output (called a hash or digest). </a:t>
            </a:r>
          </a:p>
          <a:p>
            <a:endParaRPr lang="en-US" sz="1200" kern="0" dirty="0"/>
          </a:p>
          <a:p>
            <a:r>
              <a:rPr lang="en-US" sz="1200" kern="0" dirty="0"/>
              <a:t>Ideally we would like to have no collisions. But the reality is that with a fixed-length output, a collision is possible.</a:t>
            </a:r>
          </a:p>
          <a:p>
            <a:endParaRPr lang="en-US" sz="1200" kern="0" dirty="0"/>
          </a:p>
          <a:p>
            <a:r>
              <a:rPr lang="en-US" sz="1200" kern="0" dirty="0"/>
              <a:t>The goal is to make it so unlikely as to be something we need not think about.</a:t>
            </a:r>
          </a:p>
          <a:p>
            <a:endParaRPr lang="en-US" dirty="0">
              <a:effectLst/>
            </a:endParaRPr>
          </a:p>
        </p:txBody>
      </p:sp>
      <p:sp>
        <p:nvSpPr>
          <p:cNvPr id="33796" name="Date Placeholder 3"/>
          <p:cNvSpPr>
            <a:spLocks noGrp="1"/>
          </p:cNvSpPr>
          <p:nvPr>
            <p:ph type="dt" sz="quarter" idx="1"/>
          </p:nvPr>
        </p:nvSpPr>
        <p:spPr>
          <a:noFill/>
        </p:spPr>
        <p:txBody>
          <a:bodyPr/>
          <a:lstStyle/>
          <a:p>
            <a:pPr defTabSz="931863"/>
            <a:fld id="{42C039F9-CC0D-4672-AE23-0CDDC450DAC8}" type="datetime1">
              <a:rPr lang="en-US" smtClean="0"/>
              <a:pPr defTabSz="931863"/>
              <a:t>7/2/2017</a:t>
            </a:fld>
            <a:endParaRPr lang="en-US" dirty="0"/>
          </a:p>
        </p:txBody>
      </p:sp>
      <p:sp>
        <p:nvSpPr>
          <p:cNvPr id="33798" name="Slide Number Placeholder 5"/>
          <p:cNvSpPr>
            <a:spLocks noGrp="1"/>
          </p:cNvSpPr>
          <p:nvPr>
            <p:ph type="sldNum" sz="quarter" idx="5"/>
          </p:nvPr>
        </p:nvSpPr>
        <p:spPr>
          <a:noFill/>
        </p:spPr>
        <p:txBody>
          <a:bodyPr/>
          <a:lstStyle/>
          <a:p>
            <a:pPr defTabSz="931863"/>
            <a:fld id="{CE0702E3-C5AB-4A2E-B67C-891965ECD872}" type="slidenum">
              <a:rPr lang="en-US" smtClean="0"/>
              <a:pPr defTabSz="931863"/>
              <a:t>46</a:t>
            </a:fld>
            <a:endParaRPr lang="en-US" dirty="0"/>
          </a:p>
        </p:txBody>
      </p:sp>
    </p:spTree>
    <p:extLst>
      <p:ext uri="{BB962C8B-B14F-4D97-AF65-F5344CB8AC3E}">
        <p14:creationId xmlns:p14="http://schemas.microsoft.com/office/powerpoint/2010/main" val="392959891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endParaRPr lang="en-US" dirty="0">
              <a:effectLst/>
            </a:endParaRPr>
          </a:p>
        </p:txBody>
      </p:sp>
      <p:sp>
        <p:nvSpPr>
          <p:cNvPr id="33796" name="Date Placeholder 3"/>
          <p:cNvSpPr>
            <a:spLocks noGrp="1"/>
          </p:cNvSpPr>
          <p:nvPr>
            <p:ph type="dt" sz="quarter" idx="1"/>
          </p:nvPr>
        </p:nvSpPr>
        <p:spPr>
          <a:noFill/>
        </p:spPr>
        <p:txBody>
          <a:bodyPr/>
          <a:lstStyle/>
          <a:p>
            <a:pPr defTabSz="931863"/>
            <a:fld id="{42C039F9-CC0D-4672-AE23-0CDDC450DAC8}" type="datetime1">
              <a:rPr lang="en-US" smtClean="0"/>
              <a:pPr defTabSz="931863"/>
              <a:t>7/2/2017</a:t>
            </a:fld>
            <a:endParaRPr lang="en-US" dirty="0"/>
          </a:p>
        </p:txBody>
      </p:sp>
      <p:sp>
        <p:nvSpPr>
          <p:cNvPr id="33798" name="Slide Number Placeholder 5"/>
          <p:cNvSpPr>
            <a:spLocks noGrp="1"/>
          </p:cNvSpPr>
          <p:nvPr>
            <p:ph type="sldNum" sz="quarter" idx="5"/>
          </p:nvPr>
        </p:nvSpPr>
        <p:spPr>
          <a:noFill/>
        </p:spPr>
        <p:txBody>
          <a:bodyPr/>
          <a:lstStyle/>
          <a:p>
            <a:pPr defTabSz="931863"/>
            <a:fld id="{CE0702E3-C5AB-4A2E-B67C-891965ECD872}" type="slidenum">
              <a:rPr lang="en-US" smtClean="0"/>
              <a:pPr defTabSz="931863"/>
              <a:t>47</a:t>
            </a:fld>
            <a:endParaRPr lang="en-US" dirty="0"/>
          </a:p>
        </p:txBody>
      </p:sp>
    </p:spTree>
    <p:extLst>
      <p:ext uri="{BB962C8B-B14F-4D97-AF65-F5344CB8AC3E}">
        <p14:creationId xmlns:p14="http://schemas.microsoft.com/office/powerpoint/2010/main" val="250731964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RSA is perhaps the most widely used public key cryptography algorithm in existence today. It is based on some interesting relationships of prime numbers. The security of RSA derives from the fact that it is difficult to factor a large integer composed of two or more large prime factors.</a:t>
            </a:r>
          </a:p>
          <a:p>
            <a:endParaRPr lang="en-US" dirty="0">
              <a:effectLst/>
            </a:endParaRPr>
          </a:p>
        </p:txBody>
      </p:sp>
      <p:sp>
        <p:nvSpPr>
          <p:cNvPr id="33796" name="Date Placeholder 3"/>
          <p:cNvSpPr>
            <a:spLocks noGrp="1"/>
          </p:cNvSpPr>
          <p:nvPr>
            <p:ph type="dt" sz="quarter" idx="1"/>
          </p:nvPr>
        </p:nvSpPr>
        <p:spPr>
          <a:noFill/>
        </p:spPr>
        <p:txBody>
          <a:bodyPr/>
          <a:lstStyle/>
          <a:p>
            <a:pPr defTabSz="931863"/>
            <a:fld id="{42C039F9-CC0D-4672-AE23-0CDDC450DAC8}" type="datetime1">
              <a:rPr lang="en-US" smtClean="0"/>
              <a:pPr defTabSz="931863"/>
              <a:t>7/2/2017</a:t>
            </a:fld>
            <a:endParaRPr lang="en-US" dirty="0"/>
          </a:p>
        </p:txBody>
      </p:sp>
      <p:sp>
        <p:nvSpPr>
          <p:cNvPr id="33798" name="Slide Number Placeholder 5"/>
          <p:cNvSpPr>
            <a:spLocks noGrp="1"/>
          </p:cNvSpPr>
          <p:nvPr>
            <p:ph type="sldNum" sz="quarter" idx="5"/>
          </p:nvPr>
        </p:nvSpPr>
        <p:spPr>
          <a:noFill/>
        </p:spPr>
        <p:txBody>
          <a:bodyPr/>
          <a:lstStyle/>
          <a:p>
            <a:pPr defTabSz="931863"/>
            <a:fld id="{CE0702E3-C5AB-4A2E-B67C-891965ECD872}" type="slidenum">
              <a:rPr lang="en-US" smtClean="0"/>
              <a:pPr defTabSz="931863"/>
              <a:t>48</a:t>
            </a:fld>
            <a:endParaRPr lang="en-US" dirty="0"/>
          </a:p>
        </p:txBody>
      </p:sp>
    </p:spTree>
    <p:extLst>
      <p:ext uri="{BB962C8B-B14F-4D97-AF65-F5344CB8AC3E}">
        <p14:creationId xmlns:p14="http://schemas.microsoft.com/office/powerpoint/2010/main" val="271972498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The Diffie-Hellman algorithm is a cryptographic protocol that allows two parties to establish a shared key over an insecure channel. In other words, Diffie-Hellman is often used to allow parties to exchange a symmetric key through some insecure medium, such as the Internet. Diffie-Hellman enabled all secure communications between parties that did not have a pre-established relationship, such as e-commerce, and facilitated communications between parties with a pre-established relationship, such as e-banking.</a:t>
            </a:r>
          </a:p>
          <a:p>
            <a:endParaRPr lang="en-US" dirty="0">
              <a:effectLst/>
            </a:endParaRPr>
          </a:p>
        </p:txBody>
      </p:sp>
      <p:sp>
        <p:nvSpPr>
          <p:cNvPr id="33796" name="Date Placeholder 3"/>
          <p:cNvSpPr>
            <a:spLocks noGrp="1"/>
          </p:cNvSpPr>
          <p:nvPr>
            <p:ph type="dt" sz="quarter" idx="1"/>
          </p:nvPr>
        </p:nvSpPr>
        <p:spPr>
          <a:noFill/>
        </p:spPr>
        <p:txBody>
          <a:bodyPr/>
          <a:lstStyle/>
          <a:p>
            <a:pPr defTabSz="931863"/>
            <a:fld id="{42C039F9-CC0D-4672-AE23-0CDDC450DAC8}" type="datetime1">
              <a:rPr lang="en-US" smtClean="0"/>
              <a:pPr defTabSz="931863"/>
              <a:t>7/2/2017</a:t>
            </a:fld>
            <a:endParaRPr lang="en-US" dirty="0"/>
          </a:p>
        </p:txBody>
      </p:sp>
      <p:sp>
        <p:nvSpPr>
          <p:cNvPr id="33798" name="Slide Number Placeholder 5"/>
          <p:cNvSpPr>
            <a:spLocks noGrp="1"/>
          </p:cNvSpPr>
          <p:nvPr>
            <p:ph type="sldNum" sz="quarter" idx="5"/>
          </p:nvPr>
        </p:nvSpPr>
        <p:spPr>
          <a:noFill/>
        </p:spPr>
        <p:txBody>
          <a:bodyPr/>
          <a:lstStyle/>
          <a:p>
            <a:pPr defTabSz="931863"/>
            <a:fld id="{CE0702E3-C5AB-4A2E-B67C-891965ECD872}" type="slidenum">
              <a:rPr lang="en-US" smtClean="0"/>
              <a:pPr defTabSz="931863"/>
              <a:t>49</a:t>
            </a:fld>
            <a:endParaRPr lang="en-US" dirty="0"/>
          </a:p>
        </p:txBody>
      </p:sp>
    </p:spTree>
    <p:extLst>
      <p:ext uri="{BB962C8B-B14F-4D97-AF65-F5344CB8AC3E}">
        <p14:creationId xmlns:p14="http://schemas.microsoft.com/office/powerpoint/2010/main" val="11964565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The Diffie-Hellman algorithm is a cryptographic protocol that allows two parties to establish a shared key over an insecure channel. In other words, Diffie-Hellman is often used to allow parties to exchange a symmetric key through some insecure medium, such as the Internet. Diffie-Hellman enabled all secure communications between parties that did not have a pre-established relationship, such as e-commerce, and facilitated communications between parties with a pre-established relationship, such as e-banking.</a:t>
            </a:r>
          </a:p>
          <a:p>
            <a:endParaRPr lang="en-US" dirty="0">
              <a:effectLst/>
            </a:endParaRPr>
          </a:p>
        </p:txBody>
      </p:sp>
      <p:sp>
        <p:nvSpPr>
          <p:cNvPr id="33796" name="Date Placeholder 3"/>
          <p:cNvSpPr>
            <a:spLocks noGrp="1"/>
          </p:cNvSpPr>
          <p:nvPr>
            <p:ph type="dt" sz="quarter" idx="1"/>
          </p:nvPr>
        </p:nvSpPr>
        <p:spPr>
          <a:noFill/>
        </p:spPr>
        <p:txBody>
          <a:bodyPr/>
          <a:lstStyle/>
          <a:p>
            <a:pPr defTabSz="931863"/>
            <a:fld id="{42C039F9-CC0D-4672-AE23-0CDDC450DAC8}" type="datetime1">
              <a:rPr lang="en-US" smtClean="0"/>
              <a:pPr defTabSz="931863"/>
              <a:t>7/2/2017</a:t>
            </a:fld>
            <a:endParaRPr lang="en-US" dirty="0"/>
          </a:p>
        </p:txBody>
      </p:sp>
      <p:sp>
        <p:nvSpPr>
          <p:cNvPr id="33798" name="Slide Number Placeholder 5"/>
          <p:cNvSpPr>
            <a:spLocks noGrp="1"/>
          </p:cNvSpPr>
          <p:nvPr>
            <p:ph type="sldNum" sz="quarter" idx="5"/>
          </p:nvPr>
        </p:nvSpPr>
        <p:spPr>
          <a:noFill/>
        </p:spPr>
        <p:txBody>
          <a:bodyPr/>
          <a:lstStyle/>
          <a:p>
            <a:pPr defTabSz="931863"/>
            <a:fld id="{CE0702E3-C5AB-4A2E-B67C-891965ECD872}" type="slidenum">
              <a:rPr lang="en-US" smtClean="0"/>
              <a:pPr defTabSz="931863"/>
              <a:t>50</a:t>
            </a:fld>
            <a:endParaRPr lang="en-US" dirty="0"/>
          </a:p>
        </p:txBody>
      </p:sp>
    </p:spTree>
    <p:extLst>
      <p:ext uri="{BB962C8B-B14F-4D97-AF65-F5344CB8AC3E}">
        <p14:creationId xmlns:p14="http://schemas.microsoft.com/office/powerpoint/2010/main" val="70211749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endParaRPr lang="en-US" dirty="0">
              <a:effectLst/>
            </a:endParaRPr>
          </a:p>
        </p:txBody>
      </p:sp>
      <p:sp>
        <p:nvSpPr>
          <p:cNvPr id="33796" name="Date Placeholder 3"/>
          <p:cNvSpPr>
            <a:spLocks noGrp="1"/>
          </p:cNvSpPr>
          <p:nvPr>
            <p:ph type="dt" sz="quarter" idx="1"/>
          </p:nvPr>
        </p:nvSpPr>
        <p:spPr>
          <a:noFill/>
        </p:spPr>
        <p:txBody>
          <a:bodyPr/>
          <a:lstStyle/>
          <a:p>
            <a:pPr defTabSz="931863"/>
            <a:fld id="{42C039F9-CC0D-4672-AE23-0CDDC450DAC8}" type="datetime1">
              <a:rPr lang="en-US" smtClean="0"/>
              <a:pPr defTabSz="931863"/>
              <a:t>7/2/2017</a:t>
            </a:fld>
            <a:endParaRPr lang="en-US" dirty="0"/>
          </a:p>
        </p:txBody>
      </p:sp>
      <p:sp>
        <p:nvSpPr>
          <p:cNvPr id="33798" name="Slide Number Placeholder 5"/>
          <p:cNvSpPr>
            <a:spLocks noGrp="1"/>
          </p:cNvSpPr>
          <p:nvPr>
            <p:ph type="sldNum" sz="quarter" idx="5"/>
          </p:nvPr>
        </p:nvSpPr>
        <p:spPr>
          <a:noFill/>
        </p:spPr>
        <p:txBody>
          <a:bodyPr/>
          <a:lstStyle/>
          <a:p>
            <a:pPr defTabSz="931863"/>
            <a:fld id="{CE0702E3-C5AB-4A2E-B67C-891965ECD872}" type="slidenum">
              <a:rPr lang="en-US" smtClean="0"/>
              <a:pPr defTabSz="931863"/>
              <a:t>51</a:t>
            </a:fld>
            <a:endParaRPr lang="en-US" dirty="0"/>
          </a:p>
        </p:txBody>
      </p:sp>
    </p:spTree>
    <p:extLst>
      <p:ext uri="{BB962C8B-B14F-4D97-AF65-F5344CB8AC3E}">
        <p14:creationId xmlns:p14="http://schemas.microsoft.com/office/powerpoint/2010/main" val="132691598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r>
              <a:rPr lang="en-US" sz="1200" kern="1200" dirty="0">
                <a:solidFill>
                  <a:schemeClr val="tx1"/>
                </a:solidFill>
                <a:effectLst/>
                <a:latin typeface="Times New Roman" pitchFamily="18" charset="0"/>
                <a:ea typeface="+mn-ea"/>
                <a:cs typeface="+mn-cs"/>
              </a:rPr>
              <a:t>This is the basic tool for breaking most classical ciphers such as the Caesar cipher, the Vigenère cipher, etc. In natural languages, certain letters of the alphabet appear more frequently than others. By examining those frequencies, you can derive some information about the key that was used. While this method is effective against classic ciphers, it is not effective against modern methods of cryptography.</a:t>
            </a:r>
          </a:p>
          <a:p>
            <a:r>
              <a:rPr lang="en-US" sz="1200" kern="1200" dirty="0">
                <a:solidFill>
                  <a:schemeClr val="tx1"/>
                </a:solidFill>
                <a:effectLst/>
                <a:latin typeface="Times New Roman" pitchFamily="18" charset="0"/>
                <a:ea typeface="+mn-ea"/>
                <a:cs typeface="+mn-cs"/>
              </a:rPr>
              <a:t> </a:t>
            </a:r>
          </a:p>
          <a:p>
            <a:endParaRPr lang="en-US" dirty="0">
              <a:effectLst/>
            </a:endParaRPr>
          </a:p>
        </p:txBody>
      </p:sp>
      <p:sp>
        <p:nvSpPr>
          <p:cNvPr id="33796" name="Date Placeholder 3"/>
          <p:cNvSpPr>
            <a:spLocks noGrp="1"/>
          </p:cNvSpPr>
          <p:nvPr>
            <p:ph type="dt" sz="quarter" idx="1"/>
          </p:nvPr>
        </p:nvSpPr>
        <p:spPr>
          <a:noFill/>
        </p:spPr>
        <p:txBody>
          <a:bodyPr/>
          <a:lstStyle/>
          <a:p>
            <a:pPr defTabSz="931863"/>
            <a:fld id="{42C039F9-CC0D-4672-AE23-0CDDC450DAC8}" type="datetime1">
              <a:rPr lang="en-US" smtClean="0"/>
              <a:pPr defTabSz="931863"/>
              <a:t>7/2/2017</a:t>
            </a:fld>
            <a:endParaRPr lang="en-US" dirty="0"/>
          </a:p>
        </p:txBody>
      </p:sp>
      <p:sp>
        <p:nvSpPr>
          <p:cNvPr id="33798" name="Slide Number Placeholder 5"/>
          <p:cNvSpPr>
            <a:spLocks noGrp="1"/>
          </p:cNvSpPr>
          <p:nvPr>
            <p:ph type="sldNum" sz="quarter" idx="5"/>
          </p:nvPr>
        </p:nvSpPr>
        <p:spPr>
          <a:noFill/>
        </p:spPr>
        <p:txBody>
          <a:bodyPr/>
          <a:lstStyle/>
          <a:p>
            <a:pPr defTabSz="931863"/>
            <a:fld id="{CE0702E3-C5AB-4A2E-B67C-891965ECD872}" type="slidenum">
              <a:rPr lang="en-US" smtClean="0"/>
              <a:pPr defTabSz="931863"/>
              <a:t>52</a:t>
            </a:fld>
            <a:endParaRPr lang="en-US" dirty="0"/>
          </a:p>
        </p:txBody>
      </p:sp>
    </p:spTree>
    <p:extLst>
      <p:ext uri="{BB962C8B-B14F-4D97-AF65-F5344CB8AC3E}">
        <p14:creationId xmlns:p14="http://schemas.microsoft.com/office/powerpoint/2010/main" val="395336299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Kasiski examination is a method of attacking polyalphabetic substitution ciphers, such as the Vigenère cipher. This method can be used to deduce the length of the keyword used in a polyalphabetic substitution cipher. </a:t>
            </a:r>
            <a:endParaRPr lang="en-US" dirty="0">
              <a:effectLst/>
            </a:endParaRPr>
          </a:p>
        </p:txBody>
      </p:sp>
      <p:sp>
        <p:nvSpPr>
          <p:cNvPr id="33796" name="Date Placeholder 3"/>
          <p:cNvSpPr>
            <a:spLocks noGrp="1"/>
          </p:cNvSpPr>
          <p:nvPr>
            <p:ph type="dt" sz="quarter" idx="1"/>
          </p:nvPr>
        </p:nvSpPr>
        <p:spPr>
          <a:noFill/>
        </p:spPr>
        <p:txBody>
          <a:bodyPr/>
          <a:lstStyle/>
          <a:p>
            <a:pPr defTabSz="931863"/>
            <a:fld id="{42C039F9-CC0D-4672-AE23-0CDDC450DAC8}" type="datetime1">
              <a:rPr lang="en-US" smtClean="0"/>
              <a:pPr defTabSz="931863"/>
              <a:t>7/2/2017</a:t>
            </a:fld>
            <a:endParaRPr lang="en-US" dirty="0"/>
          </a:p>
        </p:txBody>
      </p:sp>
      <p:sp>
        <p:nvSpPr>
          <p:cNvPr id="33798" name="Slide Number Placeholder 5"/>
          <p:cNvSpPr>
            <a:spLocks noGrp="1"/>
          </p:cNvSpPr>
          <p:nvPr>
            <p:ph type="sldNum" sz="quarter" idx="5"/>
          </p:nvPr>
        </p:nvSpPr>
        <p:spPr>
          <a:noFill/>
        </p:spPr>
        <p:txBody>
          <a:bodyPr/>
          <a:lstStyle/>
          <a:p>
            <a:pPr defTabSz="931863"/>
            <a:fld id="{CE0702E3-C5AB-4A2E-B67C-891965ECD872}" type="slidenum">
              <a:rPr lang="en-US" smtClean="0"/>
              <a:pPr defTabSz="931863"/>
              <a:t>53</a:t>
            </a:fld>
            <a:endParaRPr lang="en-US" dirty="0"/>
          </a:p>
        </p:txBody>
      </p:sp>
    </p:spTree>
    <p:extLst>
      <p:ext uri="{BB962C8B-B14F-4D97-AF65-F5344CB8AC3E}">
        <p14:creationId xmlns:p14="http://schemas.microsoft.com/office/powerpoint/2010/main" val="198370952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Once the length of the keyword is discovered, the ciphertext is lined up in </a:t>
            </a:r>
            <a:r>
              <a:rPr lang="en-US" sz="1200" i="1" kern="1200" dirty="0">
                <a:solidFill>
                  <a:schemeClr val="tx1"/>
                </a:solidFill>
                <a:effectLst/>
                <a:latin typeface="Times New Roman" pitchFamily="18" charset="0"/>
                <a:ea typeface="+mn-ea"/>
                <a:cs typeface="+mn-cs"/>
              </a:rPr>
              <a:t>n</a:t>
            </a:r>
            <a:r>
              <a:rPr lang="en-US" sz="1200" kern="1200" dirty="0">
                <a:solidFill>
                  <a:schemeClr val="tx1"/>
                </a:solidFill>
                <a:effectLst/>
                <a:latin typeface="Times New Roman" pitchFamily="18" charset="0"/>
                <a:ea typeface="+mn-ea"/>
                <a:cs typeface="+mn-cs"/>
              </a:rPr>
              <a:t> columns, where </a:t>
            </a:r>
            <a:r>
              <a:rPr lang="en-US" sz="1200" i="1" kern="1200" dirty="0">
                <a:solidFill>
                  <a:schemeClr val="tx1"/>
                </a:solidFill>
                <a:effectLst/>
                <a:latin typeface="Times New Roman" pitchFamily="18" charset="0"/>
                <a:ea typeface="+mn-ea"/>
                <a:cs typeface="+mn-cs"/>
              </a:rPr>
              <a:t>n</a:t>
            </a:r>
            <a:r>
              <a:rPr lang="en-US" sz="1200" kern="1200" dirty="0">
                <a:solidFill>
                  <a:schemeClr val="tx1"/>
                </a:solidFill>
                <a:effectLst/>
                <a:latin typeface="Times New Roman" pitchFamily="18" charset="0"/>
                <a:ea typeface="+mn-ea"/>
                <a:cs typeface="+mn-cs"/>
              </a:rPr>
              <a:t> is the length of the keyword.</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Then, each column can be treated as a monoalphabetic substitution cipher and each column can be cracked with simple frequency analysis.</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The method simply involves looking for repeated strings in the ciphertext. The longer the ciphertext, the more effective this method will be.</a:t>
            </a:r>
          </a:p>
          <a:p>
            <a:endParaRPr lang="en-US" dirty="0">
              <a:effectLst/>
            </a:endParaRPr>
          </a:p>
        </p:txBody>
      </p:sp>
      <p:sp>
        <p:nvSpPr>
          <p:cNvPr id="33796" name="Date Placeholder 3"/>
          <p:cNvSpPr>
            <a:spLocks noGrp="1"/>
          </p:cNvSpPr>
          <p:nvPr>
            <p:ph type="dt" sz="quarter" idx="1"/>
          </p:nvPr>
        </p:nvSpPr>
        <p:spPr>
          <a:noFill/>
        </p:spPr>
        <p:txBody>
          <a:bodyPr/>
          <a:lstStyle/>
          <a:p>
            <a:pPr defTabSz="931863"/>
            <a:fld id="{42C039F9-CC0D-4672-AE23-0CDDC450DAC8}" type="datetime1">
              <a:rPr lang="en-US" smtClean="0"/>
              <a:pPr defTabSz="931863"/>
              <a:t>7/2/2017</a:t>
            </a:fld>
            <a:endParaRPr lang="en-US" dirty="0"/>
          </a:p>
        </p:txBody>
      </p:sp>
      <p:sp>
        <p:nvSpPr>
          <p:cNvPr id="33798" name="Slide Number Placeholder 5"/>
          <p:cNvSpPr>
            <a:spLocks noGrp="1"/>
          </p:cNvSpPr>
          <p:nvPr>
            <p:ph type="sldNum" sz="quarter" idx="5"/>
          </p:nvPr>
        </p:nvSpPr>
        <p:spPr>
          <a:noFill/>
        </p:spPr>
        <p:txBody>
          <a:bodyPr/>
          <a:lstStyle/>
          <a:p>
            <a:pPr defTabSz="931863"/>
            <a:fld id="{CE0702E3-C5AB-4A2E-B67C-891965ECD872}" type="slidenum">
              <a:rPr lang="en-US" smtClean="0"/>
              <a:pPr defTabSz="931863"/>
              <a:t>54</a:t>
            </a:fld>
            <a:endParaRPr lang="en-US" dirty="0"/>
          </a:p>
        </p:txBody>
      </p:sp>
    </p:spTree>
    <p:extLst>
      <p:ext uri="{BB962C8B-B14F-4D97-AF65-F5344CB8AC3E}">
        <p14:creationId xmlns:p14="http://schemas.microsoft.com/office/powerpoint/2010/main" val="13802223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r>
              <a:rPr lang="en-US" sz="1200" kern="1200" dirty="0">
                <a:solidFill>
                  <a:schemeClr val="tx1"/>
                </a:solidFill>
                <a:effectLst/>
                <a:latin typeface="Times New Roman" pitchFamily="18" charset="0"/>
                <a:ea typeface="+mn-ea"/>
                <a:cs typeface="+mn-cs"/>
              </a:rPr>
              <a:t>The outcome of attempting to crack modern cryptographic methods will most likely be failure. However, with enough time and resources it is possible. Some techniques that can be employed in this process include:</a:t>
            </a:r>
          </a:p>
          <a:p>
            <a:pPr lvl="0"/>
            <a:endParaRPr lang="en-US" sz="1200" kern="1200" dirty="0">
              <a:solidFill>
                <a:schemeClr val="tx1"/>
              </a:solidFill>
              <a:effectLst/>
              <a:latin typeface="Times New Roman" pitchFamily="18" charset="0"/>
              <a:ea typeface="+mn-ea"/>
              <a:cs typeface="+mn-cs"/>
            </a:endParaRPr>
          </a:p>
          <a:p>
            <a:pPr lvl="0"/>
            <a:r>
              <a:rPr lang="en-US" sz="1200" kern="1200" dirty="0">
                <a:solidFill>
                  <a:schemeClr val="tx1"/>
                </a:solidFill>
                <a:effectLst/>
                <a:latin typeface="Times New Roman" pitchFamily="18" charset="0"/>
                <a:ea typeface="+mn-ea"/>
                <a:cs typeface="+mn-cs"/>
              </a:rPr>
              <a:t>Known plaintext attack—This method is based on having a sample of known plaintexts and their resulting ciphertexts, and then using this information to try and ascertain something about the key used.</a:t>
            </a:r>
          </a:p>
          <a:p>
            <a:pPr lvl="0"/>
            <a:endParaRPr lang="en-US" sz="1200" kern="1200" dirty="0">
              <a:solidFill>
                <a:schemeClr val="tx1"/>
              </a:solidFill>
              <a:effectLst/>
              <a:latin typeface="Times New Roman" pitchFamily="18" charset="0"/>
              <a:ea typeface="+mn-ea"/>
              <a:cs typeface="+mn-cs"/>
            </a:endParaRPr>
          </a:p>
          <a:p>
            <a:pPr lvl="0"/>
            <a:r>
              <a:rPr lang="en-US" sz="1200" kern="1200" dirty="0">
                <a:solidFill>
                  <a:schemeClr val="tx1"/>
                </a:solidFill>
                <a:effectLst/>
                <a:latin typeface="Times New Roman" pitchFamily="18" charset="0"/>
                <a:ea typeface="+mn-ea"/>
                <a:cs typeface="+mn-cs"/>
              </a:rPr>
              <a:t>Chosen plaintext attack—The attacker obtains the ciphertexts corresponding to a set of plaintexts of his own choosing. This can allow the attacker to attempt to </a:t>
            </a:r>
          </a:p>
          <a:p>
            <a:pPr lvl="0"/>
            <a:r>
              <a:rPr lang="en-US" sz="1200" kern="1200" dirty="0">
                <a:solidFill>
                  <a:schemeClr val="tx1"/>
                </a:solidFill>
                <a:effectLst/>
                <a:latin typeface="Times New Roman" pitchFamily="18" charset="0"/>
                <a:ea typeface="+mn-ea"/>
                <a:cs typeface="+mn-cs"/>
              </a:rPr>
              <a:t>derive the key used and thus decrypt other messages encrypted with that key.</a:t>
            </a:r>
          </a:p>
          <a:p>
            <a:pPr lvl="0"/>
            <a:endParaRPr lang="en-US" sz="1200" kern="1200" dirty="0">
              <a:solidFill>
                <a:schemeClr val="tx1"/>
              </a:solidFill>
              <a:effectLst/>
              <a:latin typeface="Times New Roman" pitchFamily="18" charset="0"/>
              <a:ea typeface="+mn-ea"/>
              <a:cs typeface="+mn-cs"/>
            </a:endParaRPr>
          </a:p>
          <a:p>
            <a:pPr lvl="0"/>
            <a:r>
              <a:rPr lang="en-US" sz="1200" kern="1200" dirty="0">
                <a:solidFill>
                  <a:schemeClr val="tx1"/>
                </a:solidFill>
                <a:effectLst/>
                <a:latin typeface="Times New Roman" pitchFamily="18" charset="0"/>
                <a:ea typeface="+mn-ea"/>
                <a:cs typeface="+mn-cs"/>
              </a:rPr>
              <a:t>Ciphertext-only—The attacker only has access to a collection of ciphertexts. This is much more likely than known plaintext, but also the most difficult. The attack is successful if the corresponding plaintexts or, even better, the key can be deduced. However, obtaining any information at all about the underlying plaintext in this situation is considered a success.</a:t>
            </a:r>
          </a:p>
          <a:p>
            <a:pPr lvl="0"/>
            <a:endParaRPr lang="en-US" sz="1200" kern="1200" dirty="0">
              <a:solidFill>
                <a:schemeClr val="tx1"/>
              </a:solidFill>
              <a:effectLst/>
              <a:latin typeface="Times New Roman" pitchFamily="18" charset="0"/>
              <a:ea typeface="+mn-ea"/>
              <a:cs typeface="+mn-cs"/>
            </a:endParaRPr>
          </a:p>
          <a:p>
            <a:pPr lvl="0"/>
            <a:r>
              <a:rPr lang="en-US" sz="1200" kern="1200" dirty="0">
                <a:solidFill>
                  <a:schemeClr val="tx1"/>
                </a:solidFill>
                <a:effectLst/>
                <a:latin typeface="Times New Roman" pitchFamily="18" charset="0"/>
                <a:ea typeface="+mn-ea"/>
                <a:cs typeface="+mn-cs"/>
              </a:rPr>
              <a:t>Related-key attack—This attack is similar to a chosen plaintext attack, except the attacker can obtain ciphertexts encrypted under two different keys. This is actually a very useful attack if you can obtain the plaintext and matching ciphertext.</a:t>
            </a:r>
          </a:p>
          <a:p>
            <a:endParaRPr lang="en-US" dirty="0">
              <a:effectLst/>
            </a:endParaRPr>
          </a:p>
        </p:txBody>
      </p:sp>
      <p:sp>
        <p:nvSpPr>
          <p:cNvPr id="33796" name="Date Placeholder 3"/>
          <p:cNvSpPr>
            <a:spLocks noGrp="1"/>
          </p:cNvSpPr>
          <p:nvPr>
            <p:ph type="dt" sz="quarter" idx="1"/>
          </p:nvPr>
        </p:nvSpPr>
        <p:spPr>
          <a:noFill/>
        </p:spPr>
        <p:txBody>
          <a:bodyPr/>
          <a:lstStyle/>
          <a:p>
            <a:pPr defTabSz="931863"/>
            <a:fld id="{42C039F9-CC0D-4672-AE23-0CDDC450DAC8}" type="datetime1">
              <a:rPr lang="en-US" smtClean="0"/>
              <a:pPr defTabSz="931863"/>
              <a:t>7/2/2017</a:t>
            </a:fld>
            <a:endParaRPr lang="en-US" dirty="0"/>
          </a:p>
        </p:txBody>
      </p:sp>
      <p:sp>
        <p:nvSpPr>
          <p:cNvPr id="33798" name="Slide Number Placeholder 5"/>
          <p:cNvSpPr>
            <a:spLocks noGrp="1"/>
          </p:cNvSpPr>
          <p:nvPr>
            <p:ph type="sldNum" sz="quarter" idx="5"/>
          </p:nvPr>
        </p:nvSpPr>
        <p:spPr>
          <a:noFill/>
        </p:spPr>
        <p:txBody>
          <a:bodyPr/>
          <a:lstStyle/>
          <a:p>
            <a:pPr defTabSz="931863"/>
            <a:fld id="{CE0702E3-C5AB-4A2E-B67C-891965ECD872}" type="slidenum">
              <a:rPr lang="en-US" smtClean="0"/>
              <a:pPr defTabSz="931863"/>
              <a:t>55</a:t>
            </a:fld>
            <a:endParaRPr lang="en-US" dirty="0"/>
          </a:p>
        </p:txBody>
      </p:sp>
    </p:spTree>
    <p:extLst>
      <p:ext uri="{BB962C8B-B14F-4D97-AF65-F5344CB8AC3E}">
        <p14:creationId xmlns:p14="http://schemas.microsoft.com/office/powerpoint/2010/main" val="160147209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The time of cryptanalysis can be reduced by using precalculated data stored in memory. Essentially, these types of password crackers work with precalculated hashes of all passwords available within a certain character space. These files are called rainbow tables because they contain every letter combination “under the rainbow.” They are particularly useful when trying to crack hashes. Popular hacking tools like Ophcrack depend on rainbow tables. Ophcrack is usually very successful at cracking Windows local machine passwords.</a:t>
            </a:r>
          </a:p>
          <a:p>
            <a:endParaRPr lang="en-US" dirty="0">
              <a:effectLst/>
            </a:endParaRPr>
          </a:p>
        </p:txBody>
      </p:sp>
      <p:sp>
        <p:nvSpPr>
          <p:cNvPr id="33796" name="Date Placeholder 3"/>
          <p:cNvSpPr>
            <a:spLocks noGrp="1"/>
          </p:cNvSpPr>
          <p:nvPr>
            <p:ph type="dt" sz="quarter" idx="1"/>
          </p:nvPr>
        </p:nvSpPr>
        <p:spPr>
          <a:noFill/>
        </p:spPr>
        <p:txBody>
          <a:bodyPr/>
          <a:lstStyle/>
          <a:p>
            <a:pPr defTabSz="931863"/>
            <a:fld id="{42C039F9-CC0D-4672-AE23-0CDDC450DAC8}" type="datetime1">
              <a:rPr lang="en-US" smtClean="0"/>
              <a:pPr defTabSz="931863"/>
              <a:t>7/2/2017</a:t>
            </a:fld>
            <a:endParaRPr lang="en-US" dirty="0"/>
          </a:p>
        </p:txBody>
      </p:sp>
      <p:sp>
        <p:nvSpPr>
          <p:cNvPr id="33798" name="Slide Number Placeholder 5"/>
          <p:cNvSpPr>
            <a:spLocks noGrp="1"/>
          </p:cNvSpPr>
          <p:nvPr>
            <p:ph type="sldNum" sz="quarter" idx="5"/>
          </p:nvPr>
        </p:nvSpPr>
        <p:spPr>
          <a:noFill/>
        </p:spPr>
        <p:txBody>
          <a:bodyPr/>
          <a:lstStyle/>
          <a:p>
            <a:pPr defTabSz="931863"/>
            <a:fld id="{CE0702E3-C5AB-4A2E-B67C-891965ECD872}" type="slidenum">
              <a:rPr lang="en-US" smtClean="0"/>
              <a:pPr defTabSz="931863"/>
              <a:t>56</a:t>
            </a:fld>
            <a:endParaRPr lang="en-US" dirty="0"/>
          </a:p>
        </p:txBody>
      </p:sp>
    </p:spTree>
    <p:extLst>
      <p:ext uri="{BB962C8B-B14F-4D97-AF65-F5344CB8AC3E}">
        <p14:creationId xmlns:p14="http://schemas.microsoft.com/office/powerpoint/2010/main" val="342498635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r>
              <a:rPr lang="en-US" dirty="0">
                <a:effectLst/>
              </a:rPr>
              <a:t>Although John the Ripper is less convenient to use because it is command-line based and has no Windows interface, it has been around for a long time and is well regarded by both the security and hacking communities.</a:t>
            </a:r>
          </a:p>
        </p:txBody>
      </p:sp>
      <p:sp>
        <p:nvSpPr>
          <p:cNvPr id="33796" name="Date Placeholder 3"/>
          <p:cNvSpPr>
            <a:spLocks noGrp="1"/>
          </p:cNvSpPr>
          <p:nvPr>
            <p:ph type="dt" sz="quarter" idx="1"/>
          </p:nvPr>
        </p:nvSpPr>
        <p:spPr>
          <a:noFill/>
        </p:spPr>
        <p:txBody>
          <a:bodyPr/>
          <a:lstStyle/>
          <a:p>
            <a:pPr defTabSz="931863"/>
            <a:fld id="{42C039F9-CC0D-4672-AE23-0CDDC450DAC8}" type="datetime1">
              <a:rPr lang="en-US" smtClean="0"/>
              <a:pPr defTabSz="931863"/>
              <a:t>7/2/2017</a:t>
            </a:fld>
            <a:endParaRPr lang="en-US" dirty="0"/>
          </a:p>
        </p:txBody>
      </p:sp>
      <p:sp>
        <p:nvSpPr>
          <p:cNvPr id="33798" name="Slide Number Placeholder 5"/>
          <p:cNvSpPr>
            <a:spLocks noGrp="1"/>
          </p:cNvSpPr>
          <p:nvPr>
            <p:ph type="sldNum" sz="quarter" idx="5"/>
          </p:nvPr>
        </p:nvSpPr>
        <p:spPr>
          <a:noFill/>
        </p:spPr>
        <p:txBody>
          <a:bodyPr/>
          <a:lstStyle/>
          <a:p>
            <a:pPr defTabSz="931863"/>
            <a:fld id="{CE0702E3-C5AB-4A2E-B67C-891965ECD872}" type="slidenum">
              <a:rPr lang="en-US" smtClean="0"/>
              <a:pPr defTabSz="931863"/>
              <a:t>57</a:t>
            </a:fld>
            <a:endParaRPr lang="en-US" dirty="0"/>
          </a:p>
        </p:txBody>
      </p:sp>
    </p:spTree>
    <p:extLst>
      <p:ext uri="{BB962C8B-B14F-4D97-AF65-F5344CB8AC3E}">
        <p14:creationId xmlns:p14="http://schemas.microsoft.com/office/powerpoint/2010/main" val="217373381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Rot="1" noChangeAspect="1" noChangeArrowheads="1" noTextEdit="1"/>
          </p:cNvSpPr>
          <p:nvPr>
            <p:ph type="sldImg"/>
          </p:nvPr>
        </p:nvSpPr>
        <p:spPr>
          <a:ln/>
        </p:spPr>
      </p:sp>
      <p:sp>
        <p:nvSpPr>
          <p:cNvPr id="30723" name="Rectangle 3"/>
          <p:cNvSpPr>
            <a:spLocks noGrp="1" noChangeArrowheads="1"/>
          </p:cNvSpPr>
          <p:nvPr>
            <p:ph type="body" idx="1"/>
          </p:nvPr>
        </p:nvSpPr>
        <p:spPr>
          <a:noFill/>
          <a:ln/>
        </p:spPr>
        <p:txBody>
          <a:bodyPr/>
          <a:lstStyle/>
          <a:p>
            <a:endParaRPr lang="en-US" dirty="0"/>
          </a:p>
        </p:txBody>
      </p:sp>
    </p:spTree>
    <p:extLst>
      <p:ext uri="{BB962C8B-B14F-4D97-AF65-F5344CB8AC3E}">
        <p14:creationId xmlns:p14="http://schemas.microsoft.com/office/powerpoint/2010/main" val="149837708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3" name="Picture 7" descr="bg1.jpg"/>
          <p:cNvPicPr>
            <a:picLocks noChangeAspect="1"/>
          </p:cNvPicPr>
          <p:nvPr userDrawn="1"/>
        </p:nvPicPr>
        <p:blipFill>
          <a:blip r:embed="rId2" cstate="print"/>
          <a:srcRect/>
          <a:stretch>
            <a:fillRect/>
          </a:stretch>
        </p:blipFill>
        <p:spPr bwMode="auto">
          <a:xfrm>
            <a:off x="3175" y="0"/>
            <a:ext cx="9137650" cy="6858000"/>
          </a:xfrm>
          <a:prstGeom prst="rect">
            <a:avLst/>
          </a:prstGeom>
          <a:noFill/>
          <a:ln w="9525">
            <a:noFill/>
            <a:miter lim="800000"/>
            <a:headEnd/>
            <a:tailEnd/>
          </a:ln>
        </p:spPr>
      </p:pic>
      <p:sp>
        <p:nvSpPr>
          <p:cNvPr id="681988" name="Rectangle 4"/>
          <p:cNvSpPr>
            <a:spLocks noGrp="1" noChangeArrowheads="1"/>
          </p:cNvSpPr>
          <p:nvPr>
            <p:ph type="subTitle" idx="1"/>
          </p:nvPr>
        </p:nvSpPr>
        <p:spPr>
          <a:xfrm>
            <a:off x="1295400" y="2133600"/>
            <a:ext cx="7086600" cy="584775"/>
          </a:xfrm>
        </p:spPr>
        <p:txBody>
          <a:bodyPr>
            <a:spAutoFit/>
          </a:bodyPr>
          <a:lstStyle>
            <a:lvl1pPr marL="0" indent="0">
              <a:buFont typeface="Wingdings" pitchFamily="2" charset="2"/>
              <a:buNone/>
              <a:defRPr sz="3200" b="0">
                <a:solidFill>
                  <a:schemeClr val="bg1"/>
                </a:solidFill>
              </a:defRPr>
            </a:lvl1pPr>
          </a:lstStyle>
          <a:p>
            <a:r>
              <a:rPr lang="en-US" dirty="0"/>
              <a:t>Click to edit Master subtitle style</a:t>
            </a:r>
          </a:p>
        </p:txBody>
      </p:sp>
      <p:sp>
        <p:nvSpPr>
          <p:cNvPr id="4" name="TextBox 3"/>
          <p:cNvSpPr txBox="1"/>
          <p:nvPr userDrawn="1"/>
        </p:nvSpPr>
        <p:spPr>
          <a:xfrm>
            <a:off x="3607327" y="6496050"/>
            <a:ext cx="3014768" cy="215444"/>
          </a:xfrm>
          <a:prstGeom prst="rect">
            <a:avLst/>
          </a:prstGeom>
          <a:noFill/>
        </p:spPr>
        <p:txBody>
          <a:bodyPr wrap="none" rtlCol="0">
            <a:spAutoFit/>
          </a:bodyPr>
          <a:lstStyle/>
          <a:p>
            <a:r>
              <a:rPr lang="en-US" sz="800" dirty="0">
                <a:solidFill>
                  <a:schemeClr val="accent5"/>
                </a:solidFill>
              </a:rPr>
              <a:t>© 2019 Jones and Bartlett </a:t>
            </a:r>
            <a:r>
              <a:rPr lang="en-US" sz="800" i="0" dirty="0">
                <a:solidFill>
                  <a:schemeClr val="accent5"/>
                </a:solidFill>
              </a:rPr>
              <a:t>Learning, LLC  www.jblearning.com</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a:t>Click to edit Master title style</a:t>
            </a:r>
          </a:p>
        </p:txBody>
      </p:sp>
      <p:sp>
        <p:nvSpPr>
          <p:cNvPr id="3" name="Content Placeholder 2"/>
          <p:cNvSpPr>
            <a:spLocks noGrp="1"/>
          </p:cNvSpPr>
          <p:nvPr>
            <p:ph idx="1"/>
          </p:nvPr>
        </p:nvSpPr>
        <p:spPr/>
        <p:txBody>
          <a:bodyPr/>
          <a:lstStyle>
            <a:lvl1pPr>
              <a:defRPr sz="1800"/>
            </a:lvl1pPr>
            <a:lvl2pPr>
              <a:defRPr sz="1600"/>
            </a:lvl2pPr>
            <a:lvl3pPr>
              <a:defRPr sz="1400"/>
            </a:lvl3pPr>
            <a:lvl4pPr>
              <a:defRPr sz="12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2_Title Slide">
    <p:spTree>
      <p:nvGrpSpPr>
        <p:cNvPr id="1" name=""/>
        <p:cNvGrpSpPr/>
        <p:nvPr/>
      </p:nvGrpSpPr>
      <p:grpSpPr>
        <a:xfrm>
          <a:off x="0" y="0"/>
          <a:ext cx="0" cy="0"/>
          <a:chOff x="0" y="0"/>
          <a:chExt cx="0" cy="0"/>
        </a:xfrm>
      </p:grpSpPr>
      <p:pic>
        <p:nvPicPr>
          <p:cNvPr id="3" name="Picture 7" descr="bg1.jpg"/>
          <p:cNvPicPr>
            <a:picLocks noChangeAspect="1"/>
          </p:cNvPicPr>
          <p:nvPr userDrawn="1"/>
        </p:nvPicPr>
        <p:blipFill>
          <a:blip r:embed="rId2" cstate="print"/>
          <a:srcRect/>
          <a:stretch>
            <a:fillRect/>
          </a:stretch>
        </p:blipFill>
        <p:spPr bwMode="auto">
          <a:xfrm>
            <a:off x="3175" y="0"/>
            <a:ext cx="9137650" cy="6858000"/>
          </a:xfrm>
          <a:prstGeom prst="rect">
            <a:avLst/>
          </a:prstGeom>
          <a:noFill/>
          <a:ln w="9525">
            <a:noFill/>
            <a:miter lim="800000"/>
            <a:headEnd/>
            <a:tailEnd/>
          </a:ln>
        </p:spPr>
      </p:pic>
      <p:sp>
        <p:nvSpPr>
          <p:cNvPr id="681988" name="Rectangle 4"/>
          <p:cNvSpPr>
            <a:spLocks noGrp="1" noChangeArrowheads="1"/>
          </p:cNvSpPr>
          <p:nvPr>
            <p:ph type="subTitle" idx="1"/>
          </p:nvPr>
        </p:nvSpPr>
        <p:spPr>
          <a:xfrm>
            <a:off x="1295400" y="2133600"/>
            <a:ext cx="7086600" cy="584775"/>
          </a:xfrm>
        </p:spPr>
        <p:txBody>
          <a:bodyPr>
            <a:spAutoFit/>
          </a:bodyPr>
          <a:lstStyle>
            <a:lvl1pPr marL="0" indent="0">
              <a:buFont typeface="Wingdings" pitchFamily="2" charset="2"/>
              <a:buNone/>
              <a:defRPr sz="3200" b="0">
                <a:solidFill>
                  <a:schemeClr val="bg1"/>
                </a:solidFill>
              </a:defRPr>
            </a:lvl1pPr>
          </a:lstStyle>
          <a:p>
            <a:r>
              <a:rPr lang="en-US" dirty="0"/>
              <a:t>Click to edit Master subtitle style</a:t>
            </a:r>
          </a:p>
        </p:txBody>
      </p:sp>
      <p:sp>
        <p:nvSpPr>
          <p:cNvPr id="5" name="TextBox 4"/>
          <p:cNvSpPr txBox="1"/>
          <p:nvPr userDrawn="1"/>
        </p:nvSpPr>
        <p:spPr>
          <a:xfrm>
            <a:off x="4150460" y="6332751"/>
            <a:ext cx="3095719" cy="415498"/>
          </a:xfrm>
          <a:prstGeom prst="rect">
            <a:avLst/>
          </a:prstGeom>
          <a:noFill/>
        </p:spPr>
        <p:txBody>
          <a:bodyPr wrap="non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700" dirty="0">
                <a:solidFill>
                  <a:schemeClr val="accent5"/>
                </a:solidFill>
              </a:rPr>
              <a:t>© 2019 Jones and Bartlett </a:t>
            </a:r>
            <a:r>
              <a:rPr lang="en-US" sz="700" i="0" dirty="0">
                <a:solidFill>
                  <a:schemeClr val="accent5"/>
                </a:solidFill>
              </a:rPr>
              <a:t>Learning, LLC, an Ascend Learning Company </a:t>
            </a:r>
          </a:p>
          <a:p>
            <a:r>
              <a:rPr lang="en-US" sz="700" i="0" dirty="0">
                <a:solidFill>
                  <a:schemeClr val="accent5"/>
                </a:solidFill>
              </a:rPr>
              <a:t>www.jblearning.com</a:t>
            </a:r>
          </a:p>
          <a:p>
            <a:r>
              <a:rPr lang="en-US" sz="700" i="0" dirty="0">
                <a:solidFill>
                  <a:schemeClr val="accent5"/>
                </a:solidFill>
              </a:rPr>
              <a:t>All rights reserved.</a:t>
            </a:r>
          </a:p>
        </p:txBody>
      </p:sp>
    </p:spTree>
  </p:cSld>
  <p:clrMapOvr>
    <a:masterClrMapping/>
  </p:clrMapOvr>
  <p:transition>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6" descr="bg2.jpg"/>
          <p:cNvPicPr>
            <a:picLocks noChangeAspect="1"/>
          </p:cNvPicPr>
          <p:nvPr userDrawn="1"/>
        </p:nvPicPr>
        <p:blipFill>
          <a:blip r:embed="rId6" cstate="print"/>
          <a:srcRect/>
          <a:stretch>
            <a:fillRect/>
          </a:stretch>
        </p:blipFill>
        <p:spPr bwMode="auto">
          <a:xfrm>
            <a:off x="0" y="6297613"/>
            <a:ext cx="9144000" cy="560387"/>
          </a:xfrm>
          <a:prstGeom prst="rect">
            <a:avLst/>
          </a:prstGeom>
          <a:noFill/>
          <a:ln w="9525">
            <a:noFill/>
            <a:miter lim="800000"/>
            <a:headEnd/>
            <a:tailEnd/>
          </a:ln>
        </p:spPr>
      </p:pic>
      <p:sp>
        <p:nvSpPr>
          <p:cNvPr id="1027" name="Rectangle 2"/>
          <p:cNvSpPr>
            <a:spLocks noGrp="1" noChangeArrowheads="1"/>
          </p:cNvSpPr>
          <p:nvPr>
            <p:ph type="title"/>
          </p:nvPr>
        </p:nvSpPr>
        <p:spPr bwMode="auto">
          <a:xfrm>
            <a:off x="539750" y="304800"/>
            <a:ext cx="8299450" cy="990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title style</a:t>
            </a:r>
          </a:p>
        </p:txBody>
      </p:sp>
      <p:sp>
        <p:nvSpPr>
          <p:cNvPr id="1028" name="Rectangle 3"/>
          <p:cNvSpPr>
            <a:spLocks noGrp="1" noChangeArrowheads="1"/>
          </p:cNvSpPr>
          <p:nvPr>
            <p:ph type="body" idx="1"/>
          </p:nvPr>
        </p:nvSpPr>
        <p:spPr bwMode="auto">
          <a:xfrm>
            <a:off x="539750" y="1295400"/>
            <a:ext cx="8299450" cy="4648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30" name="Text Box 6"/>
          <p:cNvSpPr txBox="1">
            <a:spLocks noChangeArrowheads="1"/>
          </p:cNvSpPr>
          <p:nvPr/>
        </p:nvSpPr>
        <p:spPr bwMode="auto">
          <a:xfrm>
            <a:off x="8382000" y="6496050"/>
            <a:ext cx="576263" cy="214313"/>
          </a:xfrm>
          <a:prstGeom prst="rect">
            <a:avLst/>
          </a:prstGeom>
          <a:noFill/>
          <a:ln>
            <a:noFill/>
          </a:ln>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defRPr/>
            </a:pPr>
            <a:r>
              <a:rPr lang="en-US" sz="800" dirty="0">
                <a:solidFill>
                  <a:schemeClr val="bg1"/>
                </a:solidFill>
              </a:rPr>
              <a:t>Page </a:t>
            </a:r>
            <a:fld id="{90AA38CB-7BA4-4EAB-AC95-73D49A9FE7CD}" type="slidenum">
              <a:rPr lang="en-US" sz="800" smtClean="0">
                <a:solidFill>
                  <a:schemeClr val="bg1"/>
                </a:solidFill>
              </a:rPr>
              <a:pPr>
                <a:defRPr/>
              </a:pPr>
              <a:t>‹#›</a:t>
            </a:fld>
            <a:endParaRPr lang="en-US" sz="800" dirty="0">
              <a:solidFill>
                <a:schemeClr val="bg1"/>
              </a:solidFill>
            </a:endParaRPr>
          </a:p>
        </p:txBody>
      </p:sp>
      <p:sp>
        <p:nvSpPr>
          <p:cNvPr id="1031" name="Text Box 5"/>
          <p:cNvSpPr txBox="1">
            <a:spLocks noChangeArrowheads="1"/>
          </p:cNvSpPr>
          <p:nvPr userDrawn="1"/>
        </p:nvSpPr>
        <p:spPr bwMode="auto">
          <a:xfrm>
            <a:off x="95250" y="6478588"/>
            <a:ext cx="3302000" cy="477837"/>
          </a:xfrm>
          <a:prstGeom prst="rect">
            <a:avLst/>
          </a:prstGeom>
          <a:noFill/>
          <a:ln>
            <a:noFill/>
          </a:ln>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defRPr/>
            </a:pPr>
            <a:r>
              <a:rPr lang="en-US" sz="1000" dirty="0">
                <a:solidFill>
                  <a:schemeClr val="bg1"/>
                </a:solidFill>
              </a:rPr>
              <a:t>System Forensics, Investigation, and Response</a:t>
            </a:r>
          </a:p>
          <a:p>
            <a:pPr>
              <a:spcBef>
                <a:spcPct val="50000"/>
              </a:spcBef>
              <a:defRPr/>
            </a:pPr>
            <a:endParaRPr lang="en-US" sz="1000" dirty="0">
              <a:solidFill>
                <a:schemeClr val="bg1"/>
              </a:solidFill>
            </a:endParaRPr>
          </a:p>
        </p:txBody>
      </p:sp>
      <p:sp>
        <p:nvSpPr>
          <p:cNvPr id="8" name="TextBox 7"/>
          <p:cNvSpPr txBox="1"/>
          <p:nvPr userDrawn="1"/>
        </p:nvSpPr>
        <p:spPr>
          <a:xfrm>
            <a:off x="4177756" y="6395457"/>
            <a:ext cx="3095719" cy="415498"/>
          </a:xfrm>
          <a:prstGeom prst="rect">
            <a:avLst/>
          </a:prstGeom>
          <a:noFill/>
        </p:spPr>
        <p:txBody>
          <a:bodyPr wrap="non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700" dirty="0">
                <a:solidFill>
                  <a:schemeClr val="accent5"/>
                </a:solidFill>
              </a:rPr>
              <a:t>© 2019 Jones and Bartlett </a:t>
            </a:r>
            <a:r>
              <a:rPr lang="en-US" sz="700" i="0" dirty="0">
                <a:solidFill>
                  <a:schemeClr val="accent5"/>
                </a:solidFill>
              </a:rPr>
              <a:t>Learning, LLC, an Ascend Learning Company </a:t>
            </a:r>
          </a:p>
          <a:p>
            <a:r>
              <a:rPr lang="en-US" sz="700" i="0" dirty="0">
                <a:solidFill>
                  <a:schemeClr val="accent5"/>
                </a:solidFill>
              </a:rPr>
              <a:t>www.jblearning.com</a:t>
            </a:r>
          </a:p>
          <a:p>
            <a:r>
              <a:rPr lang="en-US" sz="700" i="0" dirty="0">
                <a:solidFill>
                  <a:schemeClr val="accent5"/>
                </a:solidFill>
              </a:rPr>
              <a:t>All rights reserved.</a:t>
            </a:r>
          </a:p>
        </p:txBody>
      </p:sp>
    </p:spTree>
  </p:cSld>
  <p:clrMap bg1="lt1" tx1="dk1" bg2="lt2" tx2="dk2" accent1="accent1" accent2="accent2" accent3="accent3" accent4="accent4" accent5="accent5" accent6="accent6" hlink="hlink" folHlink="folHlink"/>
  <p:sldLayoutIdLst>
    <p:sldLayoutId id="2147484055" r:id="rId1"/>
    <p:sldLayoutId id="2147484053" r:id="rId2"/>
    <p:sldLayoutId id="2147484057" r:id="rId3"/>
    <p:sldLayoutId id="2147484054" r:id="rId4"/>
  </p:sldLayoutIdLst>
  <p:txStyles>
    <p:titleStyle>
      <a:lvl1pPr algn="l" rtl="0" eaLnBrk="0" fontAlgn="base" hangingPunct="0">
        <a:spcBef>
          <a:spcPct val="0"/>
        </a:spcBef>
        <a:spcAft>
          <a:spcPct val="0"/>
        </a:spcAft>
        <a:defRPr sz="2400" b="1">
          <a:solidFill>
            <a:srgbClr val="00407A"/>
          </a:solidFill>
          <a:latin typeface="+mj-lt"/>
          <a:ea typeface="+mj-ea"/>
          <a:cs typeface="+mj-cs"/>
        </a:defRPr>
      </a:lvl1pPr>
      <a:lvl2pPr algn="l" rtl="0" eaLnBrk="0" fontAlgn="base" hangingPunct="0">
        <a:spcBef>
          <a:spcPct val="0"/>
        </a:spcBef>
        <a:spcAft>
          <a:spcPct val="0"/>
        </a:spcAft>
        <a:defRPr sz="2400" b="1">
          <a:solidFill>
            <a:srgbClr val="00407A"/>
          </a:solidFill>
          <a:latin typeface="Arial" charset="0"/>
        </a:defRPr>
      </a:lvl2pPr>
      <a:lvl3pPr algn="l" rtl="0" eaLnBrk="0" fontAlgn="base" hangingPunct="0">
        <a:spcBef>
          <a:spcPct val="0"/>
        </a:spcBef>
        <a:spcAft>
          <a:spcPct val="0"/>
        </a:spcAft>
        <a:defRPr sz="2400" b="1">
          <a:solidFill>
            <a:srgbClr val="00407A"/>
          </a:solidFill>
          <a:latin typeface="Arial" charset="0"/>
        </a:defRPr>
      </a:lvl3pPr>
      <a:lvl4pPr algn="l" rtl="0" eaLnBrk="0" fontAlgn="base" hangingPunct="0">
        <a:spcBef>
          <a:spcPct val="0"/>
        </a:spcBef>
        <a:spcAft>
          <a:spcPct val="0"/>
        </a:spcAft>
        <a:defRPr sz="2400" b="1">
          <a:solidFill>
            <a:srgbClr val="00407A"/>
          </a:solidFill>
          <a:latin typeface="Arial" charset="0"/>
        </a:defRPr>
      </a:lvl4pPr>
      <a:lvl5pPr algn="l" rtl="0" eaLnBrk="0" fontAlgn="base" hangingPunct="0">
        <a:spcBef>
          <a:spcPct val="0"/>
        </a:spcBef>
        <a:spcAft>
          <a:spcPct val="0"/>
        </a:spcAft>
        <a:defRPr sz="2400" b="1">
          <a:solidFill>
            <a:srgbClr val="00407A"/>
          </a:solidFill>
          <a:latin typeface="Arial" charset="0"/>
        </a:defRPr>
      </a:lvl5pPr>
      <a:lvl6pPr marL="457200" algn="l" rtl="0" eaLnBrk="0" fontAlgn="base" hangingPunct="0">
        <a:spcBef>
          <a:spcPct val="0"/>
        </a:spcBef>
        <a:spcAft>
          <a:spcPct val="0"/>
        </a:spcAft>
        <a:defRPr sz="3800" b="1">
          <a:solidFill>
            <a:srgbClr val="00407A"/>
          </a:solidFill>
          <a:latin typeface="Arial" charset="0"/>
        </a:defRPr>
      </a:lvl6pPr>
      <a:lvl7pPr marL="914400" algn="l" rtl="0" eaLnBrk="0" fontAlgn="base" hangingPunct="0">
        <a:spcBef>
          <a:spcPct val="0"/>
        </a:spcBef>
        <a:spcAft>
          <a:spcPct val="0"/>
        </a:spcAft>
        <a:defRPr sz="3800" b="1">
          <a:solidFill>
            <a:srgbClr val="00407A"/>
          </a:solidFill>
          <a:latin typeface="Arial" charset="0"/>
        </a:defRPr>
      </a:lvl7pPr>
      <a:lvl8pPr marL="1371600" algn="l" rtl="0" eaLnBrk="0" fontAlgn="base" hangingPunct="0">
        <a:spcBef>
          <a:spcPct val="0"/>
        </a:spcBef>
        <a:spcAft>
          <a:spcPct val="0"/>
        </a:spcAft>
        <a:defRPr sz="3800" b="1">
          <a:solidFill>
            <a:srgbClr val="00407A"/>
          </a:solidFill>
          <a:latin typeface="Arial" charset="0"/>
        </a:defRPr>
      </a:lvl8pPr>
      <a:lvl9pPr marL="1828800" algn="l" rtl="0" eaLnBrk="0" fontAlgn="base" hangingPunct="0">
        <a:spcBef>
          <a:spcPct val="0"/>
        </a:spcBef>
        <a:spcAft>
          <a:spcPct val="0"/>
        </a:spcAft>
        <a:defRPr sz="3800" b="1">
          <a:solidFill>
            <a:srgbClr val="00407A"/>
          </a:solidFill>
          <a:latin typeface="Arial" charset="0"/>
        </a:defRPr>
      </a:lvl9pPr>
    </p:titleStyle>
    <p:bodyStyle>
      <a:lvl1pPr marL="233363" indent="-233363" algn="l" rtl="0" eaLnBrk="0" fontAlgn="base" hangingPunct="0">
        <a:spcBef>
          <a:spcPct val="20000"/>
        </a:spcBef>
        <a:spcAft>
          <a:spcPct val="0"/>
        </a:spcAft>
        <a:buClr>
          <a:srgbClr val="ED6E2E"/>
        </a:buClr>
        <a:buFont typeface="Wingdings" pitchFamily="2" charset="2"/>
        <a:buChar char="§"/>
        <a:defRPr>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55.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5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3"/>
          <p:cNvSpPr>
            <a:spLocks noGrp="1"/>
          </p:cNvSpPr>
          <p:nvPr>
            <p:ph type="subTitle" idx="1"/>
          </p:nvPr>
        </p:nvSpPr>
        <p:spPr>
          <a:xfrm>
            <a:off x="560552" y="2133600"/>
            <a:ext cx="8024648" cy="3588675"/>
          </a:xfrm>
        </p:spPr>
        <p:txBody>
          <a:bodyPr/>
          <a:lstStyle/>
          <a:p>
            <a:pPr algn="ctr"/>
            <a:r>
              <a:rPr lang="en-US" sz="4000" b="1" dirty="0"/>
              <a:t>System Forensics, Investigation, and Response</a:t>
            </a:r>
          </a:p>
          <a:p>
            <a:pPr algn="ctr"/>
            <a:endParaRPr lang="en-US" b="1" dirty="0"/>
          </a:p>
          <a:p>
            <a:pPr algn="ctr"/>
            <a:r>
              <a:rPr lang="en-US" b="1" dirty="0"/>
              <a:t>Lesson 5</a:t>
            </a:r>
          </a:p>
          <a:p>
            <a:pPr algn="ctr"/>
            <a:r>
              <a:rPr lang="en-US" b="1" dirty="0"/>
              <a:t>Understanding Techniques for Hiding and Scrambling Information</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sz="4000" dirty="0"/>
              <a:t>Learning Objective</a:t>
            </a:r>
          </a:p>
        </p:txBody>
      </p:sp>
      <p:sp>
        <p:nvSpPr>
          <p:cNvPr id="6147" name="Content Placeholder 2"/>
          <p:cNvSpPr>
            <a:spLocks noGrp="1"/>
          </p:cNvSpPr>
          <p:nvPr>
            <p:ph idx="1"/>
          </p:nvPr>
        </p:nvSpPr>
        <p:spPr>
          <a:xfrm>
            <a:off x="539750" y="1392072"/>
            <a:ext cx="7969250" cy="2417928"/>
          </a:xfrm>
        </p:spPr>
        <p:txBody>
          <a:bodyPr/>
          <a:lstStyle/>
          <a:p>
            <a:r>
              <a:rPr lang="en-US" sz="3200" dirty="0"/>
              <a:t>Explain techniques for hiding and scrambling information as well as how data is recovered.</a:t>
            </a: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sz="4000" dirty="0"/>
              <a:t>Key Concepts</a:t>
            </a:r>
          </a:p>
        </p:txBody>
      </p:sp>
      <p:sp>
        <p:nvSpPr>
          <p:cNvPr id="7171" name="Content Placeholder 2"/>
          <p:cNvSpPr>
            <a:spLocks noGrp="1"/>
          </p:cNvSpPr>
          <p:nvPr>
            <p:ph idx="1"/>
          </p:nvPr>
        </p:nvSpPr>
        <p:spPr>
          <a:xfrm>
            <a:off x="539750" y="1405719"/>
            <a:ext cx="7497763" cy="4448981"/>
          </a:xfrm>
        </p:spPr>
        <p:txBody>
          <a:bodyPr/>
          <a:lstStyle/>
          <a:p>
            <a:pPr lvl="0"/>
            <a:r>
              <a:rPr lang="en-US" sz="3200" dirty="0"/>
              <a:t>Steganography</a:t>
            </a:r>
          </a:p>
          <a:p>
            <a:pPr lvl="0"/>
            <a:r>
              <a:rPr lang="en-US" sz="3200" dirty="0"/>
              <a:t>Encryption</a:t>
            </a:r>
          </a:p>
          <a:p>
            <a:pPr lvl="1">
              <a:buFont typeface="Times"/>
              <a:buNone/>
            </a:pPr>
            <a:endParaRPr lang="en-US" sz="3200" dirty="0">
              <a:ea typeface="MS PGothic" pitchFamily="34" charset="-128"/>
            </a:endParaRP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Steganography</a:t>
            </a:r>
          </a:p>
        </p:txBody>
      </p:sp>
      <p:sp>
        <p:nvSpPr>
          <p:cNvPr id="10243" name="Content Placeholder 2"/>
          <p:cNvSpPr>
            <a:spLocks noGrp="1"/>
          </p:cNvSpPr>
          <p:nvPr>
            <p:ph idx="1"/>
          </p:nvPr>
        </p:nvSpPr>
        <p:spPr>
          <a:xfrm>
            <a:off x="539750" y="1364776"/>
            <a:ext cx="8299450" cy="4356574"/>
          </a:xfrm>
        </p:spPr>
        <p:txBody>
          <a:bodyPr/>
          <a:lstStyle/>
          <a:p>
            <a:pPr marL="233363" lvl="1" indent="-233363">
              <a:buSzTx/>
              <a:buFont typeface="Wingdings" pitchFamily="2" charset="2"/>
              <a:buChar char="§"/>
            </a:pPr>
            <a:r>
              <a:rPr lang="en-US" sz="3200" dirty="0"/>
              <a:t>The art and science of writing hidden messages</a:t>
            </a:r>
          </a:p>
          <a:p>
            <a:pPr marL="233363" lvl="1" indent="-233363">
              <a:buSzTx/>
              <a:buFont typeface="Wingdings" pitchFamily="2" charset="2"/>
              <a:buChar char="§"/>
            </a:pPr>
            <a:r>
              <a:rPr lang="en-US" sz="3200" dirty="0"/>
              <a:t>Goal is to hide information so that even if it is intercepted, it is not clear that information is hidden there</a:t>
            </a:r>
          </a:p>
          <a:p>
            <a:pPr marL="233363" lvl="1" indent="-233363">
              <a:buSzTx/>
              <a:buFont typeface="Wingdings" pitchFamily="2" charset="2"/>
              <a:buChar char="§"/>
            </a:pPr>
            <a:r>
              <a:rPr lang="en-US" sz="3200" dirty="0"/>
              <a:t>Most common method today is to hide messages in pictures using the least significant bit (LSB) method</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LSB Method</a:t>
            </a:r>
          </a:p>
        </p:txBody>
      </p:sp>
      <p:sp>
        <p:nvSpPr>
          <p:cNvPr id="10243" name="Content Placeholder 2"/>
          <p:cNvSpPr>
            <a:spLocks noGrp="1"/>
          </p:cNvSpPr>
          <p:nvPr>
            <p:ph idx="1"/>
          </p:nvPr>
        </p:nvSpPr>
        <p:spPr>
          <a:xfrm>
            <a:off x="539750" y="1364776"/>
            <a:ext cx="8299450" cy="4356574"/>
          </a:xfrm>
        </p:spPr>
        <p:txBody>
          <a:bodyPr/>
          <a:lstStyle/>
          <a:p>
            <a:pPr marL="233363" lvl="1" indent="-233363">
              <a:buSzTx/>
              <a:buFont typeface="Wingdings" pitchFamily="2" charset="2"/>
              <a:buChar char="§"/>
            </a:pPr>
            <a:r>
              <a:rPr lang="en-US" sz="3200" dirty="0"/>
              <a:t>Consider 11111111</a:t>
            </a:r>
          </a:p>
          <a:p>
            <a:pPr marL="233363" lvl="1" indent="-233363">
              <a:buSzTx/>
              <a:buFont typeface="Wingdings" pitchFamily="2" charset="2"/>
              <a:buChar char="§"/>
            </a:pPr>
            <a:r>
              <a:rPr lang="en-US" sz="3200" dirty="0"/>
              <a:t>Change last digit to 0</a:t>
            </a:r>
          </a:p>
          <a:p>
            <a:pPr marL="233363" lvl="1" indent="-233363">
              <a:buSzTx/>
              <a:buFont typeface="Wingdings" pitchFamily="2" charset="2"/>
              <a:buChar char="§"/>
            </a:pPr>
            <a:r>
              <a:rPr lang="en-US" sz="3200" dirty="0"/>
              <a:t>1111111</a:t>
            </a:r>
            <a:r>
              <a:rPr lang="en-US" sz="3200" dirty="0">
                <a:solidFill>
                  <a:srgbClr val="FF0000"/>
                </a:solidFill>
              </a:rPr>
              <a:t>0</a:t>
            </a:r>
            <a:r>
              <a:rPr lang="en-US" sz="3200" dirty="0"/>
              <a:t> = 254 in decimal</a:t>
            </a:r>
          </a:p>
          <a:p>
            <a:pPr marL="233363" lvl="1" indent="-233363">
              <a:buSzTx/>
              <a:buFont typeface="Wingdings" pitchFamily="2" charset="2"/>
              <a:buChar char="§"/>
            </a:pPr>
            <a:r>
              <a:rPr lang="en-US" sz="3200" dirty="0"/>
              <a:t>The last bit or least significant bit is used to store data</a:t>
            </a:r>
          </a:p>
          <a:p>
            <a:pPr marL="233363" lvl="1" indent="-233363">
              <a:buSzTx/>
              <a:buFont typeface="Wingdings" pitchFamily="2" charset="2"/>
              <a:buChar char="§"/>
            </a:pPr>
            <a:endParaRPr lang="en-US" sz="3200" dirty="0"/>
          </a:p>
          <a:p>
            <a:pPr marL="233363" lvl="1" indent="-233363">
              <a:buSzTx/>
              <a:buFont typeface="Wingdings" pitchFamily="2" charset="2"/>
              <a:buChar char="§"/>
            </a:pPr>
            <a:r>
              <a:rPr lang="en-US" sz="3200" dirty="0"/>
              <a:t>Colored pixels in a computer stored in bits</a:t>
            </a:r>
          </a:p>
          <a:p>
            <a:pPr marL="233363" lvl="1" indent="-233363">
              <a:buSzTx/>
              <a:buFont typeface="Wingdings" pitchFamily="2" charset="2"/>
              <a:buChar char="§"/>
            </a:pPr>
            <a:endParaRPr lang="en-US" sz="3200" dirty="0"/>
          </a:p>
        </p:txBody>
      </p:sp>
    </p:spTree>
    <p:extLst>
      <p:ext uri="{BB962C8B-B14F-4D97-AF65-F5344CB8AC3E}">
        <p14:creationId xmlns:p14="http://schemas.microsoft.com/office/powerpoint/2010/main" val="3548733153"/>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LSB Method</a:t>
            </a:r>
          </a:p>
        </p:txBody>
      </p:sp>
      <p:pic>
        <p:nvPicPr>
          <p:cNvPr id="3" name="Content Placeholder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413772" y="1323834"/>
            <a:ext cx="6351602" cy="4224174"/>
          </a:xfrm>
        </p:spPr>
      </p:pic>
      <p:sp>
        <p:nvSpPr>
          <p:cNvPr id="4" name="TextBox 3"/>
          <p:cNvSpPr txBox="1"/>
          <p:nvPr/>
        </p:nvSpPr>
        <p:spPr>
          <a:xfrm rot="5400000">
            <a:off x="6824716" y="4600084"/>
            <a:ext cx="2156344" cy="230832"/>
          </a:xfrm>
          <a:prstGeom prst="rect">
            <a:avLst/>
          </a:prstGeom>
          <a:noFill/>
        </p:spPr>
        <p:txBody>
          <a:bodyPr wrap="square" rtlCol="0">
            <a:spAutoFit/>
          </a:bodyPr>
          <a:lstStyle/>
          <a:p>
            <a:r>
              <a:rPr lang="en-US" sz="900" dirty="0">
                <a:solidFill>
                  <a:schemeClr val="bg1">
                    <a:lumMod val="75000"/>
                  </a:schemeClr>
                </a:solidFill>
              </a:rPr>
              <a:t>Used with permission from Microsoft</a:t>
            </a:r>
          </a:p>
        </p:txBody>
      </p:sp>
    </p:spTree>
    <p:extLst>
      <p:ext uri="{BB962C8B-B14F-4D97-AF65-F5344CB8AC3E}">
        <p14:creationId xmlns:p14="http://schemas.microsoft.com/office/powerpoint/2010/main" val="1525609055"/>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LSB Method</a:t>
            </a:r>
          </a:p>
        </p:txBody>
      </p:sp>
      <p:pic>
        <p:nvPicPr>
          <p:cNvPr id="8" name="Content Placeholder 7"/>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728338" y="1613563"/>
            <a:ext cx="5791577" cy="3861052"/>
          </a:xfrm>
        </p:spPr>
      </p:pic>
      <p:sp>
        <p:nvSpPr>
          <p:cNvPr id="9" name="Rectangle 8"/>
          <p:cNvSpPr/>
          <p:nvPr/>
        </p:nvSpPr>
        <p:spPr bwMode="auto">
          <a:xfrm>
            <a:off x="5622877" y="2333767"/>
            <a:ext cx="1897038" cy="600502"/>
          </a:xfrm>
          <a:prstGeom prst="rect">
            <a:avLst/>
          </a:prstGeom>
          <a:noFill/>
          <a:ln w="254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ndParaRPr>
          </a:p>
        </p:txBody>
      </p:sp>
      <p:sp>
        <p:nvSpPr>
          <p:cNvPr id="11" name="Rectangle 10"/>
          <p:cNvSpPr/>
          <p:nvPr/>
        </p:nvSpPr>
        <p:spPr bwMode="auto">
          <a:xfrm>
            <a:off x="5622877" y="4314967"/>
            <a:ext cx="1897038" cy="600502"/>
          </a:xfrm>
          <a:prstGeom prst="rect">
            <a:avLst/>
          </a:prstGeom>
          <a:noFill/>
          <a:ln w="254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ndParaRPr>
          </a:p>
        </p:txBody>
      </p:sp>
      <p:sp>
        <p:nvSpPr>
          <p:cNvPr id="6" name="TextBox 5"/>
          <p:cNvSpPr txBox="1"/>
          <p:nvPr/>
        </p:nvSpPr>
        <p:spPr>
          <a:xfrm rot="5400000">
            <a:off x="6593884" y="4472099"/>
            <a:ext cx="2156344" cy="230832"/>
          </a:xfrm>
          <a:prstGeom prst="rect">
            <a:avLst/>
          </a:prstGeom>
          <a:noFill/>
        </p:spPr>
        <p:txBody>
          <a:bodyPr wrap="square" rtlCol="0">
            <a:spAutoFit/>
          </a:bodyPr>
          <a:lstStyle/>
          <a:p>
            <a:r>
              <a:rPr lang="en-US" sz="900" dirty="0">
                <a:solidFill>
                  <a:schemeClr val="bg1">
                    <a:lumMod val="75000"/>
                  </a:schemeClr>
                </a:solidFill>
              </a:rPr>
              <a:t>Used with permission from Microsoft</a:t>
            </a:r>
          </a:p>
        </p:txBody>
      </p:sp>
    </p:spTree>
    <p:extLst>
      <p:ext uri="{BB962C8B-B14F-4D97-AF65-F5344CB8AC3E}">
        <p14:creationId xmlns:p14="http://schemas.microsoft.com/office/powerpoint/2010/main" val="3544287058"/>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Basic Steganography Terms</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435837711"/>
              </p:ext>
            </p:extLst>
          </p:nvPr>
        </p:nvGraphicFramePr>
        <p:xfrm>
          <a:off x="539750" y="1295400"/>
          <a:ext cx="829945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17062337"/>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idx="4294967295"/>
          </p:nvPr>
        </p:nvSpPr>
        <p:spPr>
          <a:xfrm>
            <a:off x="539750" y="304800"/>
            <a:ext cx="8299450" cy="896202"/>
          </a:xfrm>
        </p:spPr>
        <p:txBody>
          <a:bodyPr/>
          <a:lstStyle/>
          <a:p>
            <a:r>
              <a:rPr lang="en-US" sz="4000" dirty="0">
                <a:solidFill>
                  <a:schemeClr val="tx2"/>
                </a:solidFill>
              </a:rPr>
              <a:t>Historical Steganography</a:t>
            </a:r>
          </a:p>
        </p:txBody>
      </p:sp>
      <p:sp>
        <p:nvSpPr>
          <p:cNvPr id="21507" name="Content Placeholder 2"/>
          <p:cNvSpPr>
            <a:spLocks noGrp="1"/>
          </p:cNvSpPr>
          <p:nvPr>
            <p:ph idx="4294967295"/>
          </p:nvPr>
        </p:nvSpPr>
        <p:spPr>
          <a:xfrm>
            <a:off x="539750" y="1201002"/>
            <a:ext cx="8299450" cy="4520347"/>
          </a:xfrm>
        </p:spPr>
        <p:txBody>
          <a:bodyPr/>
          <a:lstStyle/>
          <a:p>
            <a:r>
              <a:rPr lang="en-US" sz="3200" dirty="0"/>
              <a:t>Ancient Chinese wrapped notes in wax and swallowed them for transport</a:t>
            </a:r>
          </a:p>
          <a:p>
            <a:r>
              <a:rPr lang="en-US" sz="3200" dirty="0"/>
              <a:t>In ancient Greece, message written on slave's shaved head, then hair allowed to grow back</a:t>
            </a:r>
          </a:p>
          <a:p>
            <a:r>
              <a:rPr lang="en-US" sz="3200" dirty="0"/>
              <a:t>During World War II, French Resistance sent messages written on the backs of couriers using invisible ink</a:t>
            </a:r>
          </a:p>
          <a:p>
            <a:endParaRPr lang="en-US" sz="3200" dirty="0"/>
          </a:p>
          <a:p>
            <a:pPr lvl="1"/>
            <a:endParaRPr lang="en-US" dirty="0"/>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Other Forms of Steganography </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772810849"/>
              </p:ext>
            </p:extLst>
          </p:nvPr>
        </p:nvGraphicFramePr>
        <p:xfrm>
          <a:off x="539750" y="1869742"/>
          <a:ext cx="8299450" cy="31185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16486268"/>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Steganalysis</a:t>
            </a:r>
          </a:p>
        </p:txBody>
      </p:sp>
      <p:sp>
        <p:nvSpPr>
          <p:cNvPr id="10243" name="Content Placeholder 2"/>
          <p:cNvSpPr>
            <a:spLocks noGrp="1"/>
          </p:cNvSpPr>
          <p:nvPr>
            <p:ph idx="1"/>
          </p:nvPr>
        </p:nvSpPr>
        <p:spPr>
          <a:xfrm>
            <a:off x="539750" y="1364776"/>
            <a:ext cx="8299450" cy="4356574"/>
          </a:xfrm>
        </p:spPr>
        <p:txBody>
          <a:bodyPr/>
          <a:lstStyle/>
          <a:p>
            <a:pPr marL="233363" lvl="1" indent="-233363">
              <a:buSzTx/>
              <a:buFont typeface="Wingdings" pitchFamily="2" charset="2"/>
              <a:buChar char="§"/>
            </a:pPr>
            <a:r>
              <a:rPr lang="en-US" sz="3200" dirty="0"/>
              <a:t>The process of analyzing a file or files for hidden content</a:t>
            </a:r>
          </a:p>
          <a:p>
            <a:pPr marL="233363" lvl="1" indent="-233363">
              <a:buSzTx/>
              <a:buFont typeface="Wingdings" pitchFamily="2" charset="2"/>
              <a:buChar char="§"/>
            </a:pPr>
            <a:r>
              <a:rPr lang="en-US" sz="3200" dirty="0"/>
              <a:t>Can show a likelihood that a given file has additional information hidden in it</a:t>
            </a:r>
          </a:p>
          <a:p>
            <a:pPr marL="233363" lvl="1" indent="-233363">
              <a:buSzTx/>
              <a:buFont typeface="Wingdings" pitchFamily="2" charset="2"/>
              <a:buChar char="§"/>
            </a:pPr>
            <a:r>
              <a:rPr lang="en-US" sz="3200" dirty="0"/>
              <a:t>Common method for detecting LSB steganography is to examine close-color pairs</a:t>
            </a:r>
          </a:p>
          <a:p>
            <a:pPr marL="233363" lvl="1" indent="-233363">
              <a:buSzTx/>
              <a:buFont typeface="Wingdings" pitchFamily="2" charset="2"/>
              <a:buChar char="§"/>
            </a:pPr>
            <a:endParaRPr lang="en-US" sz="3200" dirty="0"/>
          </a:p>
        </p:txBody>
      </p:sp>
    </p:spTree>
    <p:extLst>
      <p:ext uri="{BB962C8B-B14F-4D97-AF65-F5344CB8AC3E}">
        <p14:creationId xmlns:p14="http://schemas.microsoft.com/office/powerpoint/2010/main" val="4101565837"/>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Invisible Secrets</a:t>
            </a:r>
          </a:p>
        </p:txBody>
      </p:sp>
      <p:pic>
        <p:nvPicPr>
          <p:cNvPr id="6" name="Content Placeholder 5"/>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985500" y="1381552"/>
            <a:ext cx="5355956" cy="4400685"/>
          </a:xfrm>
        </p:spPr>
      </p:pic>
      <p:sp>
        <p:nvSpPr>
          <p:cNvPr id="4" name="TextBox 3"/>
          <p:cNvSpPr txBox="1"/>
          <p:nvPr/>
        </p:nvSpPr>
        <p:spPr>
          <a:xfrm rot="5400000">
            <a:off x="6574384" y="4897942"/>
            <a:ext cx="1764975" cy="230832"/>
          </a:xfrm>
          <a:prstGeom prst="rect">
            <a:avLst/>
          </a:prstGeom>
          <a:noFill/>
        </p:spPr>
        <p:txBody>
          <a:bodyPr wrap="square" rtlCol="0">
            <a:spAutoFit/>
          </a:bodyPr>
          <a:lstStyle/>
          <a:p>
            <a:r>
              <a:rPr lang="en-US" sz="900" dirty="0">
                <a:solidFill>
                  <a:schemeClr val="bg1">
                    <a:lumMod val="75000"/>
                  </a:schemeClr>
                </a:solidFill>
              </a:rPr>
              <a:t>Courtesy of NeoByte Solutions</a:t>
            </a:r>
          </a:p>
        </p:txBody>
      </p:sp>
    </p:spTree>
    <p:extLst>
      <p:ext uri="{BB962C8B-B14F-4D97-AF65-F5344CB8AC3E}">
        <p14:creationId xmlns:p14="http://schemas.microsoft.com/office/powerpoint/2010/main" val="2483094769"/>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Invisible Secrets</a:t>
            </a:r>
          </a:p>
        </p:txBody>
      </p:sp>
      <p:pic>
        <p:nvPicPr>
          <p:cNvPr id="2" name="Content Placeholder 1"/>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540314" y="1408750"/>
            <a:ext cx="4303618" cy="4389120"/>
          </a:xfrm>
        </p:spPr>
      </p:pic>
      <p:sp>
        <p:nvSpPr>
          <p:cNvPr id="4" name="TextBox 3"/>
          <p:cNvSpPr txBox="1"/>
          <p:nvPr/>
        </p:nvSpPr>
        <p:spPr>
          <a:xfrm rot="5400000">
            <a:off x="6085181" y="4799967"/>
            <a:ext cx="1764975" cy="230832"/>
          </a:xfrm>
          <a:prstGeom prst="rect">
            <a:avLst/>
          </a:prstGeom>
          <a:noFill/>
        </p:spPr>
        <p:txBody>
          <a:bodyPr wrap="square" rtlCol="0">
            <a:spAutoFit/>
          </a:bodyPr>
          <a:lstStyle/>
          <a:p>
            <a:r>
              <a:rPr lang="en-US" sz="900" dirty="0">
                <a:solidFill>
                  <a:schemeClr val="bg1">
                    <a:lumMod val="75000"/>
                  </a:schemeClr>
                </a:solidFill>
              </a:rPr>
              <a:t>Courtesy of NeoByte Solutions</a:t>
            </a:r>
          </a:p>
        </p:txBody>
      </p:sp>
    </p:spTree>
    <p:extLst>
      <p:ext uri="{BB962C8B-B14F-4D97-AF65-F5344CB8AC3E}">
        <p14:creationId xmlns:p14="http://schemas.microsoft.com/office/powerpoint/2010/main" val="2806334985"/>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Invisible Secrets</a:t>
            </a:r>
          </a:p>
        </p:txBody>
      </p:sp>
      <p:pic>
        <p:nvPicPr>
          <p:cNvPr id="2" name="Content Placeholder 1"/>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019412" y="1283774"/>
            <a:ext cx="5201529" cy="4389120"/>
          </a:xfrm>
        </p:spPr>
      </p:pic>
      <p:sp>
        <p:nvSpPr>
          <p:cNvPr id="4" name="TextBox 3"/>
          <p:cNvSpPr txBox="1"/>
          <p:nvPr/>
        </p:nvSpPr>
        <p:spPr>
          <a:xfrm rot="5400000">
            <a:off x="6460084" y="4726492"/>
            <a:ext cx="1764975" cy="230832"/>
          </a:xfrm>
          <a:prstGeom prst="rect">
            <a:avLst/>
          </a:prstGeom>
          <a:noFill/>
        </p:spPr>
        <p:txBody>
          <a:bodyPr wrap="square" rtlCol="0">
            <a:spAutoFit/>
          </a:bodyPr>
          <a:lstStyle/>
          <a:p>
            <a:r>
              <a:rPr lang="en-US" sz="900" dirty="0">
                <a:solidFill>
                  <a:schemeClr val="bg1">
                    <a:lumMod val="75000"/>
                  </a:schemeClr>
                </a:solidFill>
              </a:rPr>
              <a:t>Courtesy of NeoByte Solutions</a:t>
            </a:r>
          </a:p>
        </p:txBody>
      </p:sp>
    </p:spTree>
    <p:extLst>
      <p:ext uri="{BB962C8B-B14F-4D97-AF65-F5344CB8AC3E}">
        <p14:creationId xmlns:p14="http://schemas.microsoft.com/office/powerpoint/2010/main" val="1796713604"/>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Invisible Secrets</a:t>
            </a:r>
          </a:p>
        </p:txBody>
      </p:sp>
      <p:pic>
        <p:nvPicPr>
          <p:cNvPr id="2" name="Content Placeholder 1"/>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066380" y="1433899"/>
            <a:ext cx="5222630" cy="4389120"/>
          </a:xfrm>
        </p:spPr>
      </p:pic>
      <p:sp>
        <p:nvSpPr>
          <p:cNvPr id="4" name="TextBox 3"/>
          <p:cNvSpPr txBox="1"/>
          <p:nvPr/>
        </p:nvSpPr>
        <p:spPr>
          <a:xfrm rot="5400000">
            <a:off x="6517234" y="4878892"/>
            <a:ext cx="1764975" cy="230832"/>
          </a:xfrm>
          <a:prstGeom prst="rect">
            <a:avLst/>
          </a:prstGeom>
          <a:noFill/>
        </p:spPr>
        <p:txBody>
          <a:bodyPr wrap="square" rtlCol="0">
            <a:spAutoFit/>
          </a:bodyPr>
          <a:lstStyle/>
          <a:p>
            <a:r>
              <a:rPr lang="en-US" sz="900" dirty="0">
                <a:solidFill>
                  <a:schemeClr val="bg1">
                    <a:lumMod val="75000"/>
                  </a:schemeClr>
                </a:solidFill>
              </a:rPr>
              <a:t>Courtesy of NeoByte Solutions</a:t>
            </a:r>
          </a:p>
        </p:txBody>
      </p:sp>
    </p:spTree>
    <p:extLst>
      <p:ext uri="{BB962C8B-B14F-4D97-AF65-F5344CB8AC3E}">
        <p14:creationId xmlns:p14="http://schemas.microsoft.com/office/powerpoint/2010/main" val="3414281518"/>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Invisible Secrets</a:t>
            </a:r>
          </a:p>
        </p:txBody>
      </p:sp>
      <p:pic>
        <p:nvPicPr>
          <p:cNvPr id="2" name="Content Placeholder 1"/>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945767" y="1430091"/>
            <a:ext cx="5241682" cy="4389120"/>
          </a:xfrm>
        </p:spPr>
      </p:pic>
      <p:sp>
        <p:nvSpPr>
          <p:cNvPr id="4" name="TextBox 3"/>
          <p:cNvSpPr txBox="1"/>
          <p:nvPr/>
        </p:nvSpPr>
        <p:spPr>
          <a:xfrm rot="5400000">
            <a:off x="6431509" y="4897942"/>
            <a:ext cx="1764975" cy="230832"/>
          </a:xfrm>
          <a:prstGeom prst="rect">
            <a:avLst/>
          </a:prstGeom>
          <a:noFill/>
        </p:spPr>
        <p:txBody>
          <a:bodyPr wrap="square" rtlCol="0">
            <a:spAutoFit/>
          </a:bodyPr>
          <a:lstStyle/>
          <a:p>
            <a:r>
              <a:rPr lang="en-US" sz="900" dirty="0">
                <a:solidFill>
                  <a:schemeClr val="bg1">
                    <a:lumMod val="75000"/>
                  </a:schemeClr>
                </a:solidFill>
              </a:rPr>
              <a:t>Courtesy of NeoByte Solutions</a:t>
            </a:r>
          </a:p>
        </p:txBody>
      </p:sp>
    </p:spTree>
    <p:extLst>
      <p:ext uri="{BB962C8B-B14F-4D97-AF65-F5344CB8AC3E}">
        <p14:creationId xmlns:p14="http://schemas.microsoft.com/office/powerpoint/2010/main" val="651611397"/>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Encryption</a:t>
            </a:r>
          </a:p>
        </p:txBody>
      </p:sp>
      <p:sp>
        <p:nvSpPr>
          <p:cNvPr id="10243" name="Content Placeholder 2"/>
          <p:cNvSpPr>
            <a:spLocks noGrp="1"/>
          </p:cNvSpPr>
          <p:nvPr>
            <p:ph idx="1"/>
          </p:nvPr>
        </p:nvSpPr>
        <p:spPr>
          <a:xfrm>
            <a:off x="539750" y="1364776"/>
            <a:ext cx="8299450" cy="4356574"/>
          </a:xfrm>
        </p:spPr>
        <p:txBody>
          <a:bodyPr/>
          <a:lstStyle/>
          <a:p>
            <a:pPr marL="233363" lvl="1" indent="-233363">
              <a:buSzTx/>
              <a:buFont typeface="Wingdings" pitchFamily="2" charset="2"/>
              <a:buChar char="§"/>
            </a:pPr>
            <a:r>
              <a:rPr lang="en-US" sz="3200" dirty="0"/>
              <a:t>Encryption obfuscates message so it cannot be read</a:t>
            </a:r>
          </a:p>
          <a:p>
            <a:pPr marL="233363" lvl="1" indent="-233363">
              <a:buSzTx/>
              <a:buFont typeface="Wingdings" pitchFamily="2" charset="2"/>
              <a:buChar char="§"/>
            </a:pPr>
            <a:r>
              <a:rPr lang="en-US" sz="3200" dirty="0"/>
              <a:t>Cryptography is the study of writing secret messages</a:t>
            </a:r>
          </a:p>
          <a:p>
            <a:pPr marL="233363" lvl="1" indent="-233363">
              <a:buSzTx/>
              <a:buFont typeface="Wingdings" pitchFamily="2" charset="2"/>
              <a:buChar char="§"/>
            </a:pPr>
            <a:r>
              <a:rPr lang="en-US" sz="3200" dirty="0"/>
              <a:t>The word cryptography derived from word </a:t>
            </a:r>
            <a:r>
              <a:rPr lang="en-US" sz="3200" i="1" dirty="0"/>
              <a:t>kryptós</a:t>
            </a:r>
            <a:r>
              <a:rPr lang="en-US" sz="3200" dirty="0"/>
              <a:t>, which means hidden, and the verb </a:t>
            </a:r>
            <a:r>
              <a:rPr lang="en-US" sz="3200" i="1" dirty="0"/>
              <a:t>gráfo</a:t>
            </a:r>
            <a:r>
              <a:rPr lang="en-US" sz="3200" dirty="0"/>
              <a:t>, which means write</a:t>
            </a:r>
          </a:p>
          <a:p>
            <a:pPr marL="233363" lvl="1" indent="-233363">
              <a:buSzTx/>
              <a:buFont typeface="Wingdings" pitchFamily="2" charset="2"/>
              <a:buChar char="§"/>
            </a:pPr>
            <a:endParaRPr lang="en-US" sz="3200" dirty="0"/>
          </a:p>
          <a:p>
            <a:pPr marL="233363" lvl="1" indent="-233363">
              <a:buSzTx/>
              <a:buFont typeface="Wingdings" pitchFamily="2" charset="2"/>
              <a:buChar char="§"/>
            </a:pPr>
            <a:endParaRPr lang="en-US" sz="3200" dirty="0"/>
          </a:p>
        </p:txBody>
      </p:sp>
    </p:spTree>
    <p:extLst>
      <p:ext uri="{BB962C8B-B14F-4D97-AF65-F5344CB8AC3E}">
        <p14:creationId xmlns:p14="http://schemas.microsoft.com/office/powerpoint/2010/main" val="2609728699"/>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Encryption vs. Steganography</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818529157"/>
              </p:ext>
            </p:extLst>
          </p:nvPr>
        </p:nvGraphicFramePr>
        <p:xfrm>
          <a:off x="539750" y="1295400"/>
          <a:ext cx="829945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54647007"/>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The Caesar Cipher</a:t>
            </a:r>
          </a:p>
        </p:txBody>
      </p:sp>
      <p:sp>
        <p:nvSpPr>
          <p:cNvPr id="10243" name="Content Placeholder 2"/>
          <p:cNvSpPr>
            <a:spLocks noGrp="1"/>
          </p:cNvSpPr>
          <p:nvPr>
            <p:ph idx="1"/>
          </p:nvPr>
        </p:nvSpPr>
        <p:spPr>
          <a:xfrm>
            <a:off x="539750" y="1364776"/>
            <a:ext cx="8299450" cy="4356574"/>
          </a:xfrm>
        </p:spPr>
        <p:txBody>
          <a:bodyPr/>
          <a:lstStyle/>
          <a:p>
            <a:pPr marL="233363" lvl="1" indent="-233363">
              <a:buSzTx/>
              <a:buFont typeface="Wingdings" pitchFamily="2" charset="2"/>
              <a:buChar char="§"/>
            </a:pPr>
            <a:endParaRPr lang="en-US" sz="3200" dirty="0"/>
          </a:p>
          <a:p>
            <a:pPr marL="233363" lvl="1" indent="-233363">
              <a:buSzTx/>
              <a:buFont typeface="Wingdings" pitchFamily="2" charset="2"/>
              <a:buChar char="§"/>
            </a:pPr>
            <a:endParaRPr lang="en-US" sz="3200" dirty="0"/>
          </a:p>
          <a:p>
            <a:pPr marL="233363" lvl="1" indent="-233363">
              <a:buSzTx/>
              <a:buFont typeface="Wingdings" pitchFamily="2" charset="2"/>
              <a:buChar char="§"/>
            </a:pPr>
            <a:endParaRPr lang="en-US" sz="3200" dirty="0"/>
          </a:p>
        </p:txBody>
      </p:sp>
      <p:sp>
        <p:nvSpPr>
          <p:cNvPr id="4" name="Content Placeholder 2"/>
          <p:cNvSpPr txBox="1">
            <a:spLocks/>
          </p:cNvSpPr>
          <p:nvPr/>
        </p:nvSpPr>
        <p:spPr bwMode="auto">
          <a:xfrm>
            <a:off x="692150" y="1517176"/>
            <a:ext cx="8299450" cy="435657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lr>
                <a:srgbClr val="ED6E2E"/>
              </a:buClr>
              <a:buFont typeface="Wingdings" pitchFamily="2" charset="2"/>
              <a:buChar char="§"/>
              <a:defRPr sz="1800">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a:lstStyle>
          <a:p>
            <a:pPr marL="233363" lvl="1" indent="-233363">
              <a:buSzTx/>
              <a:buFont typeface="Wingdings" pitchFamily="2" charset="2"/>
              <a:buChar char="§"/>
            </a:pPr>
            <a:r>
              <a:rPr lang="en-US" sz="3200" kern="0" dirty="0"/>
              <a:t>Referred to as the substitution cipher</a:t>
            </a:r>
          </a:p>
          <a:p>
            <a:pPr marL="233363" lvl="1" indent="-233363">
              <a:buSzTx/>
              <a:buFont typeface="Wingdings" pitchFamily="2" charset="2"/>
              <a:buChar char="§"/>
            </a:pPr>
            <a:r>
              <a:rPr lang="en-US" sz="3200" kern="0" dirty="0"/>
              <a:t>A simple method of encryption and very easy to crack</a:t>
            </a:r>
          </a:p>
          <a:p>
            <a:pPr marL="233363" lvl="1" indent="-233363">
              <a:buSzTx/>
              <a:buFont typeface="Wingdings" pitchFamily="2" charset="2"/>
              <a:buChar char="§"/>
            </a:pPr>
            <a:endParaRPr lang="en-US" sz="3200" kern="0" dirty="0"/>
          </a:p>
          <a:p>
            <a:pPr marL="514350" lvl="1" indent="-514350">
              <a:buSzTx/>
              <a:buFont typeface="+mj-lt"/>
              <a:buAutoNum type="arabicPeriod"/>
            </a:pPr>
            <a:r>
              <a:rPr lang="en-US" sz="3200" kern="0" dirty="0"/>
              <a:t>Choose some number by which to shift each letter of a text</a:t>
            </a:r>
          </a:p>
          <a:p>
            <a:pPr marL="514350" lvl="1" indent="-514350">
              <a:buSzTx/>
              <a:buFont typeface="+mj-lt"/>
              <a:buAutoNum type="arabicPeriod"/>
            </a:pPr>
            <a:r>
              <a:rPr lang="en-US" sz="3200" kern="0" dirty="0"/>
              <a:t>Substitute the new alphabetic letter for the letter being encrypted</a:t>
            </a:r>
          </a:p>
          <a:p>
            <a:pPr marL="233363" lvl="1" indent="-233363">
              <a:buSzTx/>
              <a:buFont typeface="Wingdings" pitchFamily="2" charset="2"/>
              <a:buChar char="§"/>
            </a:pPr>
            <a:endParaRPr lang="en-US" sz="3200" kern="0" dirty="0"/>
          </a:p>
        </p:txBody>
      </p:sp>
    </p:spTree>
    <p:extLst>
      <p:ext uri="{BB962C8B-B14F-4D97-AF65-F5344CB8AC3E}">
        <p14:creationId xmlns:p14="http://schemas.microsoft.com/office/powerpoint/2010/main" val="2031371741"/>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Caesar Cipher Example</a:t>
            </a:r>
          </a:p>
        </p:txBody>
      </p:sp>
      <p:sp>
        <p:nvSpPr>
          <p:cNvPr id="10243" name="Content Placeholder 2"/>
          <p:cNvSpPr>
            <a:spLocks noGrp="1"/>
          </p:cNvSpPr>
          <p:nvPr>
            <p:ph idx="1"/>
          </p:nvPr>
        </p:nvSpPr>
        <p:spPr>
          <a:xfrm>
            <a:off x="539750" y="1364776"/>
            <a:ext cx="8299450" cy="4356574"/>
          </a:xfrm>
        </p:spPr>
        <p:txBody>
          <a:bodyPr/>
          <a:lstStyle/>
          <a:p>
            <a:pPr marL="233363" lvl="1" indent="-233363">
              <a:buSzTx/>
              <a:buFont typeface="Wingdings" pitchFamily="2" charset="2"/>
              <a:buChar char="§"/>
            </a:pPr>
            <a:endParaRPr lang="en-US" sz="3200" dirty="0"/>
          </a:p>
          <a:p>
            <a:pPr marL="233363" lvl="1" indent="-233363">
              <a:buSzTx/>
              <a:buFont typeface="Wingdings" pitchFamily="2" charset="2"/>
              <a:buChar char="§"/>
            </a:pPr>
            <a:endParaRPr lang="en-US" sz="3200" dirty="0"/>
          </a:p>
          <a:p>
            <a:pPr marL="233363" lvl="1" indent="-233363">
              <a:buSzTx/>
              <a:buFont typeface="Wingdings" pitchFamily="2" charset="2"/>
              <a:buChar char="§"/>
            </a:pPr>
            <a:endParaRPr lang="en-US" sz="3200" dirty="0"/>
          </a:p>
        </p:txBody>
      </p:sp>
      <p:sp>
        <p:nvSpPr>
          <p:cNvPr id="4" name="Content Placeholder 2"/>
          <p:cNvSpPr txBox="1">
            <a:spLocks/>
          </p:cNvSpPr>
          <p:nvPr/>
        </p:nvSpPr>
        <p:spPr bwMode="auto">
          <a:xfrm>
            <a:off x="692150" y="1160060"/>
            <a:ext cx="8299450" cy="471369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lr>
                <a:srgbClr val="ED6E2E"/>
              </a:buClr>
              <a:buFont typeface="Wingdings" pitchFamily="2" charset="2"/>
              <a:buChar char="§"/>
              <a:defRPr sz="1800">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a:lstStyle>
          <a:p>
            <a:pPr marL="233363" lvl="1" indent="-233363">
              <a:buSzTx/>
              <a:buFont typeface="Wingdings" pitchFamily="2" charset="2"/>
              <a:buChar char="§"/>
            </a:pPr>
            <a:r>
              <a:rPr lang="en-US" sz="2800" kern="0" dirty="0"/>
              <a:t>Text is:</a:t>
            </a:r>
          </a:p>
          <a:p>
            <a:pPr marL="688975" lvl="2" indent="-233363">
              <a:buFont typeface="Wingdings" pitchFamily="2" charset="2"/>
              <a:buChar char="§"/>
            </a:pPr>
            <a:r>
              <a:rPr lang="en-US" sz="3200" kern="0" dirty="0"/>
              <a:t>A CAT</a:t>
            </a:r>
          </a:p>
          <a:p>
            <a:pPr marL="233363" lvl="1" indent="-233363">
              <a:buSzTx/>
              <a:buFont typeface="Wingdings" pitchFamily="2" charset="2"/>
              <a:buChar char="§"/>
            </a:pPr>
            <a:r>
              <a:rPr lang="en-US" sz="2800" kern="0" dirty="0"/>
              <a:t>You choose to shift by two letters, then A replaces C, E replaces C, C replaces A, and V replaces T; encrypted message is:</a:t>
            </a:r>
          </a:p>
          <a:p>
            <a:pPr marL="688975" lvl="2" indent="-233363">
              <a:buFont typeface="Wingdings" pitchFamily="2" charset="2"/>
              <a:buChar char="§"/>
            </a:pPr>
            <a:r>
              <a:rPr lang="en-US" sz="3200" kern="0" dirty="0"/>
              <a:t>C ECV</a:t>
            </a:r>
          </a:p>
          <a:p>
            <a:pPr marL="233363" lvl="1" indent="-233363">
              <a:buSzTx/>
              <a:buFont typeface="Wingdings" pitchFamily="2" charset="2"/>
              <a:buChar char="§"/>
            </a:pPr>
            <a:r>
              <a:rPr lang="en-US" sz="2800" kern="0" dirty="0"/>
              <a:t>If shift by three letters, message is:</a:t>
            </a:r>
          </a:p>
          <a:p>
            <a:pPr marL="688975" lvl="2" indent="-233363">
              <a:buFont typeface="Wingdings" pitchFamily="2" charset="2"/>
              <a:buChar char="§"/>
            </a:pPr>
            <a:r>
              <a:rPr lang="en-US" sz="3200" kern="0" dirty="0"/>
              <a:t>D FDW</a:t>
            </a:r>
          </a:p>
        </p:txBody>
      </p:sp>
    </p:spTree>
    <p:extLst>
      <p:ext uri="{BB962C8B-B14F-4D97-AF65-F5344CB8AC3E}">
        <p14:creationId xmlns:p14="http://schemas.microsoft.com/office/powerpoint/2010/main" val="2909687513"/>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The Caesar Cipher</a:t>
            </a:r>
          </a:p>
        </p:txBody>
      </p:sp>
      <p:sp>
        <p:nvSpPr>
          <p:cNvPr id="10243" name="Content Placeholder 2"/>
          <p:cNvSpPr>
            <a:spLocks noGrp="1"/>
          </p:cNvSpPr>
          <p:nvPr>
            <p:ph idx="1"/>
          </p:nvPr>
        </p:nvSpPr>
        <p:spPr>
          <a:xfrm>
            <a:off x="539750" y="1364776"/>
            <a:ext cx="8299450" cy="4356574"/>
          </a:xfrm>
        </p:spPr>
        <p:txBody>
          <a:bodyPr/>
          <a:lstStyle/>
          <a:p>
            <a:pPr marL="233363" lvl="1" indent="-233363">
              <a:buSzTx/>
              <a:buFont typeface="Wingdings" pitchFamily="2" charset="2"/>
              <a:buChar char="§"/>
            </a:pPr>
            <a:endParaRPr lang="en-US" sz="3200" dirty="0"/>
          </a:p>
          <a:p>
            <a:pPr marL="233363" lvl="1" indent="-233363">
              <a:buSzTx/>
              <a:buFont typeface="Wingdings" pitchFamily="2" charset="2"/>
              <a:buChar char="§"/>
            </a:pPr>
            <a:endParaRPr lang="en-US" sz="3200" dirty="0"/>
          </a:p>
          <a:p>
            <a:pPr marL="233363" lvl="1" indent="-233363">
              <a:buSzTx/>
              <a:buFont typeface="Wingdings" pitchFamily="2" charset="2"/>
              <a:buChar char="§"/>
            </a:pPr>
            <a:endParaRPr lang="en-US" sz="3200" dirty="0"/>
          </a:p>
        </p:txBody>
      </p:sp>
      <p:sp>
        <p:nvSpPr>
          <p:cNvPr id="4" name="Content Placeholder 2"/>
          <p:cNvSpPr txBox="1">
            <a:spLocks/>
          </p:cNvSpPr>
          <p:nvPr/>
        </p:nvSpPr>
        <p:spPr bwMode="auto">
          <a:xfrm>
            <a:off x="692150" y="1517176"/>
            <a:ext cx="8299450" cy="435657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lr>
                <a:srgbClr val="ED6E2E"/>
              </a:buClr>
              <a:buFont typeface="Wingdings" pitchFamily="2" charset="2"/>
              <a:buChar char="§"/>
              <a:defRPr sz="1800">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a:lstStyle>
          <a:p>
            <a:pPr marL="233363" lvl="1" indent="-233363">
              <a:buSzTx/>
              <a:buFont typeface="Wingdings" pitchFamily="2" charset="2"/>
              <a:buChar char="§"/>
            </a:pPr>
            <a:r>
              <a:rPr lang="en-US" sz="3200" kern="0" dirty="0"/>
              <a:t>Introduced two key terms:</a:t>
            </a:r>
          </a:p>
          <a:p>
            <a:pPr marL="688975" lvl="2" indent="-233363">
              <a:buFont typeface="Wingdings" pitchFamily="2" charset="2"/>
              <a:buChar char="§"/>
            </a:pPr>
            <a:r>
              <a:rPr lang="en-US" sz="3000" kern="0" dirty="0"/>
              <a:t>Text you want to encrypt is referred to as </a:t>
            </a:r>
            <a:r>
              <a:rPr lang="en-US" sz="3000" i="1" kern="0" dirty="0"/>
              <a:t>plaintext</a:t>
            </a:r>
          </a:p>
          <a:p>
            <a:pPr marL="688975" lvl="2" indent="-233363">
              <a:buFont typeface="Wingdings" pitchFamily="2" charset="2"/>
              <a:buChar char="§"/>
            </a:pPr>
            <a:r>
              <a:rPr lang="en-US" sz="3000" kern="0" dirty="0"/>
              <a:t>After it has been subjected to the algorithm and key, resultant text is called </a:t>
            </a:r>
            <a:r>
              <a:rPr lang="en-US" sz="3000" i="1" kern="0" dirty="0"/>
              <a:t>ciphertext</a:t>
            </a:r>
          </a:p>
        </p:txBody>
      </p:sp>
    </p:spTree>
    <p:extLst>
      <p:ext uri="{BB962C8B-B14F-4D97-AF65-F5344CB8AC3E}">
        <p14:creationId xmlns:p14="http://schemas.microsoft.com/office/powerpoint/2010/main" val="1318655160"/>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The Atbash Cipher</a:t>
            </a:r>
          </a:p>
        </p:txBody>
      </p:sp>
      <p:sp>
        <p:nvSpPr>
          <p:cNvPr id="10243" name="Content Placeholder 2"/>
          <p:cNvSpPr>
            <a:spLocks noGrp="1"/>
          </p:cNvSpPr>
          <p:nvPr>
            <p:ph idx="1"/>
          </p:nvPr>
        </p:nvSpPr>
        <p:spPr>
          <a:xfrm>
            <a:off x="539750" y="1364776"/>
            <a:ext cx="8299450" cy="4356574"/>
          </a:xfrm>
        </p:spPr>
        <p:txBody>
          <a:bodyPr/>
          <a:lstStyle/>
          <a:p>
            <a:pPr marL="233363" lvl="1" indent="-233363">
              <a:buSzTx/>
              <a:buFont typeface="Wingdings" pitchFamily="2" charset="2"/>
              <a:buChar char="§"/>
            </a:pPr>
            <a:r>
              <a:rPr lang="en-US" sz="3200" dirty="0"/>
              <a:t>Reverses the alphabet—substituting the first letter of the alphabet for the last letter, the second letter for the second-to-last letter, and so on</a:t>
            </a:r>
          </a:p>
          <a:p>
            <a:pPr marL="233363" lvl="1" indent="-233363">
              <a:buSzTx/>
              <a:buFont typeface="Wingdings" pitchFamily="2" charset="2"/>
              <a:buChar char="§"/>
            </a:pPr>
            <a:r>
              <a:rPr lang="en-US" sz="3200" dirty="0"/>
              <a:t>Is primitive and easy to break</a:t>
            </a:r>
          </a:p>
          <a:p>
            <a:pPr marL="233363" lvl="1" indent="-233363">
              <a:buSzTx/>
              <a:buFont typeface="Wingdings" pitchFamily="2" charset="2"/>
              <a:buChar char="§"/>
            </a:pPr>
            <a:endParaRPr lang="en-US" sz="3200" dirty="0"/>
          </a:p>
        </p:txBody>
      </p:sp>
    </p:spTree>
    <p:extLst>
      <p:ext uri="{BB962C8B-B14F-4D97-AF65-F5344CB8AC3E}">
        <p14:creationId xmlns:p14="http://schemas.microsoft.com/office/powerpoint/2010/main" val="1664832090"/>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The ROT13 Cipher</a:t>
            </a:r>
          </a:p>
        </p:txBody>
      </p:sp>
      <p:sp>
        <p:nvSpPr>
          <p:cNvPr id="10243" name="Content Placeholder 2"/>
          <p:cNvSpPr>
            <a:spLocks noGrp="1"/>
          </p:cNvSpPr>
          <p:nvPr>
            <p:ph idx="1"/>
          </p:nvPr>
        </p:nvSpPr>
        <p:spPr>
          <a:xfrm>
            <a:off x="539750" y="1364776"/>
            <a:ext cx="8299450" cy="4356574"/>
          </a:xfrm>
        </p:spPr>
        <p:txBody>
          <a:bodyPr/>
          <a:lstStyle/>
          <a:p>
            <a:pPr marL="233363" lvl="1" indent="-233363">
              <a:buSzTx/>
              <a:buFont typeface="Wingdings" pitchFamily="2" charset="2"/>
              <a:buChar char="§"/>
            </a:pPr>
            <a:endParaRPr lang="en-US" sz="3200" dirty="0"/>
          </a:p>
          <a:p>
            <a:pPr marL="233363" lvl="1" indent="-233363">
              <a:buSzTx/>
              <a:buFont typeface="Wingdings" pitchFamily="2" charset="2"/>
              <a:buChar char="§"/>
            </a:pPr>
            <a:endParaRPr lang="en-US" sz="3200" dirty="0"/>
          </a:p>
          <a:p>
            <a:pPr marL="233363" lvl="1" indent="-233363">
              <a:buSzTx/>
              <a:buFont typeface="Wingdings" pitchFamily="2" charset="2"/>
              <a:buChar char="§"/>
            </a:pPr>
            <a:endParaRPr lang="en-US" sz="3200" dirty="0"/>
          </a:p>
        </p:txBody>
      </p:sp>
      <p:sp>
        <p:nvSpPr>
          <p:cNvPr id="4" name="Content Placeholder 2"/>
          <p:cNvSpPr txBox="1">
            <a:spLocks/>
          </p:cNvSpPr>
          <p:nvPr/>
        </p:nvSpPr>
        <p:spPr bwMode="auto">
          <a:xfrm>
            <a:off x="692150" y="1517176"/>
            <a:ext cx="8299450" cy="435657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lr>
                <a:srgbClr val="ED6E2E"/>
              </a:buClr>
              <a:buFont typeface="Wingdings" pitchFamily="2" charset="2"/>
              <a:buChar char="§"/>
              <a:defRPr sz="1800">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a:lstStyle>
          <a:p>
            <a:pPr marL="233363" lvl="1" indent="-233363">
              <a:buSzTx/>
              <a:buFont typeface="Wingdings" pitchFamily="2" charset="2"/>
              <a:buChar char="§"/>
            </a:pPr>
            <a:r>
              <a:rPr lang="en-US" sz="3200" kern="0" dirty="0"/>
              <a:t>A permutation of the Caesar cipher</a:t>
            </a:r>
          </a:p>
          <a:p>
            <a:pPr marL="233363" lvl="1" indent="-233363">
              <a:buSzTx/>
              <a:buFont typeface="Wingdings" pitchFamily="2" charset="2"/>
              <a:buChar char="§"/>
            </a:pPr>
            <a:r>
              <a:rPr lang="en-US" sz="3200" kern="0" dirty="0"/>
              <a:t>All characters are rotated 13 characters through the alphabet</a:t>
            </a:r>
          </a:p>
          <a:p>
            <a:pPr marL="233363" lvl="1" indent="-233363">
              <a:buSzTx/>
              <a:buFont typeface="Wingdings" pitchFamily="2" charset="2"/>
              <a:buChar char="§"/>
            </a:pPr>
            <a:r>
              <a:rPr lang="en-US" sz="3200" kern="0" dirty="0"/>
              <a:t>A CAT </a:t>
            </a:r>
            <a:r>
              <a:rPr lang="en-US" sz="3400" kern="0" dirty="0"/>
              <a:t>becomes </a:t>
            </a:r>
            <a:r>
              <a:rPr lang="en-US" sz="3200" kern="0" dirty="0"/>
              <a:t>N PNG</a:t>
            </a:r>
          </a:p>
        </p:txBody>
      </p:sp>
    </p:spTree>
    <p:extLst>
      <p:ext uri="{BB962C8B-B14F-4D97-AF65-F5344CB8AC3E}">
        <p14:creationId xmlns:p14="http://schemas.microsoft.com/office/powerpoint/2010/main" val="4273014733"/>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The Scytale Cipher</a:t>
            </a:r>
          </a:p>
        </p:txBody>
      </p:sp>
      <p:sp>
        <p:nvSpPr>
          <p:cNvPr id="10243" name="Content Placeholder 2"/>
          <p:cNvSpPr>
            <a:spLocks noGrp="1"/>
          </p:cNvSpPr>
          <p:nvPr>
            <p:ph idx="1"/>
          </p:nvPr>
        </p:nvSpPr>
        <p:spPr>
          <a:xfrm>
            <a:off x="539750" y="1364776"/>
            <a:ext cx="8299450" cy="4356574"/>
          </a:xfrm>
        </p:spPr>
        <p:txBody>
          <a:bodyPr/>
          <a:lstStyle/>
          <a:p>
            <a:pPr marL="233363" lvl="1" indent="-233363">
              <a:buSzTx/>
              <a:buFont typeface="Wingdings" pitchFamily="2" charset="2"/>
              <a:buChar char="§"/>
            </a:pPr>
            <a:r>
              <a:rPr lang="en-US" sz="3200" dirty="0"/>
              <a:t>Encrypts messages by wrapping a leather strip around a cylinder or baton, and writing across the leather</a:t>
            </a:r>
          </a:p>
          <a:p>
            <a:pPr marL="233363" lvl="1" indent="-233363">
              <a:buSzTx/>
              <a:buFont typeface="Wingdings" pitchFamily="2" charset="2"/>
              <a:buChar char="§"/>
            </a:pPr>
            <a:r>
              <a:rPr lang="en-US" sz="3200" dirty="0"/>
              <a:t>Turning cylinder produced different ciphertexts</a:t>
            </a:r>
          </a:p>
          <a:p>
            <a:pPr marL="233363" lvl="1" indent="-233363">
              <a:buSzTx/>
              <a:buFont typeface="Wingdings" pitchFamily="2" charset="2"/>
              <a:buChar char="§"/>
            </a:pPr>
            <a:r>
              <a:rPr lang="en-US" sz="3200" dirty="0"/>
              <a:t>Message decrypted by reading the message once placed over the same leather “key” wrapped around the same size cylinder</a:t>
            </a:r>
          </a:p>
          <a:p>
            <a:pPr marL="233363" lvl="1" indent="-233363">
              <a:buSzTx/>
              <a:buFont typeface="Wingdings" pitchFamily="2" charset="2"/>
              <a:buChar char="§"/>
            </a:pPr>
            <a:endParaRPr lang="en-US" sz="3200" dirty="0"/>
          </a:p>
          <a:p>
            <a:pPr marL="233363" lvl="1" indent="-233363">
              <a:buSzTx/>
              <a:buFont typeface="Wingdings" pitchFamily="2" charset="2"/>
              <a:buChar char="§"/>
            </a:pPr>
            <a:endParaRPr lang="en-US" sz="3200" dirty="0"/>
          </a:p>
          <a:p>
            <a:pPr marL="233363" lvl="1" indent="-233363">
              <a:buSzTx/>
              <a:buFont typeface="Wingdings" pitchFamily="2" charset="2"/>
              <a:buChar char="§"/>
            </a:pPr>
            <a:endParaRPr lang="en-US" sz="3200" dirty="0"/>
          </a:p>
        </p:txBody>
      </p:sp>
    </p:spTree>
    <p:extLst>
      <p:ext uri="{BB962C8B-B14F-4D97-AF65-F5344CB8AC3E}">
        <p14:creationId xmlns:p14="http://schemas.microsoft.com/office/powerpoint/2010/main" val="1804185029"/>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Playfair</a:t>
            </a:r>
          </a:p>
        </p:txBody>
      </p:sp>
      <p:sp>
        <p:nvSpPr>
          <p:cNvPr id="10243" name="Content Placeholder 2"/>
          <p:cNvSpPr>
            <a:spLocks noGrp="1"/>
          </p:cNvSpPr>
          <p:nvPr>
            <p:ph idx="1"/>
          </p:nvPr>
        </p:nvSpPr>
        <p:spPr>
          <a:xfrm>
            <a:off x="539750" y="1364776"/>
            <a:ext cx="8299450" cy="4356574"/>
          </a:xfrm>
        </p:spPr>
        <p:txBody>
          <a:bodyPr/>
          <a:lstStyle/>
          <a:p>
            <a:pPr marL="233363" lvl="1" indent="-233363">
              <a:buSzTx/>
              <a:buFont typeface="Wingdings" pitchFamily="2" charset="2"/>
              <a:buChar char="§"/>
            </a:pPr>
            <a:r>
              <a:rPr lang="en-US" sz="3200" dirty="0"/>
              <a:t>Works by encrypting pairs of letters, also called digraphs, at a time</a:t>
            </a:r>
          </a:p>
          <a:p>
            <a:pPr marL="233363" lvl="1" indent="-233363">
              <a:buSzTx/>
              <a:buFont typeface="Wingdings" pitchFamily="2" charset="2"/>
              <a:buChar char="§"/>
            </a:pPr>
            <a:r>
              <a:rPr lang="en-US" sz="3200" dirty="0"/>
              <a:t>Uses a 5 × 5 table that contains a keyword or key phrase</a:t>
            </a:r>
          </a:p>
          <a:p>
            <a:pPr marL="233363" lvl="1" indent="-233363">
              <a:buSzTx/>
              <a:buFont typeface="Wingdings" pitchFamily="2" charset="2"/>
              <a:buChar char="§"/>
            </a:pPr>
            <a:r>
              <a:rPr lang="en-US" sz="3200" dirty="0"/>
              <a:t>To use the Playfair cipher, one need only memorize that keyword and four rules</a:t>
            </a:r>
          </a:p>
          <a:p>
            <a:pPr marL="233363" lvl="1" indent="-233363">
              <a:buSzTx/>
              <a:buFont typeface="Wingdings" pitchFamily="2" charset="2"/>
              <a:buChar char="§"/>
            </a:pPr>
            <a:r>
              <a:rPr lang="en-US" sz="3200" dirty="0"/>
              <a:t>Example: “Attack at dawn” becomes "At ta ck at da wn"</a:t>
            </a:r>
          </a:p>
        </p:txBody>
      </p:sp>
    </p:spTree>
    <p:extLst>
      <p:ext uri="{BB962C8B-B14F-4D97-AF65-F5344CB8AC3E}">
        <p14:creationId xmlns:p14="http://schemas.microsoft.com/office/powerpoint/2010/main" val="900040241"/>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Playfair (Cont.)</a:t>
            </a:r>
          </a:p>
        </p:txBody>
      </p:sp>
      <p:pic>
        <p:nvPicPr>
          <p:cNvPr id="5" name="Content Placeholder 4">
            <a:extLst>
              <a:ext uri="{FF2B5EF4-FFF2-40B4-BE49-F238E27FC236}">
                <a16:creationId xmlns:a16="http://schemas.microsoft.com/office/drawing/2014/main" id="{2A1CAEFF-5A6C-4FC8-89C9-F077A66CAF6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156141" y="1524262"/>
            <a:ext cx="7066667" cy="4190476"/>
          </a:xfrm>
        </p:spPr>
      </p:pic>
    </p:spTree>
    <p:extLst>
      <p:ext uri="{BB962C8B-B14F-4D97-AF65-F5344CB8AC3E}">
        <p14:creationId xmlns:p14="http://schemas.microsoft.com/office/powerpoint/2010/main" val="605230730"/>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Playfair (Cont.)</a:t>
            </a:r>
          </a:p>
        </p:txBody>
      </p:sp>
      <p:pic>
        <p:nvPicPr>
          <p:cNvPr id="5" name="Content Placeholder 4">
            <a:extLst>
              <a:ext uri="{FF2B5EF4-FFF2-40B4-BE49-F238E27FC236}">
                <a16:creationId xmlns:a16="http://schemas.microsoft.com/office/drawing/2014/main" id="{2A1CAEFF-5A6C-4FC8-89C9-F077A66CAF6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156141" y="2059142"/>
            <a:ext cx="7066667" cy="3120715"/>
          </a:xfrm>
        </p:spPr>
      </p:pic>
    </p:spTree>
    <p:extLst>
      <p:ext uri="{BB962C8B-B14F-4D97-AF65-F5344CB8AC3E}">
        <p14:creationId xmlns:p14="http://schemas.microsoft.com/office/powerpoint/2010/main" val="3507898398"/>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Playfair (Cont.)</a:t>
            </a:r>
          </a:p>
        </p:txBody>
      </p:sp>
      <p:pic>
        <p:nvPicPr>
          <p:cNvPr id="5" name="Content Placeholder 4">
            <a:extLst>
              <a:ext uri="{FF2B5EF4-FFF2-40B4-BE49-F238E27FC236}">
                <a16:creationId xmlns:a16="http://schemas.microsoft.com/office/drawing/2014/main" id="{2A1CAEFF-5A6C-4FC8-89C9-F077A66CAF6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156141" y="2433785"/>
            <a:ext cx="7066667" cy="2371429"/>
          </a:xfrm>
        </p:spPr>
      </p:pic>
    </p:spTree>
    <p:extLst>
      <p:ext uri="{BB962C8B-B14F-4D97-AF65-F5344CB8AC3E}">
        <p14:creationId xmlns:p14="http://schemas.microsoft.com/office/powerpoint/2010/main" val="2550751553"/>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Multialphabet Substitution</a:t>
            </a:r>
          </a:p>
        </p:txBody>
      </p:sp>
      <p:sp>
        <p:nvSpPr>
          <p:cNvPr id="10243" name="Content Placeholder 2"/>
          <p:cNvSpPr>
            <a:spLocks noGrp="1"/>
          </p:cNvSpPr>
          <p:nvPr>
            <p:ph idx="1"/>
          </p:nvPr>
        </p:nvSpPr>
        <p:spPr>
          <a:xfrm>
            <a:off x="539750" y="1364776"/>
            <a:ext cx="8299450" cy="4356574"/>
          </a:xfrm>
        </p:spPr>
        <p:txBody>
          <a:bodyPr/>
          <a:lstStyle/>
          <a:p>
            <a:pPr marL="233363" lvl="1" indent="-233363">
              <a:buSzTx/>
              <a:buFont typeface="Wingdings" pitchFamily="2" charset="2"/>
              <a:buChar char="§"/>
            </a:pPr>
            <a:r>
              <a:rPr lang="en-US" sz="3200" dirty="0"/>
              <a:t>Uses multiple numbers by which letters in plaintext are shifted</a:t>
            </a:r>
          </a:p>
          <a:p>
            <a:pPr marL="233363" lvl="1" indent="-233363">
              <a:buSzTx/>
              <a:buFont typeface="Wingdings" pitchFamily="2" charset="2"/>
              <a:buChar char="§"/>
            </a:pPr>
            <a:r>
              <a:rPr lang="en-US" sz="3200" dirty="0"/>
              <a:t>Multiple substitution alphabets are created</a:t>
            </a:r>
          </a:p>
          <a:p>
            <a:pPr marL="233363" lvl="1" indent="-233363">
              <a:buSzTx/>
              <a:buFont typeface="Wingdings" pitchFamily="2" charset="2"/>
              <a:buChar char="§"/>
            </a:pPr>
            <a:r>
              <a:rPr lang="en-US" sz="3200" dirty="0"/>
              <a:t>Represents a slight improvement on the Caesar cipher but is still easily cracked</a:t>
            </a:r>
          </a:p>
          <a:p>
            <a:pPr marL="233363" lvl="1" indent="-233363">
              <a:buSzTx/>
              <a:buFont typeface="Wingdings" pitchFamily="2" charset="2"/>
              <a:buChar char="§"/>
            </a:pPr>
            <a:endParaRPr lang="en-US" sz="3200" dirty="0"/>
          </a:p>
          <a:p>
            <a:pPr marL="233363" lvl="1" indent="-233363">
              <a:buSzTx/>
              <a:buFont typeface="Wingdings" pitchFamily="2" charset="2"/>
              <a:buChar char="§"/>
            </a:pPr>
            <a:endParaRPr lang="en-US" sz="3200" dirty="0"/>
          </a:p>
          <a:p>
            <a:pPr marL="233363" lvl="1" indent="-233363">
              <a:buSzTx/>
              <a:buFont typeface="Wingdings" pitchFamily="2" charset="2"/>
              <a:buChar char="§"/>
            </a:pPr>
            <a:endParaRPr lang="en-US" sz="3200" dirty="0"/>
          </a:p>
        </p:txBody>
      </p:sp>
    </p:spTree>
    <p:extLst>
      <p:ext uri="{BB962C8B-B14F-4D97-AF65-F5344CB8AC3E}">
        <p14:creationId xmlns:p14="http://schemas.microsoft.com/office/powerpoint/2010/main" val="733923119"/>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Multialphabet Substitution Example</a:t>
            </a:r>
          </a:p>
        </p:txBody>
      </p:sp>
      <p:sp>
        <p:nvSpPr>
          <p:cNvPr id="10243" name="Content Placeholder 2"/>
          <p:cNvSpPr>
            <a:spLocks noGrp="1"/>
          </p:cNvSpPr>
          <p:nvPr>
            <p:ph idx="1"/>
          </p:nvPr>
        </p:nvSpPr>
        <p:spPr>
          <a:xfrm>
            <a:off x="539750" y="1897038"/>
            <a:ext cx="8299450" cy="3837959"/>
          </a:xfrm>
        </p:spPr>
        <p:txBody>
          <a:bodyPr/>
          <a:lstStyle/>
          <a:p>
            <a:pPr marL="233363" lvl="1" indent="-233363">
              <a:buSzTx/>
              <a:buFont typeface="Wingdings" pitchFamily="2" charset="2"/>
              <a:buChar char="§"/>
            </a:pPr>
            <a:r>
              <a:rPr lang="en-US" sz="3200" dirty="0"/>
              <a:t>If you select three substitution alphabets (+2, -2, +3)</a:t>
            </a:r>
          </a:p>
          <a:p>
            <a:pPr marL="233363" lvl="1" indent="-233363">
              <a:buSzTx/>
              <a:buFont typeface="Wingdings" pitchFamily="2" charset="2"/>
              <a:buChar char="§"/>
            </a:pPr>
            <a:r>
              <a:rPr lang="en-US" sz="3200" dirty="0"/>
              <a:t>A CAT becomes C ADV</a:t>
            </a:r>
          </a:p>
          <a:p>
            <a:pPr marL="233363" lvl="1" indent="-233363">
              <a:buSzTx/>
              <a:buFont typeface="Wingdings" pitchFamily="2" charset="2"/>
              <a:buChar char="§"/>
            </a:pPr>
            <a:endParaRPr lang="en-US" sz="3200" dirty="0"/>
          </a:p>
          <a:p>
            <a:pPr marL="233363" lvl="1" indent="-233363">
              <a:buSzTx/>
              <a:buFont typeface="Wingdings" pitchFamily="2" charset="2"/>
              <a:buChar char="§"/>
            </a:pPr>
            <a:endParaRPr lang="en-US" sz="3200" dirty="0"/>
          </a:p>
        </p:txBody>
      </p:sp>
    </p:spTree>
    <p:extLst>
      <p:ext uri="{BB962C8B-B14F-4D97-AF65-F5344CB8AC3E}">
        <p14:creationId xmlns:p14="http://schemas.microsoft.com/office/powerpoint/2010/main" val="323537715"/>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The Vigenère Cipher</a:t>
            </a:r>
          </a:p>
        </p:txBody>
      </p:sp>
      <p:pic>
        <p:nvPicPr>
          <p:cNvPr id="3" name="Content Placeholder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067762" y="1408449"/>
            <a:ext cx="5243426" cy="4487396"/>
          </a:xfrm>
        </p:spPr>
      </p:pic>
      <p:sp>
        <p:nvSpPr>
          <p:cNvPr id="4" name="TextBox 3"/>
          <p:cNvSpPr txBox="1"/>
          <p:nvPr/>
        </p:nvSpPr>
        <p:spPr>
          <a:xfrm rot="5400000">
            <a:off x="6294848" y="4967846"/>
            <a:ext cx="1625166" cy="230832"/>
          </a:xfrm>
          <a:prstGeom prst="rect">
            <a:avLst/>
          </a:prstGeom>
          <a:noFill/>
        </p:spPr>
        <p:txBody>
          <a:bodyPr wrap="square" rtlCol="0">
            <a:spAutoFit/>
          </a:bodyPr>
          <a:lstStyle/>
          <a:p>
            <a:r>
              <a:rPr lang="en-US" sz="900" dirty="0">
                <a:solidFill>
                  <a:schemeClr val="bg1">
                    <a:lumMod val="75000"/>
                  </a:schemeClr>
                </a:solidFill>
              </a:rPr>
              <a:t>© Jones &amp; Bartlett Learning</a:t>
            </a:r>
          </a:p>
        </p:txBody>
      </p:sp>
    </p:spTree>
    <p:extLst>
      <p:ext uri="{BB962C8B-B14F-4D97-AF65-F5344CB8AC3E}">
        <p14:creationId xmlns:p14="http://schemas.microsoft.com/office/powerpoint/2010/main" val="2846122972"/>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The Enigma Machine</a:t>
            </a:r>
          </a:p>
        </p:txBody>
      </p:sp>
      <p:sp>
        <p:nvSpPr>
          <p:cNvPr id="10243" name="Content Placeholder 2"/>
          <p:cNvSpPr>
            <a:spLocks noGrp="1"/>
          </p:cNvSpPr>
          <p:nvPr>
            <p:ph idx="1"/>
          </p:nvPr>
        </p:nvSpPr>
        <p:spPr>
          <a:xfrm>
            <a:off x="539750" y="1364776"/>
            <a:ext cx="8299450" cy="4356574"/>
          </a:xfrm>
        </p:spPr>
        <p:txBody>
          <a:bodyPr/>
          <a:lstStyle/>
          <a:p>
            <a:pPr marL="233363" lvl="1" indent="-233363">
              <a:buSzTx/>
              <a:buFont typeface="Wingdings" pitchFamily="2" charset="2"/>
              <a:buChar char="§"/>
            </a:pPr>
            <a:r>
              <a:rPr lang="en-US" sz="3200" dirty="0"/>
              <a:t>World War II, electromechanical rotor-based cipher system</a:t>
            </a:r>
          </a:p>
          <a:p>
            <a:pPr marL="233363" lvl="1" indent="-233363">
              <a:buSzTx/>
              <a:buFont typeface="Wingdings" pitchFamily="2" charset="2"/>
              <a:buChar char="§"/>
            </a:pPr>
            <a:r>
              <a:rPr lang="en-US" sz="3200" dirty="0"/>
              <a:t>Is a multialphabet substitution cipher using machinery to accomplish the encryption</a:t>
            </a:r>
          </a:p>
          <a:p>
            <a:pPr marL="233363" lvl="1" indent="-233363">
              <a:buSzTx/>
              <a:buFont typeface="Wingdings" pitchFamily="2" charset="2"/>
              <a:buChar char="§"/>
            </a:pPr>
            <a:r>
              <a:rPr lang="en-US" sz="3200" dirty="0"/>
              <a:t>When operator pressed a key, encrypted ciphertext for plaintext was altered each time</a:t>
            </a:r>
          </a:p>
          <a:p>
            <a:pPr marL="233363" lvl="1" indent="-233363">
              <a:buSzTx/>
              <a:buFont typeface="Wingdings" pitchFamily="2" charset="2"/>
              <a:buChar char="§"/>
            </a:pPr>
            <a:endParaRPr lang="en-US" sz="3200" dirty="0"/>
          </a:p>
          <a:p>
            <a:pPr marL="233363" lvl="1" indent="-233363">
              <a:buSzTx/>
              <a:buFont typeface="Wingdings" pitchFamily="2" charset="2"/>
              <a:buChar char="§"/>
            </a:pPr>
            <a:endParaRPr lang="en-US" sz="3200" dirty="0"/>
          </a:p>
        </p:txBody>
      </p:sp>
    </p:spTree>
    <p:extLst>
      <p:ext uri="{BB962C8B-B14F-4D97-AF65-F5344CB8AC3E}">
        <p14:creationId xmlns:p14="http://schemas.microsoft.com/office/powerpoint/2010/main" val="4294507072"/>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Modern Cryptography</a:t>
            </a:r>
          </a:p>
        </p:txBody>
      </p:sp>
      <p:sp>
        <p:nvSpPr>
          <p:cNvPr id="10243" name="Content Placeholder 2"/>
          <p:cNvSpPr>
            <a:spLocks noGrp="1"/>
          </p:cNvSpPr>
          <p:nvPr>
            <p:ph idx="1"/>
          </p:nvPr>
        </p:nvSpPr>
        <p:spPr>
          <a:xfrm>
            <a:off x="539750" y="1364776"/>
            <a:ext cx="8299450" cy="4356574"/>
          </a:xfrm>
        </p:spPr>
        <p:txBody>
          <a:bodyPr/>
          <a:lstStyle/>
          <a:p>
            <a:pPr marL="233363" lvl="1" indent="-233363">
              <a:buSzTx/>
              <a:buFont typeface="Wingdings" pitchFamily="2" charset="2"/>
              <a:buChar char="§"/>
            </a:pPr>
            <a:r>
              <a:rPr lang="en-US" sz="3200" dirty="0"/>
              <a:t>Two main types: Symmetric and asymmetric</a:t>
            </a:r>
          </a:p>
          <a:p>
            <a:pPr marL="233363" lvl="1" indent="-233363">
              <a:buSzTx/>
              <a:buFont typeface="Wingdings" pitchFamily="2" charset="2"/>
              <a:buChar char="§"/>
            </a:pPr>
            <a:r>
              <a:rPr lang="en-US" sz="3200" dirty="0"/>
              <a:t>Symmetric cryptography uses the same key to encrypt and decrypt plaintext</a:t>
            </a:r>
          </a:p>
          <a:p>
            <a:pPr marL="233363" lvl="1" indent="-233363">
              <a:buSzTx/>
              <a:buFont typeface="Wingdings" pitchFamily="2" charset="2"/>
              <a:buChar char="§"/>
            </a:pPr>
            <a:r>
              <a:rPr lang="en-US" sz="3200" dirty="0"/>
              <a:t>Asymmetric cryptography uses different keys to encrypt and decrypt plaintext</a:t>
            </a:r>
          </a:p>
        </p:txBody>
      </p:sp>
    </p:spTree>
    <p:extLst>
      <p:ext uri="{BB962C8B-B14F-4D97-AF65-F5344CB8AC3E}">
        <p14:creationId xmlns:p14="http://schemas.microsoft.com/office/powerpoint/2010/main" val="2650948144"/>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Modern Cryptography (Cont.)</a:t>
            </a:r>
          </a:p>
        </p:txBody>
      </p:sp>
      <p:sp>
        <p:nvSpPr>
          <p:cNvPr id="10243" name="Content Placeholder 2"/>
          <p:cNvSpPr>
            <a:spLocks noGrp="1"/>
          </p:cNvSpPr>
          <p:nvPr>
            <p:ph idx="1"/>
          </p:nvPr>
        </p:nvSpPr>
        <p:spPr>
          <a:xfrm>
            <a:off x="539750" y="1364776"/>
            <a:ext cx="8299450" cy="4356574"/>
          </a:xfrm>
        </p:spPr>
        <p:txBody>
          <a:bodyPr/>
          <a:lstStyle/>
          <a:p>
            <a:pPr marL="233363" lvl="1" indent="-233363">
              <a:buSzTx/>
              <a:buFont typeface="Wingdings" pitchFamily="2" charset="2"/>
              <a:buChar char="§"/>
            </a:pPr>
            <a:r>
              <a:rPr lang="en-US" sz="3200" dirty="0"/>
              <a:t>Used every day by millions of consumers on the World Wide Web to buy products and services securely</a:t>
            </a:r>
          </a:p>
          <a:p>
            <a:pPr marL="233363" lvl="1" indent="-233363">
              <a:buSzTx/>
              <a:buFont typeface="Wingdings" pitchFamily="2" charset="2"/>
              <a:buChar char="§"/>
            </a:pPr>
            <a:r>
              <a:rPr lang="en-US" sz="3200" dirty="0"/>
              <a:t>“https” at beginning of Web address or a padlock symbol indicates a secure protocol such as Transport Layer Security (TLS) is at work</a:t>
            </a:r>
          </a:p>
        </p:txBody>
      </p:sp>
    </p:spTree>
    <p:extLst>
      <p:ext uri="{BB962C8B-B14F-4D97-AF65-F5344CB8AC3E}">
        <p14:creationId xmlns:p14="http://schemas.microsoft.com/office/powerpoint/2010/main" val="4111677898"/>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Modern Cryptography (Cont.)</a:t>
            </a:r>
          </a:p>
        </p:txBody>
      </p:sp>
      <p:sp>
        <p:nvSpPr>
          <p:cNvPr id="10243" name="Content Placeholder 2"/>
          <p:cNvSpPr>
            <a:spLocks noGrp="1"/>
          </p:cNvSpPr>
          <p:nvPr>
            <p:ph idx="1"/>
          </p:nvPr>
        </p:nvSpPr>
        <p:spPr>
          <a:xfrm>
            <a:off x="539750" y="1364776"/>
            <a:ext cx="8299450" cy="4356574"/>
          </a:xfrm>
        </p:spPr>
        <p:txBody>
          <a:bodyPr/>
          <a:lstStyle/>
          <a:p>
            <a:pPr marL="233363" lvl="1" indent="-233363">
              <a:buSzTx/>
              <a:buFont typeface="Wingdings" pitchFamily="2" charset="2"/>
              <a:buChar char="§"/>
            </a:pPr>
            <a:r>
              <a:rPr lang="en-US" sz="3000" dirty="0"/>
              <a:t>Cryptography also used in:</a:t>
            </a:r>
          </a:p>
          <a:p>
            <a:pPr marL="688975" lvl="2" indent="-233363">
              <a:buFont typeface="Wingdings" pitchFamily="2" charset="2"/>
              <a:buChar char="§"/>
            </a:pPr>
            <a:r>
              <a:rPr lang="en-US" sz="2400" dirty="0"/>
              <a:t>Antivirus software</a:t>
            </a:r>
          </a:p>
          <a:p>
            <a:pPr marL="688975" lvl="2" indent="-233363">
              <a:buFont typeface="Wingdings" pitchFamily="2" charset="2"/>
              <a:buChar char="§"/>
            </a:pPr>
            <a:r>
              <a:rPr lang="en-US" sz="2400" dirty="0"/>
              <a:t>Wireless security (WPA and WPA2 encryption)</a:t>
            </a:r>
          </a:p>
          <a:p>
            <a:pPr marL="233363" lvl="1" indent="-233363">
              <a:buSzTx/>
              <a:buFont typeface="Wingdings" pitchFamily="2" charset="2"/>
              <a:buChar char="§"/>
            </a:pPr>
            <a:r>
              <a:rPr lang="en-US" sz="3000" dirty="0"/>
              <a:t>Hard disk encryption using Microsoft Encrypting File System (EFS) is a form of cryptography</a:t>
            </a:r>
          </a:p>
          <a:p>
            <a:pPr marL="233363" lvl="1" indent="-233363">
              <a:buSzTx/>
              <a:buFont typeface="Wingdings" pitchFamily="2" charset="2"/>
              <a:buChar char="§"/>
            </a:pPr>
            <a:r>
              <a:rPr lang="en-US" sz="3000" dirty="0"/>
              <a:t>Did you know your mobile phone transmissions are encrypted, as are your ATM and credit cards?</a:t>
            </a:r>
          </a:p>
          <a:p>
            <a:pPr marL="233363" lvl="1" indent="-233363">
              <a:buSzTx/>
              <a:buFont typeface="Wingdings" pitchFamily="2" charset="2"/>
              <a:buChar char="§"/>
            </a:pPr>
            <a:endParaRPr lang="en-US" sz="3200" dirty="0"/>
          </a:p>
        </p:txBody>
      </p:sp>
    </p:spTree>
    <p:extLst>
      <p:ext uri="{BB962C8B-B14F-4D97-AF65-F5344CB8AC3E}">
        <p14:creationId xmlns:p14="http://schemas.microsoft.com/office/powerpoint/2010/main" val="1916131380"/>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Symmetric Cryptography</a:t>
            </a:r>
          </a:p>
        </p:txBody>
      </p:sp>
      <p:sp>
        <p:nvSpPr>
          <p:cNvPr id="4" name="Content Placeholder 2"/>
          <p:cNvSpPr txBox="1">
            <a:spLocks/>
          </p:cNvSpPr>
          <p:nvPr/>
        </p:nvSpPr>
        <p:spPr bwMode="auto">
          <a:xfrm>
            <a:off x="539750" y="1473958"/>
            <a:ext cx="7497763" cy="438074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lr>
                <a:srgbClr val="ED6E2E"/>
              </a:buClr>
              <a:buFont typeface="Wingdings" pitchFamily="2" charset="2"/>
              <a:buChar char="§"/>
              <a:defRPr sz="1800">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a:lstStyle>
          <a:p>
            <a:r>
              <a:rPr lang="en-US" sz="3200" kern="0" dirty="0"/>
              <a:t>Uses the same key to encrypt and decrypt plaintext</a:t>
            </a:r>
          </a:p>
          <a:p>
            <a:r>
              <a:rPr lang="en-US" sz="3200" kern="0" dirty="0"/>
              <a:t>Can use two different encryption keys, one from sender to receiver and one from receiver to sender</a:t>
            </a:r>
          </a:p>
          <a:p>
            <a:pPr lvl="1"/>
            <a:r>
              <a:rPr lang="en-US" sz="2600" kern="0" dirty="0"/>
              <a:t>Same key is still used for encryption and decryption</a:t>
            </a:r>
          </a:p>
          <a:p>
            <a:pPr lvl="1"/>
            <a:r>
              <a:rPr lang="en-US" sz="2600" kern="0" dirty="0"/>
              <a:t>Having different keys in both directions provides additional security if keys are learned or disclosed</a:t>
            </a:r>
          </a:p>
          <a:p>
            <a:endParaRPr lang="en-US" sz="3200" kern="0" dirty="0"/>
          </a:p>
          <a:p>
            <a:endParaRPr lang="en-US" sz="3200" kern="0" dirty="0"/>
          </a:p>
        </p:txBody>
      </p:sp>
    </p:spTree>
    <p:extLst>
      <p:ext uri="{BB962C8B-B14F-4D97-AF65-F5344CB8AC3E}">
        <p14:creationId xmlns:p14="http://schemas.microsoft.com/office/powerpoint/2010/main" val="1431192264"/>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Substitution and Transposition</a:t>
            </a:r>
          </a:p>
        </p:txBody>
      </p:sp>
      <p:sp>
        <p:nvSpPr>
          <p:cNvPr id="4" name="Content Placeholder 2"/>
          <p:cNvSpPr txBox="1">
            <a:spLocks/>
          </p:cNvSpPr>
          <p:nvPr/>
        </p:nvSpPr>
        <p:spPr bwMode="auto">
          <a:xfrm>
            <a:off x="539750" y="1473958"/>
            <a:ext cx="7497763" cy="438074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lr>
                <a:srgbClr val="ED6E2E"/>
              </a:buClr>
              <a:buFont typeface="Wingdings" pitchFamily="2" charset="2"/>
              <a:buChar char="§"/>
              <a:defRPr sz="1800">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a:lstStyle>
          <a:p>
            <a:r>
              <a:rPr lang="en-US" sz="3200" kern="0" dirty="0"/>
              <a:t>Swapping of blocks of ciphertext</a:t>
            </a:r>
          </a:p>
          <a:p>
            <a:r>
              <a:rPr lang="en-US" sz="3200" kern="0" dirty="0"/>
              <a:t>All modern block-cipher algorithms use substitution and transposition</a:t>
            </a:r>
          </a:p>
          <a:p>
            <a:r>
              <a:rPr lang="en-US" sz="3200" kern="0" dirty="0"/>
              <a:t>Combination of substitution and transposition increases security of resultant ciphertext by making cryptanalysis more complex</a:t>
            </a:r>
          </a:p>
          <a:p>
            <a:endParaRPr lang="en-US" sz="3200" kern="0" dirty="0"/>
          </a:p>
        </p:txBody>
      </p:sp>
    </p:spTree>
    <p:extLst>
      <p:ext uri="{BB962C8B-B14F-4D97-AF65-F5344CB8AC3E}">
        <p14:creationId xmlns:p14="http://schemas.microsoft.com/office/powerpoint/2010/main" val="4059276252"/>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Block Ciphers and Stream Ciphers</a:t>
            </a:r>
          </a:p>
        </p:txBody>
      </p:sp>
      <p:graphicFrame>
        <p:nvGraphicFramePr>
          <p:cNvPr id="2" name="Diagram 1"/>
          <p:cNvGraphicFramePr/>
          <p:nvPr>
            <p:extLst>
              <p:ext uri="{D42A27DB-BD31-4B8C-83A1-F6EECF244321}">
                <p14:modId xmlns:p14="http://schemas.microsoft.com/office/powerpoint/2010/main" val="3007723426"/>
              </p:ext>
            </p:extLst>
          </p:nvPr>
        </p:nvGraphicFramePr>
        <p:xfrm>
          <a:off x="664190" y="2224584"/>
          <a:ext cx="8015785" cy="333194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4019851"/>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The Feistel Function</a:t>
            </a:r>
          </a:p>
        </p:txBody>
      </p:sp>
      <p:pic>
        <p:nvPicPr>
          <p:cNvPr id="2" name="Content Placeholder 1"/>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444745" y="1473954"/>
            <a:ext cx="6584299" cy="4264220"/>
          </a:xfrm>
        </p:spPr>
      </p:pic>
    </p:spTree>
    <p:extLst>
      <p:ext uri="{BB962C8B-B14F-4D97-AF65-F5344CB8AC3E}">
        <p14:creationId xmlns:p14="http://schemas.microsoft.com/office/powerpoint/2010/main" val="3829986027"/>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Data Encryption Standard (DES)</a:t>
            </a:r>
          </a:p>
        </p:txBody>
      </p:sp>
      <p:sp>
        <p:nvSpPr>
          <p:cNvPr id="4" name="Content Placeholder 2"/>
          <p:cNvSpPr txBox="1">
            <a:spLocks/>
          </p:cNvSpPr>
          <p:nvPr/>
        </p:nvSpPr>
        <p:spPr bwMode="auto">
          <a:xfrm>
            <a:off x="539750" y="1473958"/>
            <a:ext cx="7497763" cy="438074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lr>
                <a:srgbClr val="ED6E2E"/>
              </a:buClr>
              <a:buFont typeface="Wingdings" pitchFamily="2" charset="2"/>
              <a:buChar char="§"/>
              <a:defRPr sz="1800">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a:lstStyle>
          <a:p>
            <a:pPr marL="514350" indent="-514350">
              <a:buFont typeface="+mj-lt"/>
              <a:buAutoNum type="arabicPeriod"/>
            </a:pPr>
            <a:r>
              <a:rPr lang="en-US" sz="3200" kern="0" dirty="0"/>
              <a:t>Data is divided into 64-bit blocks.</a:t>
            </a:r>
          </a:p>
          <a:p>
            <a:pPr marL="514350" indent="-514350">
              <a:buFont typeface="+mj-lt"/>
              <a:buAutoNum type="arabicPeriod"/>
            </a:pPr>
            <a:r>
              <a:rPr lang="en-US" sz="3200" kern="0" dirty="0"/>
              <a:t>Data is manipulated by 16 separate steps of encryption involving substitutions, bit-shifting, and logical operations using a 56-bit key.</a:t>
            </a:r>
          </a:p>
          <a:p>
            <a:pPr marL="514350" indent="-514350">
              <a:buFont typeface="+mj-lt"/>
              <a:buAutoNum type="arabicPeriod"/>
            </a:pPr>
            <a:r>
              <a:rPr lang="en-US" sz="3200" kern="0" dirty="0"/>
              <a:t>Data is then further scrambled using a swapping algorithm.</a:t>
            </a:r>
          </a:p>
          <a:p>
            <a:pPr marL="514350" indent="-514350">
              <a:buFont typeface="+mj-lt"/>
              <a:buAutoNum type="arabicPeriod"/>
            </a:pPr>
            <a:r>
              <a:rPr lang="en-US" sz="3200" kern="0" dirty="0"/>
              <a:t>Data is transposed one last time.</a:t>
            </a:r>
          </a:p>
          <a:p>
            <a:endParaRPr lang="en-US" sz="3200" kern="0" dirty="0"/>
          </a:p>
        </p:txBody>
      </p:sp>
    </p:spTree>
    <p:extLst>
      <p:ext uri="{BB962C8B-B14F-4D97-AF65-F5344CB8AC3E}">
        <p14:creationId xmlns:p14="http://schemas.microsoft.com/office/powerpoint/2010/main" val="2894064375"/>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What Happened to 2DES?</a:t>
            </a:r>
          </a:p>
        </p:txBody>
      </p:sp>
      <p:sp>
        <p:nvSpPr>
          <p:cNvPr id="4" name="Content Placeholder 2"/>
          <p:cNvSpPr txBox="1">
            <a:spLocks/>
          </p:cNvSpPr>
          <p:nvPr/>
        </p:nvSpPr>
        <p:spPr bwMode="auto">
          <a:xfrm>
            <a:off x="539750" y="1473958"/>
            <a:ext cx="7497763" cy="438074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lr>
                <a:srgbClr val="ED6E2E"/>
              </a:buClr>
              <a:buFont typeface="Wingdings" pitchFamily="2" charset="2"/>
              <a:buChar char="§"/>
              <a:defRPr sz="1800">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a:lstStyle>
          <a:p>
            <a:r>
              <a:rPr lang="en-US" sz="3200" kern="0" dirty="0"/>
              <a:t>2DES basically does DES two times</a:t>
            </a:r>
          </a:p>
          <a:p>
            <a:r>
              <a:rPr lang="en-US" sz="3200" kern="0" dirty="0"/>
              <a:t>Was not much more secure than DES</a:t>
            </a:r>
          </a:p>
          <a:p>
            <a:r>
              <a:rPr lang="en-US" sz="3200" kern="0" dirty="0"/>
              <a:t>Took more time and computer resources to implement</a:t>
            </a:r>
          </a:p>
          <a:p>
            <a:r>
              <a:rPr lang="en-US" sz="3200" kern="0" dirty="0"/>
              <a:t>Not widely used</a:t>
            </a:r>
          </a:p>
        </p:txBody>
      </p:sp>
    </p:spTree>
    <p:extLst>
      <p:ext uri="{BB962C8B-B14F-4D97-AF65-F5344CB8AC3E}">
        <p14:creationId xmlns:p14="http://schemas.microsoft.com/office/powerpoint/2010/main" val="2898132026"/>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Triple DES (3DES)</a:t>
            </a:r>
          </a:p>
        </p:txBody>
      </p:sp>
      <p:sp>
        <p:nvSpPr>
          <p:cNvPr id="4" name="Content Placeholder 2"/>
          <p:cNvSpPr txBox="1">
            <a:spLocks/>
          </p:cNvSpPr>
          <p:nvPr/>
        </p:nvSpPr>
        <p:spPr bwMode="auto">
          <a:xfrm>
            <a:off x="539750" y="1473958"/>
            <a:ext cx="7497763" cy="438074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lr>
                <a:srgbClr val="ED6E2E"/>
              </a:buClr>
              <a:buFont typeface="Wingdings" pitchFamily="2" charset="2"/>
              <a:buChar char="§"/>
              <a:defRPr sz="1800">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a:lstStyle>
          <a:p>
            <a:r>
              <a:rPr lang="en-US" sz="3200" kern="0" dirty="0"/>
              <a:t>Was created as an interim solution to DES</a:t>
            </a:r>
          </a:p>
          <a:p>
            <a:r>
              <a:rPr lang="en-US" sz="3200" kern="0" dirty="0"/>
              <a:t>Does DES three times, with three different keys</a:t>
            </a:r>
          </a:p>
        </p:txBody>
      </p:sp>
    </p:spTree>
    <p:extLst>
      <p:ext uri="{BB962C8B-B14F-4D97-AF65-F5344CB8AC3E}">
        <p14:creationId xmlns:p14="http://schemas.microsoft.com/office/powerpoint/2010/main" val="1674434766"/>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Why 4DES Was Never Implemented</a:t>
            </a:r>
          </a:p>
        </p:txBody>
      </p:sp>
      <p:sp>
        <p:nvSpPr>
          <p:cNvPr id="4" name="Content Placeholder 2"/>
          <p:cNvSpPr txBox="1">
            <a:spLocks/>
          </p:cNvSpPr>
          <p:nvPr/>
        </p:nvSpPr>
        <p:spPr bwMode="auto">
          <a:xfrm>
            <a:off x="539750" y="1856096"/>
            <a:ext cx="7497763" cy="399860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lr>
                <a:srgbClr val="ED6E2E"/>
              </a:buClr>
              <a:buFont typeface="Wingdings" pitchFamily="2" charset="2"/>
              <a:buChar char="§"/>
              <a:defRPr sz="1800">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a:lstStyle>
          <a:p>
            <a:r>
              <a:rPr lang="en-US" sz="3200" kern="0" dirty="0"/>
              <a:t>Early simulations indicated it was too scrambled</a:t>
            </a:r>
          </a:p>
          <a:p>
            <a:r>
              <a:rPr lang="en-US" sz="3200" kern="0" dirty="0"/>
              <a:t>Blocks of  original plaintext appeared in the final ciphertext</a:t>
            </a:r>
          </a:p>
          <a:p>
            <a:r>
              <a:rPr lang="en-US" sz="3200" kern="0" dirty="0"/>
              <a:t>One of the driving factors behind searching for a new algorithm not in the DES line</a:t>
            </a:r>
          </a:p>
        </p:txBody>
      </p:sp>
    </p:spTree>
    <p:extLst>
      <p:ext uri="{BB962C8B-B14F-4D97-AF65-F5344CB8AC3E}">
        <p14:creationId xmlns:p14="http://schemas.microsoft.com/office/powerpoint/2010/main" val="509271904"/>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Advanced Encryption Standard (AES)</a:t>
            </a:r>
          </a:p>
        </p:txBody>
      </p:sp>
      <p:sp>
        <p:nvSpPr>
          <p:cNvPr id="4" name="Content Placeholder 2"/>
          <p:cNvSpPr txBox="1">
            <a:spLocks/>
          </p:cNvSpPr>
          <p:nvPr/>
        </p:nvSpPr>
        <p:spPr bwMode="auto">
          <a:xfrm>
            <a:off x="539750" y="1910686"/>
            <a:ext cx="7497763" cy="39440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lr>
                <a:srgbClr val="ED6E2E"/>
              </a:buClr>
              <a:buFont typeface="Wingdings" pitchFamily="2" charset="2"/>
              <a:buChar char="§"/>
              <a:defRPr sz="1800">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a:lstStyle>
          <a:p>
            <a:r>
              <a:rPr lang="en-US" sz="3200" kern="0" dirty="0"/>
              <a:t>Also known as the Rijndael block cipher</a:t>
            </a:r>
          </a:p>
          <a:p>
            <a:r>
              <a:rPr lang="en-US" sz="3200" kern="0" dirty="0"/>
              <a:t>Can have three different key sizes:</a:t>
            </a:r>
          </a:p>
          <a:p>
            <a:pPr lvl="1"/>
            <a:r>
              <a:rPr lang="en-US" sz="3000" kern="0" dirty="0"/>
              <a:t>128, 192, or 256 bits</a:t>
            </a:r>
          </a:p>
          <a:p>
            <a:r>
              <a:rPr lang="en-US" sz="3200" kern="0" dirty="0"/>
              <a:t>Referred to as AES 128, AES 192, and AES 256</a:t>
            </a:r>
          </a:p>
        </p:txBody>
      </p:sp>
    </p:spTree>
    <p:extLst>
      <p:ext uri="{BB962C8B-B14F-4D97-AF65-F5344CB8AC3E}">
        <p14:creationId xmlns:p14="http://schemas.microsoft.com/office/powerpoint/2010/main" val="1444929582"/>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AES Steps</a:t>
            </a:r>
          </a:p>
        </p:txBody>
      </p:sp>
      <p:graphicFrame>
        <p:nvGraphicFramePr>
          <p:cNvPr id="3" name="Diagram 2"/>
          <p:cNvGraphicFramePr/>
          <p:nvPr>
            <p:extLst>
              <p:ext uri="{D42A27DB-BD31-4B8C-83A1-F6EECF244321}">
                <p14:modId xmlns:p14="http://schemas.microsoft.com/office/powerpoint/2010/main" val="981644798"/>
              </p:ext>
            </p:extLst>
          </p:nvPr>
        </p:nvGraphicFramePr>
        <p:xfrm>
          <a:off x="539750" y="1119116"/>
          <a:ext cx="8058340" cy="48040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03875731"/>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Cryptographic Hashes</a:t>
            </a:r>
          </a:p>
        </p:txBody>
      </p:sp>
      <p:sp>
        <p:nvSpPr>
          <p:cNvPr id="4" name="Content Placeholder 2"/>
          <p:cNvSpPr txBox="1">
            <a:spLocks/>
          </p:cNvSpPr>
          <p:nvPr/>
        </p:nvSpPr>
        <p:spPr bwMode="auto">
          <a:xfrm>
            <a:off x="539750" y="1348354"/>
            <a:ext cx="7497763" cy="450634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lr>
                <a:srgbClr val="ED6E2E"/>
              </a:buClr>
              <a:buFont typeface="Wingdings" pitchFamily="2" charset="2"/>
              <a:buChar char="§"/>
              <a:defRPr sz="1800">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a:lstStyle>
          <a:p>
            <a:r>
              <a:rPr lang="en-US" sz="3200" kern="0" dirty="0"/>
              <a:t>Hashing is a type of cryptographic algorithm with some specific characteristics</a:t>
            </a:r>
          </a:p>
          <a:p>
            <a:pPr lvl="1"/>
            <a:r>
              <a:rPr lang="en-US" sz="3000" kern="0" dirty="0"/>
              <a:t>It is one-way, not reversible</a:t>
            </a:r>
          </a:p>
          <a:p>
            <a:pPr lvl="1"/>
            <a:r>
              <a:rPr lang="en-US" sz="3000" kern="0" dirty="0"/>
              <a:t>It is a fixed-length output no matter what input is given</a:t>
            </a:r>
          </a:p>
          <a:p>
            <a:pPr lvl="1"/>
            <a:r>
              <a:rPr lang="en-US" sz="3000" kern="0" dirty="0"/>
              <a:t>The algorithm must be collision resistant</a:t>
            </a:r>
          </a:p>
        </p:txBody>
      </p:sp>
    </p:spTree>
    <p:extLst>
      <p:ext uri="{BB962C8B-B14F-4D97-AF65-F5344CB8AC3E}">
        <p14:creationId xmlns:p14="http://schemas.microsoft.com/office/powerpoint/2010/main" val="739306049"/>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Asymmetric Cryptography</a:t>
            </a:r>
          </a:p>
        </p:txBody>
      </p:sp>
      <p:sp>
        <p:nvSpPr>
          <p:cNvPr id="4" name="Content Placeholder 2"/>
          <p:cNvSpPr txBox="1">
            <a:spLocks/>
          </p:cNvSpPr>
          <p:nvPr/>
        </p:nvSpPr>
        <p:spPr bwMode="auto">
          <a:xfrm>
            <a:off x="539750" y="1419368"/>
            <a:ext cx="7497763" cy="443533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lr>
                <a:srgbClr val="ED6E2E"/>
              </a:buClr>
              <a:buFont typeface="Wingdings" pitchFamily="2" charset="2"/>
              <a:buChar char="§"/>
              <a:defRPr sz="1800">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a:lstStyle>
          <a:p>
            <a:r>
              <a:rPr lang="en-US" sz="3000" kern="0" dirty="0"/>
              <a:t>Cryptography wherein two keys are used:</a:t>
            </a:r>
          </a:p>
          <a:p>
            <a:pPr lvl="1"/>
            <a:r>
              <a:rPr lang="en-US" sz="2800" kern="0" dirty="0"/>
              <a:t>One to encrypt the message</a:t>
            </a:r>
          </a:p>
          <a:p>
            <a:pPr lvl="1"/>
            <a:r>
              <a:rPr lang="en-US" sz="2800" kern="0" dirty="0"/>
              <a:t>Another to decrypt it</a:t>
            </a:r>
          </a:p>
          <a:p>
            <a:endParaRPr lang="en-US" sz="3000" kern="0" dirty="0"/>
          </a:p>
        </p:txBody>
      </p:sp>
    </p:spTree>
    <p:extLst>
      <p:ext uri="{BB962C8B-B14F-4D97-AF65-F5344CB8AC3E}">
        <p14:creationId xmlns:p14="http://schemas.microsoft.com/office/powerpoint/2010/main" val="3350985323"/>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RSA</a:t>
            </a:r>
          </a:p>
        </p:txBody>
      </p:sp>
      <p:sp>
        <p:nvSpPr>
          <p:cNvPr id="4" name="Content Placeholder 2"/>
          <p:cNvSpPr txBox="1">
            <a:spLocks/>
          </p:cNvSpPr>
          <p:nvPr/>
        </p:nvSpPr>
        <p:spPr bwMode="auto">
          <a:xfrm>
            <a:off x="539750" y="1419368"/>
            <a:ext cx="7497763" cy="443533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lr>
                <a:srgbClr val="ED6E2E"/>
              </a:buClr>
              <a:buFont typeface="Wingdings" pitchFamily="2" charset="2"/>
              <a:buChar char="§"/>
              <a:defRPr sz="1800">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a:lstStyle>
          <a:p>
            <a:r>
              <a:rPr lang="en-US" sz="3000" kern="0" dirty="0"/>
              <a:t>Described in 1977 by Ron Rivest, Adi Shamir, and Leonard Adleman at MIT</a:t>
            </a:r>
          </a:p>
          <a:p>
            <a:r>
              <a:rPr lang="en-US" sz="3000" kern="0" dirty="0"/>
              <a:t>Perhaps the most widely used public key cryptography algorithm today</a:t>
            </a:r>
          </a:p>
          <a:p>
            <a:r>
              <a:rPr lang="en-US" sz="3000" kern="0" dirty="0"/>
              <a:t>Is based on relationships of prime numbers</a:t>
            </a:r>
          </a:p>
          <a:p>
            <a:r>
              <a:rPr lang="en-US" sz="3000" kern="0" dirty="0"/>
              <a:t>Security of RSA derives from fact that it is difficult to factor a large integer composed of two or more large prime factors</a:t>
            </a:r>
          </a:p>
        </p:txBody>
      </p:sp>
    </p:spTree>
    <p:extLst>
      <p:ext uri="{BB962C8B-B14F-4D97-AF65-F5344CB8AC3E}">
        <p14:creationId xmlns:p14="http://schemas.microsoft.com/office/powerpoint/2010/main" val="2364154525"/>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Diffie-Hellmen</a:t>
            </a:r>
          </a:p>
        </p:txBody>
      </p:sp>
      <p:sp>
        <p:nvSpPr>
          <p:cNvPr id="4" name="Content Placeholder 2"/>
          <p:cNvSpPr txBox="1">
            <a:spLocks/>
          </p:cNvSpPr>
          <p:nvPr/>
        </p:nvSpPr>
        <p:spPr bwMode="auto">
          <a:xfrm>
            <a:off x="539750" y="1405720"/>
            <a:ext cx="7497763" cy="444898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lr>
                <a:srgbClr val="ED6E2E"/>
              </a:buClr>
              <a:buFont typeface="Wingdings" pitchFamily="2" charset="2"/>
              <a:buChar char="§"/>
              <a:defRPr sz="1800">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a:lstStyle>
          <a:p>
            <a:r>
              <a:rPr lang="en-US" sz="2800" kern="0" dirty="0"/>
              <a:t>A cryptographic protocol that allows two parties to establish a shared key over an insecure channel</a:t>
            </a:r>
          </a:p>
          <a:p>
            <a:r>
              <a:rPr lang="en-US" sz="2800" kern="0" dirty="0"/>
              <a:t>Often used to allow parties to exchange a symmetric key through some insecure medium, such as the Internet</a:t>
            </a:r>
          </a:p>
          <a:p>
            <a:r>
              <a:rPr lang="en-US" sz="2800" kern="0" dirty="0"/>
              <a:t>Enabled all secure communications between parties that did not have a pre-established relationship, such as e-commerce</a:t>
            </a:r>
          </a:p>
          <a:p>
            <a:endParaRPr lang="en-US" sz="3000" kern="0" dirty="0"/>
          </a:p>
        </p:txBody>
      </p:sp>
    </p:spTree>
    <p:extLst>
      <p:ext uri="{BB962C8B-B14F-4D97-AF65-F5344CB8AC3E}">
        <p14:creationId xmlns:p14="http://schemas.microsoft.com/office/powerpoint/2010/main" val="1564574491"/>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Diffie-Hellmen (Cont.)</a:t>
            </a:r>
          </a:p>
        </p:txBody>
      </p:sp>
      <p:sp>
        <p:nvSpPr>
          <p:cNvPr id="4" name="Content Placeholder 2"/>
          <p:cNvSpPr txBox="1">
            <a:spLocks/>
          </p:cNvSpPr>
          <p:nvPr/>
        </p:nvSpPr>
        <p:spPr bwMode="auto">
          <a:xfrm>
            <a:off x="539750" y="1405720"/>
            <a:ext cx="7497763" cy="444898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lr>
                <a:srgbClr val="ED6E2E"/>
              </a:buClr>
              <a:buFont typeface="Wingdings" pitchFamily="2" charset="2"/>
              <a:buChar char="§"/>
              <a:defRPr sz="1800">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a:lstStyle>
          <a:p>
            <a:r>
              <a:rPr lang="en-US" sz="2800" dirty="0"/>
              <a:t>Groundbreaking research provided the foundation for secure transactions across the Internet</a:t>
            </a:r>
          </a:p>
          <a:p>
            <a:r>
              <a:rPr lang="en-US" sz="2800" dirty="0"/>
              <a:t>E-commerce sites like Amazon.com and Staples.com can provide secure electronic communications, thanks in great part to Diffie and Hellman</a:t>
            </a:r>
          </a:p>
          <a:p>
            <a:endParaRPr lang="en-US" sz="3000" kern="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9117" y="4861148"/>
            <a:ext cx="6901918" cy="485850"/>
          </a:xfrm>
          <a:prstGeom prst="rect">
            <a:avLst/>
          </a:prstGeom>
        </p:spPr>
      </p:pic>
    </p:spTree>
    <p:extLst>
      <p:ext uri="{BB962C8B-B14F-4D97-AF65-F5344CB8AC3E}">
        <p14:creationId xmlns:p14="http://schemas.microsoft.com/office/powerpoint/2010/main" val="953456589"/>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Breaking Encryption</a:t>
            </a:r>
          </a:p>
        </p:txBody>
      </p:sp>
      <p:sp>
        <p:nvSpPr>
          <p:cNvPr id="10243" name="Content Placeholder 2"/>
          <p:cNvSpPr>
            <a:spLocks noGrp="1"/>
          </p:cNvSpPr>
          <p:nvPr>
            <p:ph idx="1"/>
          </p:nvPr>
        </p:nvSpPr>
        <p:spPr>
          <a:xfrm>
            <a:off x="539750" y="1364776"/>
            <a:ext cx="8299450" cy="4356574"/>
          </a:xfrm>
        </p:spPr>
        <p:txBody>
          <a:bodyPr/>
          <a:lstStyle/>
          <a:p>
            <a:pPr marL="233363" lvl="1" indent="-233363">
              <a:buSzTx/>
              <a:buFont typeface="Wingdings" pitchFamily="2" charset="2"/>
              <a:buChar char="§"/>
            </a:pPr>
            <a:r>
              <a:rPr lang="en-US" sz="3200" dirty="0"/>
              <a:t>Cryptanalysis is using techniques other than brute force to attempt to uncover a key</a:t>
            </a:r>
          </a:p>
          <a:p>
            <a:pPr marL="688975" lvl="2" indent="-233363">
              <a:buFont typeface="Wingdings" pitchFamily="2" charset="2"/>
              <a:buChar char="§"/>
            </a:pPr>
            <a:r>
              <a:rPr lang="en-US" sz="3000" dirty="0"/>
              <a:t>Also referred to as academic or knowledge-based code breaking</a:t>
            </a:r>
          </a:p>
          <a:p>
            <a:pPr marL="233363" lvl="1" indent="-233363">
              <a:buSzTx/>
              <a:buFont typeface="Wingdings" pitchFamily="2" charset="2"/>
              <a:buChar char="§"/>
            </a:pPr>
            <a:r>
              <a:rPr lang="en-US" sz="3200" dirty="0"/>
              <a:t>Cryptographic techniques may be used to test the efficacy of a cryptographic algorithm</a:t>
            </a:r>
          </a:p>
          <a:p>
            <a:pPr marL="688975" lvl="2" indent="-233363">
              <a:buFont typeface="Wingdings" pitchFamily="2" charset="2"/>
              <a:buChar char="§"/>
            </a:pPr>
            <a:r>
              <a:rPr lang="en-US" sz="3000" dirty="0"/>
              <a:t>Such as to test hash algorithms for collisions</a:t>
            </a:r>
          </a:p>
        </p:txBody>
      </p:sp>
    </p:spTree>
    <p:extLst>
      <p:ext uri="{BB962C8B-B14F-4D97-AF65-F5344CB8AC3E}">
        <p14:creationId xmlns:p14="http://schemas.microsoft.com/office/powerpoint/2010/main" val="749358700"/>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Frequency Analysis</a:t>
            </a:r>
          </a:p>
        </p:txBody>
      </p:sp>
      <p:sp>
        <p:nvSpPr>
          <p:cNvPr id="10243" name="Content Placeholder 2"/>
          <p:cNvSpPr>
            <a:spLocks noGrp="1"/>
          </p:cNvSpPr>
          <p:nvPr>
            <p:ph idx="1"/>
          </p:nvPr>
        </p:nvSpPr>
        <p:spPr>
          <a:xfrm>
            <a:off x="539750" y="1364776"/>
            <a:ext cx="8299450" cy="4356574"/>
          </a:xfrm>
        </p:spPr>
        <p:txBody>
          <a:bodyPr/>
          <a:lstStyle/>
          <a:p>
            <a:pPr marL="233363" lvl="1" indent="-233363">
              <a:buSzTx/>
              <a:buFont typeface="Wingdings" pitchFamily="2" charset="2"/>
              <a:buChar char="§"/>
            </a:pPr>
            <a:r>
              <a:rPr lang="en-US" sz="3200" dirty="0"/>
              <a:t>In natural languages, certain letters of alphabet appear more frequently than others</a:t>
            </a:r>
          </a:p>
          <a:p>
            <a:pPr marL="233363" lvl="1" indent="-233363">
              <a:buSzTx/>
              <a:buFont typeface="Wingdings" pitchFamily="2" charset="2"/>
              <a:buChar char="§"/>
            </a:pPr>
            <a:r>
              <a:rPr lang="en-US" sz="3200" dirty="0"/>
              <a:t>By examining frequencies, can derive some information about the key used</a:t>
            </a:r>
          </a:p>
          <a:p>
            <a:pPr marL="233363" lvl="1" indent="-233363">
              <a:buSzTx/>
              <a:buFont typeface="Wingdings" pitchFamily="2" charset="2"/>
              <a:buChar char="§"/>
            </a:pPr>
            <a:r>
              <a:rPr lang="en-US" sz="3200" dirty="0"/>
              <a:t>Method effective against classic</a:t>
            </a:r>
            <a:br>
              <a:rPr lang="en-US" sz="3200" dirty="0"/>
            </a:br>
            <a:r>
              <a:rPr lang="en-US" sz="3200" dirty="0"/>
              <a:t>ciphers, but not modern</a:t>
            </a:r>
            <a:br>
              <a:rPr lang="en-US" sz="3200" dirty="0"/>
            </a:br>
            <a:r>
              <a:rPr lang="en-US" sz="3200" dirty="0"/>
              <a:t>methods of cryptography</a:t>
            </a:r>
          </a:p>
          <a:p>
            <a:pPr marL="233363" lvl="1" indent="-233363">
              <a:buSzTx/>
              <a:buFont typeface="Wingdings" pitchFamily="2" charset="2"/>
              <a:buChar char="§"/>
            </a:pPr>
            <a:endParaRPr lang="en-US" sz="3200" dirty="0"/>
          </a:p>
          <a:p>
            <a:pPr marL="233363" lvl="1" indent="-233363">
              <a:buSzTx/>
              <a:buFont typeface="Wingdings" pitchFamily="2" charset="2"/>
              <a:buChar char="§"/>
            </a:pPr>
            <a:endParaRPr lang="en-US" sz="3200" dirty="0"/>
          </a:p>
        </p:txBody>
      </p:sp>
      <p:pic>
        <p:nvPicPr>
          <p:cNvPr id="1026" name="Picture 2" descr="C:\Users\Kim\AppData\Local\Microsoft\Windows\Temporary Internet Files\Content.IE5\WE1HY378\MC900332680[1].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25252" y="3760613"/>
            <a:ext cx="1826057" cy="21625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6553605"/>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Kasiski</a:t>
            </a:r>
          </a:p>
        </p:txBody>
      </p:sp>
      <p:sp>
        <p:nvSpPr>
          <p:cNvPr id="10243" name="Content Placeholder 2"/>
          <p:cNvSpPr>
            <a:spLocks noGrp="1"/>
          </p:cNvSpPr>
          <p:nvPr>
            <p:ph idx="1"/>
          </p:nvPr>
        </p:nvSpPr>
        <p:spPr>
          <a:xfrm>
            <a:off x="539750" y="1364776"/>
            <a:ext cx="8299450" cy="4356574"/>
          </a:xfrm>
        </p:spPr>
        <p:txBody>
          <a:bodyPr/>
          <a:lstStyle/>
          <a:p>
            <a:pPr marL="233363" lvl="1" indent="-233363">
              <a:buSzTx/>
              <a:buFont typeface="Wingdings" pitchFamily="2" charset="2"/>
              <a:buChar char="§"/>
            </a:pPr>
            <a:r>
              <a:rPr lang="en-US" sz="3200" dirty="0"/>
              <a:t>A method of attacking polyalphabetic substitution ciphers, such as Vigenère</a:t>
            </a:r>
          </a:p>
          <a:p>
            <a:pPr marL="233363" lvl="1" indent="-233363">
              <a:buSzTx/>
              <a:buFont typeface="Wingdings" pitchFamily="2" charset="2"/>
              <a:buChar char="§"/>
            </a:pPr>
            <a:r>
              <a:rPr lang="en-US" sz="3200" dirty="0"/>
              <a:t>Can be used to deduce the length of the keyword used in a polyalphabetic substitution cipher</a:t>
            </a:r>
          </a:p>
        </p:txBody>
      </p:sp>
    </p:spTree>
    <p:extLst>
      <p:ext uri="{BB962C8B-B14F-4D97-AF65-F5344CB8AC3E}">
        <p14:creationId xmlns:p14="http://schemas.microsoft.com/office/powerpoint/2010/main" val="1413526712"/>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Kasiski (Cont.)</a:t>
            </a:r>
          </a:p>
        </p:txBody>
      </p:sp>
      <p:sp>
        <p:nvSpPr>
          <p:cNvPr id="10243" name="Content Placeholder 2"/>
          <p:cNvSpPr>
            <a:spLocks noGrp="1"/>
          </p:cNvSpPr>
          <p:nvPr>
            <p:ph idx="1"/>
          </p:nvPr>
        </p:nvSpPr>
        <p:spPr>
          <a:xfrm>
            <a:off x="539750" y="1364776"/>
            <a:ext cx="8299450" cy="4356574"/>
          </a:xfrm>
        </p:spPr>
        <p:txBody>
          <a:bodyPr/>
          <a:lstStyle/>
          <a:p>
            <a:pPr marL="233363" lvl="1" indent="-233363">
              <a:buSzTx/>
              <a:buFont typeface="Wingdings" pitchFamily="2" charset="2"/>
              <a:buChar char="§"/>
            </a:pPr>
            <a:r>
              <a:rPr lang="en-US" sz="3200" dirty="0"/>
              <a:t>When length of  keyword is discovered, ciphertext is lined up in </a:t>
            </a:r>
            <a:r>
              <a:rPr lang="en-US" sz="3200" i="1" dirty="0"/>
              <a:t>n</a:t>
            </a:r>
            <a:r>
              <a:rPr lang="en-US" sz="3200" dirty="0"/>
              <a:t> columns, where </a:t>
            </a:r>
            <a:r>
              <a:rPr lang="en-US" sz="3200" i="1" dirty="0"/>
              <a:t>n </a:t>
            </a:r>
            <a:r>
              <a:rPr lang="en-US" sz="3200" dirty="0"/>
              <a:t>is keyword length</a:t>
            </a:r>
          </a:p>
          <a:p>
            <a:pPr marL="233363" lvl="1" indent="-233363">
              <a:buSzTx/>
              <a:buFont typeface="Wingdings" pitchFamily="2" charset="2"/>
              <a:buChar char="§"/>
            </a:pPr>
            <a:r>
              <a:rPr lang="en-US" sz="3200" dirty="0"/>
              <a:t>Each column</a:t>
            </a:r>
          </a:p>
          <a:p>
            <a:pPr marL="688975" lvl="2" indent="-233363">
              <a:buFont typeface="Wingdings" pitchFamily="2" charset="2"/>
              <a:buChar char="§"/>
            </a:pPr>
            <a:r>
              <a:rPr lang="en-US" sz="3000" dirty="0"/>
              <a:t>Treated as a monoalphabetic substitution cipher</a:t>
            </a:r>
          </a:p>
          <a:p>
            <a:pPr marL="688975" lvl="2" indent="-233363">
              <a:buFont typeface="Wingdings" pitchFamily="2" charset="2"/>
              <a:buChar char="§"/>
            </a:pPr>
            <a:r>
              <a:rPr lang="en-US" sz="3000" dirty="0"/>
              <a:t>Can be cracked with frequency analysis</a:t>
            </a:r>
          </a:p>
          <a:p>
            <a:pPr marL="233363" lvl="1" indent="-233363">
              <a:buSzTx/>
              <a:buFont typeface="Wingdings" pitchFamily="2" charset="2"/>
              <a:buChar char="§"/>
            </a:pPr>
            <a:r>
              <a:rPr lang="en-US" sz="3200" dirty="0"/>
              <a:t>Involves looking for repeated strings in the ciphertext</a:t>
            </a:r>
          </a:p>
          <a:p>
            <a:pPr marL="233363" lvl="1" indent="-233363">
              <a:buSzTx/>
              <a:buFont typeface="Wingdings" pitchFamily="2" charset="2"/>
              <a:buChar char="§"/>
            </a:pPr>
            <a:endParaRPr lang="en-US" sz="3200" dirty="0"/>
          </a:p>
          <a:p>
            <a:pPr marL="233363" lvl="1" indent="-233363">
              <a:buSzTx/>
              <a:buFont typeface="Wingdings" pitchFamily="2" charset="2"/>
              <a:buChar char="§"/>
            </a:pPr>
            <a:endParaRPr lang="en-US" sz="3200" dirty="0"/>
          </a:p>
        </p:txBody>
      </p:sp>
    </p:spTree>
    <p:extLst>
      <p:ext uri="{BB962C8B-B14F-4D97-AF65-F5344CB8AC3E}">
        <p14:creationId xmlns:p14="http://schemas.microsoft.com/office/powerpoint/2010/main" val="2146210062"/>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Modern Methods</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3723417175"/>
              </p:ext>
            </p:extLst>
          </p:nvPr>
        </p:nvGraphicFramePr>
        <p:xfrm>
          <a:off x="539750" y="1295400"/>
          <a:ext cx="829945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23793885"/>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Rainbow Tables/Ophcrack</a:t>
            </a:r>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279122" y="1516046"/>
            <a:ext cx="5035416" cy="3975328"/>
          </a:xfrm>
        </p:spPr>
      </p:pic>
    </p:spTree>
    <p:extLst>
      <p:ext uri="{BB962C8B-B14F-4D97-AF65-F5344CB8AC3E}">
        <p14:creationId xmlns:p14="http://schemas.microsoft.com/office/powerpoint/2010/main" val="547812400"/>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John the Ripper</a:t>
            </a:r>
          </a:p>
        </p:txBody>
      </p:sp>
      <p:sp>
        <p:nvSpPr>
          <p:cNvPr id="4" name="Content Placeholder 2"/>
          <p:cNvSpPr txBox="1">
            <a:spLocks/>
          </p:cNvSpPr>
          <p:nvPr/>
        </p:nvSpPr>
        <p:spPr bwMode="auto">
          <a:xfrm>
            <a:off x="539750" y="1473958"/>
            <a:ext cx="7497763" cy="438074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33363" indent="-233363" algn="l" rtl="0" eaLnBrk="0" fontAlgn="base" hangingPunct="0">
              <a:spcBef>
                <a:spcPct val="20000"/>
              </a:spcBef>
              <a:spcAft>
                <a:spcPct val="0"/>
              </a:spcAft>
              <a:buClr>
                <a:srgbClr val="ED6E2E"/>
              </a:buClr>
              <a:buFont typeface="Wingdings" pitchFamily="2" charset="2"/>
              <a:buChar char="§"/>
              <a:defRPr sz="1800">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a:lstStyle>
          <a:p>
            <a:r>
              <a:rPr lang="en-US" sz="3200" kern="0" dirty="0"/>
              <a:t>A password cracker popular with  network administrators and hackers</a:t>
            </a:r>
          </a:p>
          <a:p>
            <a:r>
              <a:rPr lang="en-US" sz="3200" kern="0" dirty="0"/>
              <a:t>Enables user to select text files of word lists to attempt cracking a password</a:t>
            </a:r>
          </a:p>
          <a:p>
            <a:r>
              <a:rPr lang="en-US" sz="3200" kern="0" dirty="0"/>
              <a:t>Command-line based, no Windows interface</a:t>
            </a:r>
          </a:p>
        </p:txBody>
      </p:sp>
    </p:spTree>
    <p:extLst>
      <p:ext uri="{BB962C8B-B14F-4D97-AF65-F5344CB8AC3E}">
        <p14:creationId xmlns:p14="http://schemas.microsoft.com/office/powerpoint/2010/main" val="2896058194"/>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sz="4000" dirty="0"/>
              <a:t>Summary</a:t>
            </a:r>
          </a:p>
        </p:txBody>
      </p:sp>
      <p:sp>
        <p:nvSpPr>
          <p:cNvPr id="7171" name="Content Placeholder 2"/>
          <p:cNvSpPr>
            <a:spLocks noGrp="1"/>
          </p:cNvSpPr>
          <p:nvPr>
            <p:ph idx="1"/>
          </p:nvPr>
        </p:nvSpPr>
        <p:spPr>
          <a:xfrm>
            <a:off x="539750" y="1473958"/>
            <a:ext cx="7497763" cy="4380742"/>
          </a:xfrm>
        </p:spPr>
        <p:txBody>
          <a:bodyPr/>
          <a:lstStyle/>
          <a:p>
            <a:pPr lvl="0"/>
            <a:r>
              <a:rPr lang="en-US" sz="3200" dirty="0"/>
              <a:t>Steganography</a:t>
            </a:r>
          </a:p>
          <a:p>
            <a:pPr lvl="0"/>
            <a:r>
              <a:rPr lang="en-US" sz="3200" dirty="0"/>
              <a:t>Encryption</a:t>
            </a:r>
          </a:p>
          <a:p>
            <a:pPr lvl="1">
              <a:buFont typeface="Times"/>
              <a:buNone/>
            </a:pPr>
            <a:endParaRPr lang="en-US" sz="3200" dirty="0">
              <a:ea typeface="MS PGothic" pitchFamily="34" charset="-128"/>
            </a:endParaRPr>
          </a:p>
        </p:txBody>
      </p:sp>
    </p:spTree>
    <p:extLst>
      <p:ext uri="{BB962C8B-B14F-4D97-AF65-F5344CB8AC3E}">
        <p14:creationId xmlns:p14="http://schemas.microsoft.com/office/powerpoint/2010/main" val="815220970"/>
      </p:ext>
    </p:extLst>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PPSPROPS" val="doc-id:164124"/>
  <p:tag name="PRESENTATION_PLAYLIST_COUNT" val="0"/>
  <p:tag name="PRESENTATION_PRESENTER_SLIDE_LEVEL" val="0"/>
  <p:tag name="ART_ENCODE_TYPE" val="0"/>
  <p:tag name="ART_ENCODE_INDEX" val="1"/>
  <p:tag name="PUBLISH_TITLE" val="PM 2006"/>
  <p:tag name="ARTICULATE_PUBLISH_PATH" val="C:\Documents and Settings\Josh Bersin\My Documents\_Bersin Files\_PRESENTATIONS\2006_05_PMLAUNCH\PM 2006"/>
  <p:tag name="ARTICULATE_LOGO" val="Bersin-Logo2.gif"/>
  <p:tag name="ARTICULATE_PRESENTER" val="Josh Bersin"/>
  <p:tag name="ARTICULATE_PRESENTER_GUID" val="AF8D0DB1-D4D4-4749-BE26-AB8CCB5FD1C7"/>
  <p:tag name="ARTICULATE_LMS" val="0"/>
  <p:tag name="LMS_PUBLISH" val="No"/>
  <p:tag name="PLAYERLOGOHEIGHT" val="94"/>
  <p:tag name="PLAYERLOGOWIDTH" val="244"/>
  <p:tag name="LAUNCHINNEWWINDOW" val="1"/>
  <p:tag name="LASTPUBLISHED" val="C:\Documents and Settings\Josh Bersin\My Documents\_Bersin Files\_PRESENTATIONS\2006_05_PMLAUNCH\PM 2006\PM 2006\launcher.html"/>
  <p:tag name="MMPROD_NEXTUNIQUEID" val="10009"/>
  <p:tag name="MMPROD_UIDATA" val="&lt;database version=&quot;7.0&quot;&gt;&lt;object type=&quot;1&quot; unique_id=&quot;10001&quot;&gt;&lt;property id=&quot;20141&quot; value=&quot;PM 2006&quot;/&gt;&lt;object type=&quot;8&quot; unique_id=&quot;10002&quot;&gt;&lt;/object&gt;&lt;object type=&quot;2&quot; unique_id=&quot;10003&quot;&gt;&lt;object type=&quot;3&quot; unique_id=&quot;10004&quot;&gt;&lt;property id=&quot;20148&quot; value=&quot;5&quot;/&gt;&lt;property id=&quot;20300&quot; value=&quot;Slide 1 - &amp;quot;Cummins Presentation&amp;#x0D;&amp;#x0A;High-Impact Learning Organizations &amp;#x0D;&amp;#x0A;&amp;#x0D;&amp;#x0A;WhatWorks® In the Management, Governance, and Operations &quot;/&gt;&lt;property id=&quot;20302&quot; value=&quot;0&quot;/&gt;&lt;property id=&quot;20307&quot; value=&quot;1507&quot;/&gt;&lt;/object&gt;&lt;object type=&quot;3&quot; unique_id=&quot;10006&quot;&gt;&lt;property id=&quot;20148&quot; value=&quot;5&quot;/&gt;&lt;property id=&quot;20300&quot; value=&quot;Slide 2 - &amp;quot;Bersin WhatWorks® Methodology&amp;quot;&quot;/&gt;&lt;property id=&quot;20302&quot; value=&quot;0&quot;/&gt;&lt;property id=&quot;20307&quot; value=&quot;1509&quot;/&gt;&lt;/object&gt;&lt;object type=&quot;3&quot; unique_id=&quot;10008&quot;&gt;&lt;property id=&quot;20148&quot; value=&quot;5&quot;/&gt;&lt;property id=&quot;20300&quot; value=&quot;Slide 6 - &amp;quot;The Corporate L&amp;amp;D Marketplace&amp;quot;&quot;/&gt;&lt;property id=&quot;20302&quot; value=&quot;0&quot;/&gt;&lt;property id=&quot;20307&quot; value=&quot;1486&quot;/&gt;&lt;/object&gt;&lt;object type=&quot;3&quot; unique_id=&quot;10011&quot;&gt;&lt;property id=&quot;20148&quot; value=&quot;5&quot;/&gt;&lt;property id=&quot;20300&quot; value=&quot;Slide 7 - &amp;quot;Current Workforce Demographics&amp;quot;&quot;/&gt;&lt;property id=&quot;20302&quot; value=&quot;0&quot;/&gt;&lt;property id=&quot;20307&quot; value=&quot;1513&quot;/&gt;&lt;/object&gt;&lt;object type=&quot;3&quot; unique_id=&quot;10013&quot;&gt;&lt;property id=&quot;20148&quot; value=&quot;5&quot;/&gt;&lt;property id=&quot;20300&quot; value=&quot;Slide 8 - &amp;quot;Today’s Worker&amp;quot;&quot;/&gt;&lt;property id=&quot;20302&quot; value=&quot;0&quot;/&gt;&lt;property id=&quot;20307&quot; value=&quot;1520&quot;/&gt;&lt;/object&gt;&lt;object type=&quot;3&quot; unique_id=&quot;10015&quot;&gt;&lt;property id=&quot;20148&quot; value=&quot;5&quot;/&gt;&lt;property id=&quot;20300&quot; value=&quot;Slide 9 - &amp;quot;Forces for Change in Corporate L&amp;amp;D&amp;quot;&quot;/&gt;&lt;property id=&quot;20302&quot; value=&quot;0&quot;/&gt;&lt;property id=&quot;20307&quot; value=&quot;1479&quot;/&gt;&lt;/object&gt;&lt;object type=&quot;3&quot; unique_id=&quot;10018&quot;&gt;&lt;property id=&quot;20148&quot; value=&quot;5&quot;/&gt;&lt;property id=&quot;20300&quot; value=&quot;Slide 10 - &amp;quot;High Impact Learning Organization&amp;#x0D;&amp;#x0A;How we create business impact&amp;quot;&quot;/&gt;&lt;property id=&quot;20302&quot; value=&quot;0&quot;/&gt;&lt;property id=&quot;20307&quot; value=&quot;1485&quot;/&gt;&lt;/object&gt;&lt;object type=&quot;3&quot; unique_id=&quot;10030&quot;&gt;&lt;property id=&quot;20148&quot; value=&quot;5&quot;/&gt;&lt;property id=&quot;20300&quot; value=&quot;Slide 11 - &amp;quot;High Impact Governance&amp;quot;&quot;/&gt;&lt;property id=&quot;20302&quot; value=&quot;0&quot;/&gt;&lt;property id=&quot;20307&quot; value=&quot;1523&quot;/&gt;&lt;/object&gt;&lt;object type=&quot;3&quot; unique_id=&quot;10031&quot;&gt;&lt;property id=&quot;20148&quot; value=&quot;5&quot;/&gt;&lt;property id=&quot;20300&quot; value=&quot;Slide 12 - &amp;quot;High Impact Governance Process&amp;quot;&quot;/&gt;&lt;property id=&quot;20302&quot; value=&quot;0&quot;/&gt;&lt;property id=&quot;20307&quot; value=&quot;1527&quot;/&gt;&lt;/object&gt;&lt;object type=&quot;3&quot; unique_id=&quot;10033&quot;&gt;&lt;property id=&quot;20148&quot; value=&quot;5&quot;/&gt;&lt;property id=&quot;20300&quot; value=&quot;Slide 13 - &amp;quot;Strategy Alignment Process&amp;quot;&quot;/&gt;&lt;property id=&quot;20302&quot; value=&quot;0&quot;/&gt;&lt;property id=&quot;20307&quot; value=&quot;1572&quot;/&gt;&lt;/object&gt;&lt;object type=&quot;3&quot; unique_id=&quot;10036&quot;&gt;&lt;property id=&quot;20148&quot; value=&quot;5&quot;/&gt;&lt;property id=&quot;20300&quot; value=&quot;Slide 14 - &amp;quot;A Working Federated Model&amp;quot;&quot;/&gt;&lt;property id=&quot;20302&quot; value=&quot;0&quot;/&gt;&lt;property id=&quot;20307&quot; value=&quot;1528&quot;/&gt;&lt;/object&gt;&lt;object type=&quot;3&quot; unique_id=&quot;10970&quot;&gt;&lt;property id=&quot;20148&quot; value=&quot;5&quot;/&gt;&lt;property id=&quot;20300&quot; value=&quot;Slide 3&quot;/&gt;&lt;property id=&quot;20307&quot; value=&quot;1573&quot;/&gt;&lt;/object&gt;&lt;object type=&quot;3&quot; unique_id=&quot;10971&quot;&gt;&lt;property id=&quot;20148&quot; value=&quot;5&quot;/&gt;&lt;property id=&quot;20300&quot; value=&quot;Slide 4 - &amp;quot;Business Needs Leading to Training Requirements&amp;quot;&quot;/&gt;&lt;property id=&quot;20307&quot; value=&quot;1574&quot;/&gt;&lt;/object&gt;&lt;object type=&quot;3&quot; unique_id=&quot;10972&quot;&gt;&lt;property id=&quot;20148&quot; value=&quot;5&quot;/&gt;&lt;property id=&quot;20300&quot; value=&quot;Slide 5 - &amp;quot;Context - Training &amp;amp; Development: &amp;#x0D;&amp;#x0A;Sample Interventions&amp;quot;&quot;/&gt;&lt;property id=&quot;20307&quot; value=&quot;1575&quot;/&gt;&lt;/object&gt;&lt;/object&gt;&lt;object type=&quot;4&quot; unique_id=&quot;10310&quot;&gt;&lt;property id=&quot;28&quot; value=&quot;1000&quot;/&gt;&lt;object type=&quot;5&quot; unique_id=&quot;1001&quot;&gt;&lt;/object&gt;&lt;/object&gt;&lt;/object&gt;&lt;/database&gt;"/>
  <p:tag name="SECTOMILLISECCONVERTED" val="1"/>
</p:tagLst>
</file>

<file path=ppt/theme/theme1.xml><?xml version="1.0" encoding="utf-8"?>
<a:theme xmlns:a="http://schemas.openxmlformats.org/drawingml/2006/main" name="Blank Presentation">
  <a:themeElements>
    <a:clrScheme name="Blank Presentation 2">
      <a:dk1>
        <a:srgbClr val="000000"/>
      </a:dk1>
      <a:lt1>
        <a:srgbClr val="FFFFFF"/>
      </a:lt1>
      <a:dk2>
        <a:srgbClr val="204F91"/>
      </a:dk2>
      <a:lt2>
        <a:srgbClr val="A1A8AD"/>
      </a:lt2>
      <a:accent1>
        <a:srgbClr val="38629C"/>
      </a:accent1>
      <a:accent2>
        <a:srgbClr val="FE9901"/>
      </a:accent2>
      <a:accent3>
        <a:srgbClr val="FFFFFF"/>
      </a:accent3>
      <a:accent4>
        <a:srgbClr val="000000"/>
      </a:accent4>
      <a:accent5>
        <a:srgbClr val="AEB7CB"/>
      </a:accent5>
      <a:accent6>
        <a:srgbClr val="E68A01"/>
      </a:accent6>
      <a:hlink>
        <a:srgbClr val="7DBA00"/>
      </a:hlink>
      <a:folHlink>
        <a:srgbClr val="9C1F2E"/>
      </a:folHlink>
    </a:clrScheme>
    <a:fontScheme name="Blank Presentati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204F91"/>
        </a:dk2>
        <a:lt2>
          <a:srgbClr val="A1A8AD"/>
        </a:lt2>
        <a:accent1>
          <a:srgbClr val="38629C"/>
        </a:accent1>
        <a:accent2>
          <a:srgbClr val="FE9901"/>
        </a:accent2>
        <a:accent3>
          <a:srgbClr val="FFFFFF"/>
        </a:accent3>
        <a:accent4>
          <a:srgbClr val="000000"/>
        </a:accent4>
        <a:accent5>
          <a:srgbClr val="AEB7CB"/>
        </a:accent5>
        <a:accent6>
          <a:srgbClr val="E68A01"/>
        </a:accent6>
        <a:hlink>
          <a:srgbClr val="7DBA00"/>
        </a:hlink>
        <a:folHlink>
          <a:srgbClr val="9C1F2E"/>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3366"/>
        </a:dk2>
        <a:lt2>
          <a:srgbClr val="A1A8AD"/>
        </a:lt2>
        <a:accent1>
          <a:srgbClr val="A8C77F"/>
        </a:accent1>
        <a:accent2>
          <a:srgbClr val="547933"/>
        </a:accent2>
        <a:accent3>
          <a:srgbClr val="FFFFFF"/>
        </a:accent3>
        <a:accent4>
          <a:srgbClr val="000000"/>
        </a:accent4>
        <a:accent5>
          <a:srgbClr val="D1E0C0"/>
        </a:accent5>
        <a:accent6>
          <a:srgbClr val="4B6D2D"/>
        </a:accent6>
        <a:hlink>
          <a:srgbClr val="E6851A"/>
        </a:hlink>
        <a:folHlink>
          <a:srgbClr val="9C1F2E"/>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4D7D35"/>
        </a:dk2>
        <a:lt2>
          <a:srgbClr val="91B3BD"/>
        </a:lt2>
        <a:accent1>
          <a:srgbClr val="49699D"/>
        </a:accent1>
        <a:accent2>
          <a:srgbClr val="D2E0BA"/>
        </a:accent2>
        <a:accent3>
          <a:srgbClr val="FFFFFF"/>
        </a:accent3>
        <a:accent4>
          <a:srgbClr val="000000"/>
        </a:accent4>
        <a:accent5>
          <a:srgbClr val="B1B9CC"/>
        </a:accent5>
        <a:accent6>
          <a:srgbClr val="BECBA8"/>
        </a:accent6>
        <a:hlink>
          <a:srgbClr val="704A6E"/>
        </a:hlink>
        <a:folHlink>
          <a:srgbClr val="948092"/>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4D7D35"/>
        </a:dk2>
        <a:lt2>
          <a:srgbClr val="91B3BD"/>
        </a:lt2>
        <a:accent1>
          <a:srgbClr val="49699D"/>
        </a:accent1>
        <a:accent2>
          <a:srgbClr val="C57F21"/>
        </a:accent2>
        <a:accent3>
          <a:srgbClr val="FFFFFF"/>
        </a:accent3>
        <a:accent4>
          <a:srgbClr val="000000"/>
        </a:accent4>
        <a:accent5>
          <a:srgbClr val="B1B9CC"/>
        </a:accent5>
        <a:accent6>
          <a:srgbClr val="B2721D"/>
        </a:accent6>
        <a:hlink>
          <a:srgbClr val="704A6E"/>
        </a:hlink>
        <a:folHlink>
          <a:srgbClr val="948092"/>
        </a:folHlink>
      </a:clrScheme>
      <a:clrMap bg1="lt1" tx1="dk1" bg2="lt2" tx2="dk2" accent1="accent1" accent2="accent2" accent3="accent3" accent4="accent4" accent5="accent5" accent6="accent6" hlink="hlink" folHlink="folHlink"/>
    </a:extraClrScheme>
    <a:extraClrScheme>
      <a:clrScheme name="Blank Presentation 6">
        <a:dk1>
          <a:srgbClr val="003366"/>
        </a:dk1>
        <a:lt1>
          <a:srgbClr val="FFFFFF"/>
        </a:lt1>
        <a:dk2>
          <a:srgbClr val="204F91"/>
        </a:dk2>
        <a:lt2>
          <a:srgbClr val="A1A8AD"/>
        </a:lt2>
        <a:accent1>
          <a:srgbClr val="73B244"/>
        </a:accent1>
        <a:accent2>
          <a:srgbClr val="932121"/>
        </a:accent2>
        <a:accent3>
          <a:srgbClr val="FFFFFF"/>
        </a:accent3>
        <a:accent4>
          <a:srgbClr val="002A56"/>
        </a:accent4>
        <a:accent5>
          <a:srgbClr val="BCD5B0"/>
        </a:accent5>
        <a:accent6>
          <a:srgbClr val="851D1D"/>
        </a:accent6>
        <a:hlink>
          <a:srgbClr val="67983A"/>
        </a:hlink>
        <a:folHlink>
          <a:srgbClr val="315C22"/>
        </a:folHlink>
      </a:clrScheme>
      <a:clrMap bg1="lt1" tx1="dk1" bg2="lt2" tx2="dk2" accent1="accent1" accent2="accent2" accent3="accent3" accent4="accent4" accent5="accent5" accent6="accent6" hlink="hlink" folHlink="folHlink"/>
    </a:extraClrScheme>
    <a:extraClrScheme>
      <a:clrScheme name="Blank Presentation 7">
        <a:dk1>
          <a:srgbClr val="003366"/>
        </a:dk1>
        <a:lt1>
          <a:srgbClr val="FFFFFF"/>
        </a:lt1>
        <a:dk2>
          <a:srgbClr val="204F91"/>
        </a:dk2>
        <a:lt2>
          <a:srgbClr val="A1A8AD"/>
        </a:lt2>
        <a:accent1>
          <a:srgbClr val="D7D214"/>
        </a:accent1>
        <a:accent2>
          <a:srgbClr val="932121"/>
        </a:accent2>
        <a:accent3>
          <a:srgbClr val="FFFFFF"/>
        </a:accent3>
        <a:accent4>
          <a:srgbClr val="002A56"/>
        </a:accent4>
        <a:accent5>
          <a:srgbClr val="E8E5AA"/>
        </a:accent5>
        <a:accent6>
          <a:srgbClr val="851D1D"/>
        </a:accent6>
        <a:hlink>
          <a:srgbClr val="67983A"/>
        </a:hlink>
        <a:folHlink>
          <a:srgbClr val="315C22"/>
        </a:folHlink>
      </a:clrScheme>
      <a:clrMap bg1="lt1" tx1="dk1" bg2="lt2" tx2="dk2" accent1="accent1" accent2="accent2" accent3="accent3" accent4="accent4" accent5="accent5" accent6="accent6" hlink="hlink" folHlink="folHlink"/>
    </a:extraClrScheme>
    <a:extraClrScheme>
      <a:clrScheme name="Blank Presentation 8">
        <a:dk1>
          <a:srgbClr val="000000"/>
        </a:dk1>
        <a:lt1>
          <a:srgbClr val="FFFFFF"/>
        </a:lt1>
        <a:dk2>
          <a:srgbClr val="4D7D35"/>
        </a:dk2>
        <a:lt2>
          <a:srgbClr val="91B3BD"/>
        </a:lt2>
        <a:accent1>
          <a:srgbClr val="49699D"/>
        </a:accent1>
        <a:accent2>
          <a:srgbClr val="DD9043"/>
        </a:accent2>
        <a:accent3>
          <a:srgbClr val="FFFFFF"/>
        </a:accent3>
        <a:accent4>
          <a:srgbClr val="000000"/>
        </a:accent4>
        <a:accent5>
          <a:srgbClr val="B1B9CC"/>
        </a:accent5>
        <a:accent6>
          <a:srgbClr val="C8823C"/>
        </a:accent6>
        <a:hlink>
          <a:srgbClr val="704A6E"/>
        </a:hlink>
        <a:folHlink>
          <a:srgbClr val="94809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23384</TotalTime>
  <Words>4002</Words>
  <Application>Microsoft Office PowerPoint</Application>
  <PresentationFormat>On-screen Show (4:3)</PresentationFormat>
  <Paragraphs>453</Paragraphs>
  <Slides>58</Slides>
  <Notes>58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58</vt:i4>
      </vt:variant>
    </vt:vector>
  </HeadingPairs>
  <TitlesOfParts>
    <vt:vector size="64" baseType="lpstr">
      <vt:lpstr>MS PGothic</vt:lpstr>
      <vt:lpstr>Arial</vt:lpstr>
      <vt:lpstr>Times</vt:lpstr>
      <vt:lpstr>Times New Roman</vt:lpstr>
      <vt:lpstr>Wingdings</vt:lpstr>
      <vt:lpstr>Blank Presentation</vt:lpstr>
      <vt:lpstr>PowerPoint Presentation</vt:lpstr>
      <vt:lpstr>Learning Objective</vt:lpstr>
      <vt:lpstr>Key Concepts</vt:lpstr>
      <vt:lpstr>Steganography</vt:lpstr>
      <vt:lpstr>LSB Method</vt:lpstr>
      <vt:lpstr>LSB Method</vt:lpstr>
      <vt:lpstr>LSB Method</vt:lpstr>
      <vt:lpstr>Basic Steganography Terms</vt:lpstr>
      <vt:lpstr>Historical Steganography</vt:lpstr>
      <vt:lpstr>Other Forms of Steganography </vt:lpstr>
      <vt:lpstr>Steganalysis</vt:lpstr>
      <vt:lpstr>Invisible Secrets</vt:lpstr>
      <vt:lpstr>Invisible Secrets</vt:lpstr>
      <vt:lpstr>Invisible Secrets</vt:lpstr>
      <vt:lpstr>Invisible Secrets</vt:lpstr>
      <vt:lpstr>Invisible Secrets</vt:lpstr>
      <vt:lpstr>Encryption</vt:lpstr>
      <vt:lpstr>Encryption vs. Steganography</vt:lpstr>
      <vt:lpstr>The Caesar Cipher</vt:lpstr>
      <vt:lpstr>Caesar Cipher Example</vt:lpstr>
      <vt:lpstr>The Caesar Cipher</vt:lpstr>
      <vt:lpstr>The Atbash Cipher</vt:lpstr>
      <vt:lpstr>The ROT13 Cipher</vt:lpstr>
      <vt:lpstr>The Scytale Cipher</vt:lpstr>
      <vt:lpstr>Playfair</vt:lpstr>
      <vt:lpstr>Playfair (Cont.)</vt:lpstr>
      <vt:lpstr>Playfair (Cont.)</vt:lpstr>
      <vt:lpstr>Playfair (Cont.)</vt:lpstr>
      <vt:lpstr>Multialphabet Substitution</vt:lpstr>
      <vt:lpstr>Multialphabet Substitution Example</vt:lpstr>
      <vt:lpstr>The Vigenère Cipher</vt:lpstr>
      <vt:lpstr>The Enigma Machine</vt:lpstr>
      <vt:lpstr>Modern Cryptography</vt:lpstr>
      <vt:lpstr>Modern Cryptography (Cont.)</vt:lpstr>
      <vt:lpstr>Modern Cryptography (Cont.)</vt:lpstr>
      <vt:lpstr>Symmetric Cryptography</vt:lpstr>
      <vt:lpstr>Substitution and Transposition</vt:lpstr>
      <vt:lpstr>Block Ciphers and Stream Ciphers</vt:lpstr>
      <vt:lpstr>The Feistel Function</vt:lpstr>
      <vt:lpstr>Data Encryption Standard (DES)</vt:lpstr>
      <vt:lpstr>What Happened to 2DES?</vt:lpstr>
      <vt:lpstr>Triple DES (3DES)</vt:lpstr>
      <vt:lpstr>Why 4DES Was Never Implemented</vt:lpstr>
      <vt:lpstr>Advanced Encryption Standard (AES)</vt:lpstr>
      <vt:lpstr>AES Steps</vt:lpstr>
      <vt:lpstr>Cryptographic Hashes</vt:lpstr>
      <vt:lpstr>Asymmetric Cryptography</vt:lpstr>
      <vt:lpstr>RSA</vt:lpstr>
      <vt:lpstr>Diffie-Hellmen</vt:lpstr>
      <vt:lpstr>Diffie-Hellmen (Cont.)</vt:lpstr>
      <vt:lpstr>Breaking Encryption</vt:lpstr>
      <vt:lpstr>Frequency Analysis</vt:lpstr>
      <vt:lpstr>Kasiski</vt:lpstr>
      <vt:lpstr>Kasiski (Cont.)</vt:lpstr>
      <vt:lpstr>Modern Methods</vt:lpstr>
      <vt:lpstr>Rainbow Tables/Ophcrack</vt:lpstr>
      <vt:lpstr>John the Ripper</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E-Learning</dc:title>
  <dc:creator>Kim</dc:creator>
  <cp:lastModifiedBy>Kimberly Lindros</cp:lastModifiedBy>
  <cp:revision>3185</cp:revision>
  <cp:lastPrinted>2008-07-07T18:08:55Z</cp:lastPrinted>
  <dcterms:created xsi:type="dcterms:W3CDTF">2010-11-23T16:42:27Z</dcterms:created>
  <dcterms:modified xsi:type="dcterms:W3CDTF">2017-07-03T03:16:29Z</dcterms:modified>
</cp:coreProperties>
</file>