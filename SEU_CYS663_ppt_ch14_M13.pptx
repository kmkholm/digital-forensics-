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9"/>
  </p:notesMasterIdLst>
  <p:handoutMasterIdLst>
    <p:handoutMasterId r:id="rId30"/>
  </p:handoutMasterIdLst>
  <p:sldIdLst>
    <p:sldId id="1529" r:id="rId2"/>
    <p:sldId id="1561" r:id="rId3"/>
    <p:sldId id="1567" r:id="rId4"/>
    <p:sldId id="1663" r:id="rId5"/>
    <p:sldId id="1702" r:id="rId6"/>
    <p:sldId id="1686" r:id="rId7"/>
    <p:sldId id="1693" r:id="rId8"/>
    <p:sldId id="1694" r:id="rId9"/>
    <p:sldId id="1695" r:id="rId10"/>
    <p:sldId id="1690" r:id="rId11"/>
    <p:sldId id="1703" r:id="rId12"/>
    <p:sldId id="1691" r:id="rId13"/>
    <p:sldId id="1704" r:id="rId14"/>
    <p:sldId id="1711" r:id="rId15"/>
    <p:sldId id="1705" r:id="rId16"/>
    <p:sldId id="1689" r:id="rId17"/>
    <p:sldId id="1697" r:id="rId18"/>
    <p:sldId id="1696" r:id="rId19"/>
    <p:sldId id="1698" r:id="rId20"/>
    <p:sldId id="1712" r:id="rId21"/>
    <p:sldId id="1692" r:id="rId22"/>
    <p:sldId id="1707" r:id="rId23"/>
    <p:sldId id="1710" r:id="rId24"/>
    <p:sldId id="1708" r:id="rId25"/>
    <p:sldId id="1706" r:id="rId26"/>
    <p:sldId id="1709" r:id="rId27"/>
    <p:sldId id="1562" r:id="rId28"/>
  </p:sldIdLst>
  <p:sldSz cx="9144000" cy="6858000" type="screen4x3"/>
  <p:notesSz cx="7010400" cy="9296400"/>
  <p:custDataLst>
    <p:tags r:id="rId31"/>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E2E"/>
    <a:srgbClr val="14ACC0"/>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235" autoAdjust="0"/>
    <p:restoredTop sz="92066" autoAdjust="0"/>
  </p:normalViewPr>
  <p:slideViewPr>
    <p:cSldViewPr snapToGrid="0" snapToObjects="1">
      <p:cViewPr varScale="1">
        <p:scale>
          <a:sx n="63" d="100"/>
          <a:sy n="63" d="100"/>
        </p:scale>
        <p:origin x="1404" y="48"/>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466"/>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864A19-6683-41D4-AC93-ADCD8B85A5E3}" type="doc">
      <dgm:prSet loTypeId="urn:microsoft.com/office/officeart/2005/8/layout/arrow4" loCatId="process" qsTypeId="urn:microsoft.com/office/officeart/2005/8/quickstyle/simple1" qsCatId="simple" csTypeId="urn:microsoft.com/office/officeart/2005/8/colors/accent1_2" csCatId="accent1" phldr="1"/>
      <dgm:spPr/>
      <dgm:t>
        <a:bodyPr/>
        <a:lstStyle/>
        <a:p>
          <a:endParaRPr lang="en-US"/>
        </a:p>
      </dgm:t>
    </dgm:pt>
    <dgm:pt modelId="{A7850C83-9B2E-4FA4-A6E4-E7CD0EAD29BB}">
      <dgm:prSet phldrT="[Text]" custT="1"/>
      <dgm:spPr/>
      <dgm:t>
        <a:bodyPr/>
        <a:lstStyle/>
        <a:p>
          <a:r>
            <a:rPr lang="en-US" sz="3200" dirty="0"/>
            <a:t>Capacity</a:t>
          </a:r>
        </a:p>
      </dgm:t>
    </dgm:pt>
    <dgm:pt modelId="{793C743F-125E-4087-8347-B407E2FD1FC5}" type="parTrans" cxnId="{B984E354-53F2-443B-B13C-3F32FBEC723A}">
      <dgm:prSet/>
      <dgm:spPr/>
      <dgm:t>
        <a:bodyPr/>
        <a:lstStyle/>
        <a:p>
          <a:endParaRPr lang="en-US"/>
        </a:p>
      </dgm:t>
    </dgm:pt>
    <dgm:pt modelId="{88A0F63A-A56B-44FD-BADE-DC9127CC7408}" type="sibTrans" cxnId="{B984E354-53F2-443B-B13C-3F32FBEC723A}">
      <dgm:prSet/>
      <dgm:spPr/>
      <dgm:t>
        <a:bodyPr/>
        <a:lstStyle/>
        <a:p>
          <a:endParaRPr lang="en-US"/>
        </a:p>
      </dgm:t>
    </dgm:pt>
    <dgm:pt modelId="{6232453E-2C6D-4C44-8F0B-05A588320A1A}">
      <dgm:prSet phldrT="[Text]" custT="1"/>
      <dgm:spPr/>
      <dgm:t>
        <a:bodyPr/>
        <a:lstStyle/>
        <a:p>
          <a:r>
            <a:rPr lang="en-US" sz="3200" dirty="0"/>
            <a:t>Cost</a:t>
          </a:r>
        </a:p>
      </dgm:t>
    </dgm:pt>
    <dgm:pt modelId="{F4616531-91F7-4EF9-867D-C35D84CB85C3}" type="parTrans" cxnId="{F19F738B-A005-4153-956D-B79023D3C872}">
      <dgm:prSet/>
      <dgm:spPr/>
      <dgm:t>
        <a:bodyPr/>
        <a:lstStyle/>
        <a:p>
          <a:endParaRPr lang="en-US"/>
        </a:p>
      </dgm:t>
    </dgm:pt>
    <dgm:pt modelId="{6FD4DFC9-7349-4AF4-96BC-AE2D3622F9F7}" type="sibTrans" cxnId="{F19F738B-A005-4153-956D-B79023D3C872}">
      <dgm:prSet/>
      <dgm:spPr/>
      <dgm:t>
        <a:bodyPr/>
        <a:lstStyle/>
        <a:p>
          <a:endParaRPr lang="en-US"/>
        </a:p>
      </dgm:t>
    </dgm:pt>
    <dgm:pt modelId="{4FE43339-BA0A-477B-BCBF-B250819ACBCB}" type="pres">
      <dgm:prSet presAssocID="{EB864A19-6683-41D4-AC93-ADCD8B85A5E3}" presName="compositeShape" presStyleCnt="0">
        <dgm:presLayoutVars>
          <dgm:chMax val="2"/>
          <dgm:dir/>
          <dgm:resizeHandles val="exact"/>
        </dgm:presLayoutVars>
      </dgm:prSet>
      <dgm:spPr/>
    </dgm:pt>
    <dgm:pt modelId="{4F27D2C9-31E1-4F7C-BDA3-2906395F43B2}" type="pres">
      <dgm:prSet presAssocID="{A7850C83-9B2E-4FA4-A6E4-E7CD0EAD29BB}" presName="upArrow" presStyleLbl="node1" presStyleIdx="0" presStyleCnt="2"/>
      <dgm:spPr/>
    </dgm:pt>
    <dgm:pt modelId="{2EEDF1B8-04FC-493B-A02F-51EF8D5FD435}" type="pres">
      <dgm:prSet presAssocID="{A7850C83-9B2E-4FA4-A6E4-E7CD0EAD29BB}" presName="upArrowText" presStyleLbl="revTx" presStyleIdx="0" presStyleCnt="2">
        <dgm:presLayoutVars>
          <dgm:chMax val="0"/>
          <dgm:bulletEnabled val="1"/>
        </dgm:presLayoutVars>
      </dgm:prSet>
      <dgm:spPr/>
    </dgm:pt>
    <dgm:pt modelId="{72A5BC80-9E8B-43EF-8901-2295CD21BFDE}" type="pres">
      <dgm:prSet presAssocID="{6232453E-2C6D-4C44-8F0B-05A588320A1A}" presName="downArrow" presStyleLbl="node1" presStyleIdx="1" presStyleCnt="2"/>
      <dgm:spPr/>
    </dgm:pt>
    <dgm:pt modelId="{9A342F3A-33E8-411F-B0E2-FF736E6D8D9C}" type="pres">
      <dgm:prSet presAssocID="{6232453E-2C6D-4C44-8F0B-05A588320A1A}" presName="downArrowText" presStyleLbl="revTx" presStyleIdx="1" presStyleCnt="2">
        <dgm:presLayoutVars>
          <dgm:chMax val="0"/>
          <dgm:bulletEnabled val="1"/>
        </dgm:presLayoutVars>
      </dgm:prSet>
      <dgm:spPr/>
    </dgm:pt>
  </dgm:ptLst>
  <dgm:cxnLst>
    <dgm:cxn modelId="{AA63B102-8457-4BAF-A2A4-33CC0689E9C1}" type="presOf" srcId="{6232453E-2C6D-4C44-8F0B-05A588320A1A}" destId="{9A342F3A-33E8-411F-B0E2-FF736E6D8D9C}" srcOrd="0" destOrd="0" presId="urn:microsoft.com/office/officeart/2005/8/layout/arrow4"/>
    <dgm:cxn modelId="{254D095E-F584-4B78-BBDB-B75E98B223B6}" type="presOf" srcId="{A7850C83-9B2E-4FA4-A6E4-E7CD0EAD29BB}" destId="{2EEDF1B8-04FC-493B-A02F-51EF8D5FD435}" srcOrd="0" destOrd="0" presId="urn:microsoft.com/office/officeart/2005/8/layout/arrow4"/>
    <dgm:cxn modelId="{DFD10B61-691F-4F20-88C1-0A7915B1D10C}" type="presOf" srcId="{EB864A19-6683-41D4-AC93-ADCD8B85A5E3}" destId="{4FE43339-BA0A-477B-BCBF-B250819ACBCB}" srcOrd="0" destOrd="0" presId="urn:microsoft.com/office/officeart/2005/8/layout/arrow4"/>
    <dgm:cxn modelId="{B984E354-53F2-443B-B13C-3F32FBEC723A}" srcId="{EB864A19-6683-41D4-AC93-ADCD8B85A5E3}" destId="{A7850C83-9B2E-4FA4-A6E4-E7CD0EAD29BB}" srcOrd="0" destOrd="0" parTransId="{793C743F-125E-4087-8347-B407E2FD1FC5}" sibTransId="{88A0F63A-A56B-44FD-BADE-DC9127CC7408}"/>
    <dgm:cxn modelId="{F19F738B-A005-4153-956D-B79023D3C872}" srcId="{EB864A19-6683-41D4-AC93-ADCD8B85A5E3}" destId="{6232453E-2C6D-4C44-8F0B-05A588320A1A}" srcOrd="1" destOrd="0" parTransId="{F4616531-91F7-4EF9-867D-C35D84CB85C3}" sibTransId="{6FD4DFC9-7349-4AF4-96BC-AE2D3622F9F7}"/>
    <dgm:cxn modelId="{601DC984-CC35-456E-99CD-46FB5DFB6C99}" type="presParOf" srcId="{4FE43339-BA0A-477B-BCBF-B250819ACBCB}" destId="{4F27D2C9-31E1-4F7C-BDA3-2906395F43B2}" srcOrd="0" destOrd="0" presId="urn:microsoft.com/office/officeart/2005/8/layout/arrow4"/>
    <dgm:cxn modelId="{077E3B4C-DD9E-429B-A940-3CA3585C2E14}" type="presParOf" srcId="{4FE43339-BA0A-477B-BCBF-B250819ACBCB}" destId="{2EEDF1B8-04FC-493B-A02F-51EF8D5FD435}" srcOrd="1" destOrd="0" presId="urn:microsoft.com/office/officeart/2005/8/layout/arrow4"/>
    <dgm:cxn modelId="{848B0432-B86F-4C3D-A48F-C2079A5EFE05}" type="presParOf" srcId="{4FE43339-BA0A-477B-BCBF-B250819ACBCB}" destId="{72A5BC80-9E8B-43EF-8901-2295CD21BFDE}" srcOrd="2" destOrd="0" presId="urn:microsoft.com/office/officeart/2005/8/layout/arrow4"/>
    <dgm:cxn modelId="{9F5E05B0-AF50-4C45-9616-AD27714C3B65}" type="presParOf" srcId="{4FE43339-BA0A-477B-BCBF-B250819ACBCB}" destId="{9A342F3A-33E8-411F-B0E2-FF736E6D8D9C}"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7D2C9-31E1-4F7C-BDA3-2906395F43B2}">
      <dsp:nvSpPr>
        <dsp:cNvPr id="0" name=""/>
        <dsp:cNvSpPr/>
      </dsp:nvSpPr>
      <dsp:spPr>
        <a:xfrm>
          <a:off x="2479" y="0"/>
          <a:ext cx="1487742" cy="1169594"/>
        </a:xfrm>
        <a:prstGeom prst="up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EDF1B8-04FC-493B-A02F-51EF8D5FD435}">
      <dsp:nvSpPr>
        <dsp:cNvPr id="0" name=""/>
        <dsp:cNvSpPr/>
      </dsp:nvSpPr>
      <dsp:spPr>
        <a:xfrm>
          <a:off x="1534854" y="0"/>
          <a:ext cx="2524653" cy="1169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0" rIns="227584" bIns="227584" numCol="1" spcCol="1270" anchor="ctr" anchorCtr="0">
          <a:noAutofit/>
        </a:bodyPr>
        <a:lstStyle/>
        <a:p>
          <a:pPr marL="0" lvl="0" indent="0" algn="l" defTabSz="1422400">
            <a:lnSpc>
              <a:spcPct val="90000"/>
            </a:lnSpc>
            <a:spcBef>
              <a:spcPct val="0"/>
            </a:spcBef>
            <a:spcAft>
              <a:spcPct val="35000"/>
            </a:spcAft>
            <a:buNone/>
          </a:pPr>
          <a:r>
            <a:rPr lang="en-US" sz="3200" kern="1200" dirty="0"/>
            <a:t>Capacity</a:t>
          </a:r>
        </a:p>
      </dsp:txBody>
      <dsp:txXfrm>
        <a:off x="1534854" y="0"/>
        <a:ext cx="2524653" cy="1169594"/>
      </dsp:txXfrm>
    </dsp:sp>
    <dsp:sp modelId="{72A5BC80-9E8B-43EF-8901-2295CD21BFDE}">
      <dsp:nvSpPr>
        <dsp:cNvPr id="0" name=""/>
        <dsp:cNvSpPr/>
      </dsp:nvSpPr>
      <dsp:spPr>
        <a:xfrm>
          <a:off x="448802" y="1267060"/>
          <a:ext cx="1487742" cy="1169594"/>
        </a:xfrm>
        <a:prstGeom prst="downArrow">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342F3A-33E8-411F-B0E2-FF736E6D8D9C}">
      <dsp:nvSpPr>
        <dsp:cNvPr id="0" name=""/>
        <dsp:cNvSpPr/>
      </dsp:nvSpPr>
      <dsp:spPr>
        <a:xfrm>
          <a:off x="1981176" y="1267060"/>
          <a:ext cx="2524653" cy="1169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584" tIns="0" rIns="227584" bIns="227584" numCol="1" spcCol="1270" anchor="ctr" anchorCtr="0">
          <a:noAutofit/>
        </a:bodyPr>
        <a:lstStyle/>
        <a:p>
          <a:pPr marL="0" lvl="0" indent="0" algn="l" defTabSz="1422400">
            <a:lnSpc>
              <a:spcPct val="90000"/>
            </a:lnSpc>
            <a:spcBef>
              <a:spcPct val="0"/>
            </a:spcBef>
            <a:spcAft>
              <a:spcPct val="35000"/>
            </a:spcAft>
            <a:buNone/>
          </a:pPr>
          <a:r>
            <a:rPr lang="en-US" sz="3200" kern="1200" dirty="0"/>
            <a:t>Cost</a:t>
          </a:r>
        </a:p>
      </dsp:txBody>
      <dsp:txXfrm>
        <a:off x="1981176" y="1267060"/>
        <a:ext cx="2524653" cy="1169594"/>
      </dsp:txXfrm>
    </dsp:sp>
  </dsp:spTree>
</dsp:drawing>
</file>

<file path=ppt/diagrams/layout1.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7/3/2017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7/3/2017</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3269457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4250548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494816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dirty="0"/>
              <a:t>Gordon E. Moore noted that the number of components in integrated circuits had doubled every 18 to 24 months from the invention of the integrated circuit in 1958 until 1965. He predicted that the trend would continue for at least 10 more years.</a:t>
            </a:r>
          </a:p>
          <a:p>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4</a:t>
            </a:fld>
            <a:endParaRPr lang="en-US" dirty="0"/>
          </a:p>
        </p:txBody>
      </p:sp>
    </p:spTree>
    <p:extLst>
      <p:ext uri="{BB962C8B-B14F-4D97-AF65-F5344CB8AC3E}">
        <p14:creationId xmlns:p14="http://schemas.microsoft.com/office/powerpoint/2010/main" val="2401679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t>Each doubling of capacity was done at half the cost. This means that a component that cost $100 would have twice the capability but would cost only $50 within 18 to 24 months. </a:t>
            </a:r>
          </a:p>
          <a:p>
            <a:endParaRPr lang="en-US" dirty="0"/>
          </a:p>
          <a:p>
            <a:r>
              <a:rPr lang="en-US" dirty="0"/>
              <a:t>Moore’s law proved to be an accurate representation of a trend that continues today. Specifically, the capacity and capability of integrated circuits have doubled and the cost has been halved every 18 to 24 months since Moore noted the trend.</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5</a:t>
            </a:fld>
            <a:endParaRPr lang="en-US" dirty="0"/>
          </a:p>
        </p:txBody>
      </p:sp>
    </p:spTree>
    <p:extLst>
      <p:ext uri="{BB962C8B-B14F-4D97-AF65-F5344CB8AC3E}">
        <p14:creationId xmlns:p14="http://schemas.microsoft.com/office/powerpoint/2010/main" val="3079493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6</a:t>
            </a:fld>
            <a:endParaRPr lang="en-US" dirty="0"/>
          </a:p>
        </p:txBody>
      </p:sp>
    </p:spTree>
    <p:extLst>
      <p:ext uri="{BB962C8B-B14F-4D97-AF65-F5344CB8AC3E}">
        <p14:creationId xmlns:p14="http://schemas.microsoft.com/office/powerpoint/2010/main" val="1584239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7</a:t>
            </a:fld>
            <a:endParaRPr lang="en-US" dirty="0"/>
          </a:p>
        </p:txBody>
      </p:sp>
    </p:spTree>
    <p:extLst>
      <p:ext uri="{BB962C8B-B14F-4D97-AF65-F5344CB8AC3E}">
        <p14:creationId xmlns:p14="http://schemas.microsoft.com/office/powerpoint/2010/main" val="1063021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Digital storage capacity for a particular device might double in a year. The data that you might need to analyze could easily experience double that growth level.</a:t>
            </a:r>
          </a:p>
          <a:p>
            <a:pPr marL="0" indent="0">
              <a:buFont typeface="Arial" pitchFamily="34" charset="0"/>
              <a:buNone/>
            </a:pPr>
            <a:endParaRPr lang="en-US" dirty="0"/>
          </a:p>
          <a:p>
            <a:pPr marL="0" indent="0">
              <a:buFont typeface="Arial" pitchFamily="34" charset="0"/>
              <a:buNone/>
            </a:pPr>
            <a:r>
              <a:rPr lang="en-US" dirty="0"/>
              <a:t>A standard point-and-shoot digital camera now takes 5-megapixel photos. High-end cameras take 16-megapixel—or larger—photos. A typical Windows XP build</a:t>
            </a:r>
          </a:p>
          <a:p>
            <a:pPr marL="0" indent="0">
              <a:buFont typeface="Arial" pitchFamily="34" charset="0"/>
              <a:buNone/>
            </a:pPr>
            <a:r>
              <a:rPr lang="en-US" dirty="0"/>
              <a:t>consumes roughly 4 GB of disk space. A typical Windows 8 build consumes 8 GB to 10 GB. Although a single copy of a file or data record might be maintained for active use, you must often locate and examine all prior copies of that file.</a:t>
            </a:r>
          </a:p>
          <a:p>
            <a:pPr marL="0" indent="0">
              <a:buFont typeface="Arial" pitchFamily="34" charset="0"/>
              <a:buNone/>
            </a:pPr>
            <a:endParaRPr lang="en-US" dirty="0"/>
          </a:p>
          <a:p>
            <a:pPr marL="0" indent="0">
              <a:buFont typeface="Arial" pitchFamily="34" charset="0"/>
              <a:buNone/>
            </a:pPr>
            <a:r>
              <a:rPr lang="en-US" dirty="0"/>
              <a:t>Selectivity is not unique to the digital world. It is the same concept that investigators have used for years to follow leads. For example, they often start by interviewing the most likely suspects and follow where the data leads to reach a conclusion. However, the U.S. legal system, helped by advertising and popular</a:t>
            </a:r>
          </a:p>
          <a:p>
            <a:pPr marL="0" indent="0">
              <a:buFont typeface="Arial" pitchFamily="34" charset="0"/>
              <a:buNone/>
            </a:pPr>
            <a:r>
              <a:rPr lang="en-US" dirty="0"/>
              <a:t>television, expects digital forensics to be unconstrained by such mundane factors as time, money, and available technology.</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8</a:t>
            </a:fld>
            <a:endParaRPr lang="en-US" dirty="0"/>
          </a:p>
        </p:txBody>
      </p:sp>
    </p:spTree>
    <p:extLst>
      <p:ext uri="{BB962C8B-B14F-4D97-AF65-F5344CB8AC3E}">
        <p14:creationId xmlns:p14="http://schemas.microsoft.com/office/powerpoint/2010/main" val="3492847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9</a:t>
            </a:fld>
            <a:endParaRPr lang="en-US" dirty="0"/>
          </a:p>
        </p:txBody>
      </p:sp>
    </p:spTree>
    <p:extLst>
      <p:ext uri="{BB962C8B-B14F-4D97-AF65-F5344CB8AC3E}">
        <p14:creationId xmlns:p14="http://schemas.microsoft.com/office/powerpoint/2010/main" val="2501004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Over the years, several models for selling software have emerged:</a:t>
            </a:r>
          </a:p>
          <a:p>
            <a:pPr marL="171450" indent="-171450">
              <a:buFont typeface="Arial" pitchFamily="34" charset="0"/>
              <a:buChar char="•"/>
            </a:pPr>
            <a:r>
              <a:rPr lang="en-US" dirty="0"/>
              <a:t>Bundled product—Includes hardware, software, maintenance, and support sold together for a single price. It wasn’t long before the industry recognized that it could sell software products individually. This resulted in the rise of companies such as Microsoft.</a:t>
            </a:r>
          </a:p>
          <a:p>
            <a:pPr marL="171450" indent="-171450">
              <a:buFont typeface="Arial" pitchFamily="34" charset="0"/>
              <a:buChar char="•"/>
            </a:pPr>
            <a:r>
              <a:rPr lang="en-US" dirty="0"/>
              <a:t>Time-sharing—The price of the software was essentially embedded in a mathematical algorithm, and a user paid for software based on his or her usage profile. This pricing model continued into personal computer (PC) and server technology. Then the pricing algorithm was changed to address a number of concurrent users, a number of instances, or some other model. </a:t>
            </a:r>
          </a:p>
          <a:p>
            <a:pPr marL="171450" indent="-171450">
              <a:buFont typeface="Arial" pitchFamily="34" charset="0"/>
              <a:buChar char="•"/>
            </a:pPr>
            <a:r>
              <a:rPr lang="en-US" dirty="0"/>
              <a:t>Software as a Service (SaaS)—A provider licenses software to customers as a service on demand, through a subscription model.</a:t>
            </a:r>
          </a:p>
          <a:p>
            <a:pPr marL="171450" indent="-171450">
              <a:buFont typeface="Arial" pitchFamily="34" charset="0"/>
              <a:buChar char="•"/>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10</a:t>
            </a:fld>
            <a:endParaRPr lang="en-US" dirty="0"/>
          </a:p>
        </p:txBody>
      </p:sp>
    </p:spTree>
    <p:extLst>
      <p:ext uri="{BB962C8B-B14F-4D97-AF65-F5344CB8AC3E}">
        <p14:creationId xmlns:p14="http://schemas.microsoft.com/office/powerpoint/2010/main" val="193340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b="1" dirty="0"/>
              <a:t>Who owns the software?</a:t>
            </a:r>
          </a:p>
          <a:p>
            <a:pPr marL="0" indent="0">
              <a:buFont typeface="Arial" pitchFamily="34" charset="0"/>
              <a:buNone/>
            </a:pPr>
            <a:r>
              <a:rPr lang="en-US" dirty="0"/>
              <a:t>Know whom to contact to obtain information regarding the functionality and patch levels of software.</a:t>
            </a:r>
          </a:p>
          <a:p>
            <a:pPr marL="0" indent="0">
              <a:buFont typeface="Arial" pitchFamily="34" charset="0"/>
              <a:buNone/>
            </a:pPr>
            <a:endParaRPr lang="en-US" dirty="0"/>
          </a:p>
          <a:p>
            <a:pPr marL="0" indent="0">
              <a:buFont typeface="Arial" pitchFamily="34" charset="0"/>
              <a:buNone/>
            </a:pPr>
            <a:r>
              <a:rPr lang="en-US" b="1" dirty="0"/>
              <a:t>How can you get access to the program code?</a:t>
            </a:r>
          </a:p>
          <a:p>
            <a:pPr marL="0" indent="0">
              <a:buFont typeface="Arial" pitchFamily="34" charset="0"/>
              <a:buNone/>
            </a:pPr>
            <a:r>
              <a:rPr lang="en-US" dirty="0"/>
              <a:t>When software is obtained as a shared service, access is usually not possible. In such cases, use alternative techniques.</a:t>
            </a:r>
          </a:p>
          <a:p>
            <a:pPr marL="0" indent="0">
              <a:buFont typeface="Arial" pitchFamily="34" charset="0"/>
              <a:buNone/>
            </a:pPr>
            <a:endParaRPr lang="en-US" dirty="0"/>
          </a:p>
          <a:p>
            <a:pPr marL="0" indent="0">
              <a:buFont typeface="Arial" pitchFamily="34" charset="0"/>
              <a:buNone/>
            </a:pPr>
            <a:r>
              <a:rPr lang="en-US" b="1" dirty="0"/>
              <a:t>What assurance do you have of the safety of a software product?</a:t>
            </a:r>
          </a:p>
          <a:p>
            <a:pPr marL="0" indent="0">
              <a:buFont typeface="Arial" pitchFamily="34" charset="0"/>
              <a:buNone/>
            </a:pPr>
            <a:r>
              <a:rPr lang="en-US" dirty="0"/>
              <a:t>You need to know that a particular software product doesn’t contain malware that could alter the investigation.</a:t>
            </a:r>
          </a:p>
          <a:p>
            <a:pPr marL="0" indent="0">
              <a:buFont typeface="Arial" pitchFamily="34" charset="0"/>
              <a:buNone/>
            </a:pPr>
            <a:endParaRPr lang="en-US" dirty="0"/>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11</a:t>
            </a:fld>
            <a:endParaRPr lang="en-US" dirty="0"/>
          </a:p>
        </p:txBody>
      </p:sp>
    </p:spTree>
    <p:extLst>
      <p:ext uri="{BB962C8B-B14F-4D97-AF65-F5344CB8AC3E}">
        <p14:creationId xmlns:p14="http://schemas.microsoft.com/office/powerpoint/2010/main" val="395655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12</a:t>
            </a:fld>
            <a:endParaRPr lang="en-US" dirty="0"/>
          </a:p>
        </p:txBody>
      </p:sp>
    </p:spTree>
    <p:extLst>
      <p:ext uri="{BB962C8B-B14F-4D97-AF65-F5344CB8AC3E}">
        <p14:creationId xmlns:p14="http://schemas.microsoft.com/office/powerpoint/2010/main" val="2567553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b="1" dirty="0"/>
              <a:t>Data acquisition complications</a:t>
            </a:r>
          </a:p>
          <a:p>
            <a:pPr marL="171450" indent="-171450">
              <a:buFont typeface="Arial" panose="020B0604020202020204" pitchFamily="34" charset="0"/>
              <a:buChar char="•"/>
            </a:pPr>
            <a:r>
              <a:rPr lang="en-US" dirty="0"/>
              <a:t>Each hosted server is usually in a separate virtual machine. </a:t>
            </a:r>
          </a:p>
          <a:p>
            <a:pPr marL="171450" indent="-171450">
              <a:buFont typeface="Arial" panose="020B0604020202020204" pitchFamily="34" charset="0"/>
              <a:buChar char="•"/>
            </a:pPr>
            <a:r>
              <a:rPr lang="en-US" dirty="0"/>
              <a:t>For forensics, must be imaged.</a:t>
            </a:r>
          </a:p>
          <a:p>
            <a:pPr marL="171450" indent="-171450">
              <a:buFont typeface="Arial" panose="020B0604020202020204" pitchFamily="34" charset="0"/>
              <a:buChar char="•"/>
            </a:pPr>
            <a:r>
              <a:rPr lang="en-US" dirty="0"/>
              <a:t>But virtual machine is hosted on a host server. In addition to the virtual machine’s logs, you will need to retrieve the logs for the host server or servers.</a:t>
            </a:r>
          </a:p>
          <a:p>
            <a:pPr marL="0" indent="0">
              <a:buFont typeface="Arial" pitchFamily="34" charset="0"/>
              <a:buNone/>
            </a:pPr>
            <a:endParaRPr lang="en-US" dirty="0"/>
          </a:p>
          <a:p>
            <a:pPr marL="0" indent="0">
              <a:buFont typeface="Arial" pitchFamily="34" charset="0"/>
              <a:buNone/>
            </a:pPr>
            <a:r>
              <a:rPr lang="en-US" b="1" dirty="0"/>
              <a:t>Legal complications</a:t>
            </a:r>
          </a:p>
          <a:p>
            <a:pPr marL="0" indent="0">
              <a:buFont typeface="Arial" pitchFamily="34" charset="0"/>
              <a:buNone/>
            </a:pPr>
            <a:r>
              <a:rPr lang="en-US" dirty="0"/>
              <a:t>Because a cloud could potentially reach across multiple states or even nations, the investigator must be aware of the rules of seizure, privacy, and so forth in each location from which he or she will retrieve data.</a:t>
            </a:r>
          </a:p>
          <a:p>
            <a:pPr marL="0" indent="0">
              <a:buFont typeface="Arial" pitchFamily="34" charset="0"/>
              <a:buNone/>
            </a:pPr>
            <a:endParaRPr lang="en-US" dirty="0"/>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13</a:t>
            </a:fld>
            <a:endParaRPr lang="en-US" dirty="0"/>
          </a:p>
        </p:txBody>
      </p:sp>
    </p:spTree>
    <p:extLst>
      <p:ext uri="{BB962C8B-B14F-4D97-AF65-F5344CB8AC3E}">
        <p14:creationId xmlns:p14="http://schemas.microsoft.com/office/powerpoint/2010/main" val="310228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14</a:t>
            </a:fld>
            <a:endParaRPr lang="en-US" dirty="0"/>
          </a:p>
        </p:txBody>
      </p:sp>
    </p:spTree>
    <p:extLst>
      <p:ext uri="{BB962C8B-B14F-4D97-AF65-F5344CB8AC3E}">
        <p14:creationId xmlns:p14="http://schemas.microsoft.com/office/powerpoint/2010/main" val="808112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15</a:t>
            </a:fld>
            <a:endParaRPr lang="en-US" dirty="0"/>
          </a:p>
        </p:txBody>
      </p:sp>
    </p:spTree>
    <p:extLst>
      <p:ext uri="{BB962C8B-B14F-4D97-AF65-F5344CB8AC3E}">
        <p14:creationId xmlns:p14="http://schemas.microsoft.com/office/powerpoint/2010/main" val="1816562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Google Glass includes permanent storage via a small hard drive and has the ability to record images and video. At a minimum, Google Glass could contain photographic or video evidence of a crime. It uses an Android operating system, which is Linux-based. This means that you can execute Linux commands to create an image of the Google Glass partition. After the partition is imaged, it can be examined forensically, just as any Linux partition would be.</a:t>
            </a:r>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16</a:t>
            </a:fld>
            <a:endParaRPr lang="en-US" dirty="0"/>
          </a:p>
        </p:txBody>
      </p:sp>
    </p:spTree>
    <p:extLst>
      <p:ext uri="{BB962C8B-B14F-4D97-AF65-F5344CB8AC3E}">
        <p14:creationId xmlns:p14="http://schemas.microsoft.com/office/powerpoint/2010/main" val="1810196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17</a:t>
            </a:fld>
            <a:endParaRPr lang="en-US" dirty="0"/>
          </a:p>
        </p:txBody>
      </p:sp>
    </p:spTree>
    <p:extLst>
      <p:ext uri="{BB962C8B-B14F-4D97-AF65-F5344CB8AC3E}">
        <p14:creationId xmlns:p14="http://schemas.microsoft.com/office/powerpoint/2010/main" val="589693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18</a:t>
            </a:fld>
            <a:endParaRPr lang="en-US" dirty="0"/>
          </a:p>
        </p:txBody>
      </p:sp>
    </p:spTree>
    <p:extLst>
      <p:ext uri="{BB962C8B-B14F-4D97-AF65-F5344CB8AC3E}">
        <p14:creationId xmlns:p14="http://schemas.microsoft.com/office/powerpoint/2010/main" val="77783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19</a:t>
            </a:fld>
            <a:endParaRPr lang="en-US" dirty="0"/>
          </a:p>
        </p:txBody>
      </p:sp>
    </p:spTree>
    <p:extLst>
      <p:ext uri="{BB962C8B-B14F-4D97-AF65-F5344CB8AC3E}">
        <p14:creationId xmlns:p14="http://schemas.microsoft.com/office/powerpoint/2010/main" val="2640769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20</a:t>
            </a:fld>
            <a:endParaRPr lang="en-US" dirty="0"/>
          </a:p>
        </p:txBody>
      </p:sp>
    </p:spTree>
    <p:extLst>
      <p:ext uri="{BB962C8B-B14F-4D97-AF65-F5344CB8AC3E}">
        <p14:creationId xmlns:p14="http://schemas.microsoft.com/office/powerpoint/2010/main" val="32277216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21</a:t>
            </a:fld>
            <a:endParaRPr lang="en-US" dirty="0"/>
          </a:p>
        </p:txBody>
      </p:sp>
    </p:spTree>
    <p:extLst>
      <p:ext uri="{BB962C8B-B14F-4D97-AF65-F5344CB8AC3E}">
        <p14:creationId xmlns:p14="http://schemas.microsoft.com/office/powerpoint/2010/main" val="2637043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The USA Patriot Act has had profound impact on digital forensics.</a:t>
            </a:r>
          </a:p>
          <a:p>
            <a:pPr marL="0" indent="0">
              <a:buFont typeface="Arial" pitchFamily="34" charset="0"/>
              <a:buNone/>
            </a:pPr>
            <a:r>
              <a:rPr lang="en-US" dirty="0"/>
              <a:t>Though it was designed to combat terrorism, the Patriot Act has affected computer crime.</a:t>
            </a:r>
          </a:p>
          <a:p>
            <a:pPr marL="0" indent="0">
              <a:buFont typeface="Arial" pitchFamily="34" charset="0"/>
              <a:buNone/>
            </a:pPr>
            <a:r>
              <a:rPr lang="en-US" dirty="0"/>
              <a:t>Prior to the Patriot Act, Internet service providers were very limited in what they could share with law enforcement without warrants or subpoenas. Now, they can choose to notify law enforcement if they reasonably believe that they have found evidence of an imminent crime that would endanger lives.</a:t>
            </a:r>
          </a:p>
          <a:p>
            <a:pPr marL="0" indent="0">
              <a:buFont typeface="Arial" pitchFamily="34" charset="0"/>
              <a:buNone/>
            </a:pPr>
            <a:endParaRPr lang="en-US" dirty="0"/>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22</a:t>
            </a:fld>
            <a:endParaRPr lang="en-US" dirty="0"/>
          </a:p>
        </p:txBody>
      </p:sp>
    </p:spTree>
    <p:extLst>
      <p:ext uri="{BB962C8B-B14F-4D97-AF65-F5344CB8AC3E}">
        <p14:creationId xmlns:p14="http://schemas.microsoft.com/office/powerpoint/2010/main" val="2495165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23</a:t>
            </a:fld>
            <a:endParaRPr lang="en-US" dirty="0"/>
          </a:p>
        </p:txBody>
      </p:sp>
    </p:spTree>
    <p:extLst>
      <p:ext uri="{BB962C8B-B14F-4D97-AF65-F5344CB8AC3E}">
        <p14:creationId xmlns:p14="http://schemas.microsoft.com/office/powerpoint/2010/main" val="2792796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Private forensic labs are becoming more common. These laboratories handle forensic examinations for private companies, for attorneys, and sometimes for law enforcement agencies. Private labs can gather evidence, analyze it, and produce reports regarding their findings. This data might be used in civil litigation or simply to ascertain the cause of an incident.</a:t>
            </a:r>
          </a:p>
          <a:p>
            <a:pPr marL="0" indent="0">
              <a:buFont typeface="Arial" pitchFamily="34" charset="0"/>
              <a:buNone/>
            </a:pPr>
            <a:endParaRPr lang="en-US" dirty="0"/>
          </a:p>
          <a:p>
            <a:pPr marL="0" indent="0">
              <a:buFont typeface="Arial" pitchFamily="34" charset="0"/>
              <a:buNone/>
            </a:pPr>
            <a:r>
              <a:rPr lang="en-US" dirty="0"/>
              <a:t>Defense attorneys often want their own lab to examine evidence in order to challenge the findings of the state’s lab. The goal may be to confirm or deny what the prosecution has presented or to find some flaw in the methodology utilized by the prosecution.</a:t>
            </a:r>
          </a:p>
          <a:p>
            <a:pPr marL="0" indent="0">
              <a:buFont typeface="Arial" pitchFamily="34" charset="0"/>
              <a:buNone/>
            </a:pPr>
            <a:endParaRPr lang="en-US" dirty="0"/>
          </a:p>
          <a:p>
            <a:pPr marL="0" indent="0">
              <a:buFont typeface="Arial" pitchFamily="34" charset="0"/>
              <a:buNone/>
            </a:pPr>
            <a:r>
              <a:rPr lang="en-US" dirty="0"/>
              <a:t>In some cases, the defense is simply seeking grounds for a reasonable doubt that the defendant committed the crime. For example, if the defendant is accused of sending a virus to a victim, and if that virus, along with virus creation utilities, is found on his or her computer, it may seem a hopeless case. However, if the defense can show that other people had access to the computer, or even that other users logged on around the time the virus was sent, this provides reasonable doubt.</a:t>
            </a:r>
          </a:p>
          <a:p>
            <a:pPr marL="0" indent="0">
              <a:buFont typeface="Arial" pitchFamily="34" charset="0"/>
              <a:buNone/>
            </a:pPr>
            <a:endParaRPr lang="en-US" dirty="0"/>
          </a:p>
          <a:p>
            <a:pPr marL="0" indent="0">
              <a:buFont typeface="Arial" pitchFamily="34" charset="0"/>
              <a:buNone/>
            </a:pPr>
            <a:r>
              <a:rPr lang="en-US" dirty="0"/>
              <a:t>In addition, it is becoming increasingly common for smaller police departments to outsource their computer forensics to private labs because it is often more cost effective. </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24</a:t>
            </a:fld>
            <a:endParaRPr lang="en-US" dirty="0"/>
          </a:p>
        </p:txBody>
      </p:sp>
    </p:spTree>
    <p:extLst>
      <p:ext uri="{BB962C8B-B14F-4D97-AF65-F5344CB8AC3E}">
        <p14:creationId xmlns:p14="http://schemas.microsoft.com/office/powerpoint/2010/main" val="1132406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25</a:t>
            </a:fld>
            <a:endParaRPr lang="en-US" dirty="0"/>
          </a:p>
        </p:txBody>
      </p:sp>
    </p:spTree>
    <p:extLst>
      <p:ext uri="{BB962C8B-B14F-4D97-AF65-F5344CB8AC3E}">
        <p14:creationId xmlns:p14="http://schemas.microsoft.com/office/powerpoint/2010/main" val="1040264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itchFamily="34" charset="0"/>
              <a:buNone/>
            </a:pPr>
            <a:r>
              <a:rPr lang="en-US" dirty="0"/>
              <a:t>Techniques are always evolving. Because the Daubert standard requires that scientific evidence presented in court be generally accepted in the relevant scientific field, new techniques need to be verified before being used in court. Forensic investigators should be aware of changes in technology and have at least a basic familiarity with emerging technologies and techniques. Even if they are not currently being used in court, they could be soon.</a:t>
            </a:r>
          </a:p>
          <a:p>
            <a:pPr marL="0" indent="0">
              <a:buFont typeface="Arial" pitchFamily="34" charset="0"/>
              <a:buNone/>
            </a:pPr>
            <a:endParaRPr lang="en-US" dirty="0"/>
          </a:p>
        </p:txBody>
      </p:sp>
      <p:sp>
        <p:nvSpPr>
          <p:cNvPr id="33796" name="Date Placeholder 3"/>
          <p:cNvSpPr>
            <a:spLocks noGrp="1"/>
          </p:cNvSpPr>
          <p:nvPr>
            <p:ph type="dt" sz="quarter" idx="1"/>
          </p:nvPr>
        </p:nvSpPr>
        <p:spPr>
          <a:noFill/>
        </p:spPr>
        <p:txBody>
          <a:bodyPr/>
          <a:lstStyle/>
          <a:p>
            <a:pPr defTabSz="931863"/>
            <a:fld id="{FAF7A8D5-C66E-4D05-AE80-FEFDB7A89A34}" type="datetime1">
              <a:rPr lang="en-US" smtClean="0"/>
              <a:pPr defTabSz="931863"/>
              <a:t>7/3/2017</a:t>
            </a:fld>
            <a:endParaRPr lang="en-US" dirty="0"/>
          </a:p>
        </p:txBody>
      </p:sp>
      <p:sp>
        <p:nvSpPr>
          <p:cNvPr id="33798" name="Slide Number Placeholder 5"/>
          <p:cNvSpPr>
            <a:spLocks noGrp="1"/>
          </p:cNvSpPr>
          <p:nvPr>
            <p:ph type="sldNum" sz="quarter" idx="5"/>
          </p:nvPr>
        </p:nvSpPr>
        <p:spPr>
          <a:noFill/>
        </p:spPr>
        <p:txBody>
          <a:bodyPr/>
          <a:lstStyle/>
          <a:p>
            <a:pPr defTabSz="931863"/>
            <a:fld id="{0CC92710-4411-4856-9FA9-42A943A8DE8E}" type="slidenum">
              <a:rPr lang="en-US" smtClean="0"/>
              <a:pPr defTabSz="931863"/>
              <a:t>26</a:t>
            </a:fld>
            <a:endParaRPr lang="en-US" dirty="0"/>
          </a:p>
        </p:txBody>
      </p:sp>
    </p:spTree>
    <p:extLst>
      <p:ext uri="{BB962C8B-B14F-4D97-AF65-F5344CB8AC3E}">
        <p14:creationId xmlns:p14="http://schemas.microsoft.com/office/powerpoint/2010/main" val="1395406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096232"/>
          </a:xfrm>
        </p:spPr>
        <p:txBody>
          <a:bodyPr/>
          <a:lstStyle/>
          <a:p>
            <a:pPr algn="ctr"/>
            <a:r>
              <a:rPr lang="en-US" sz="4000" b="1" dirty="0"/>
              <a:t>System Forensics, Investigation, and Response</a:t>
            </a:r>
          </a:p>
          <a:p>
            <a:pPr algn="ctr"/>
            <a:endParaRPr lang="en-US" b="1" dirty="0"/>
          </a:p>
          <a:p>
            <a:pPr algn="ctr"/>
            <a:r>
              <a:rPr lang="en-US" b="1" dirty="0"/>
              <a:t>Lesson 14</a:t>
            </a:r>
          </a:p>
          <a:p>
            <a:pPr algn="ctr"/>
            <a:r>
              <a:rPr lang="en-US" b="1" dirty="0"/>
              <a:t>Trends and Future Directions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828800"/>
            <a:ext cx="8299450" cy="4326340"/>
          </a:xfrm>
        </p:spPr>
        <p:txBody>
          <a:bodyPr/>
          <a:lstStyle/>
          <a:p>
            <a:r>
              <a:rPr lang="en-US" sz="2800" dirty="0"/>
              <a:t>Identify trends in and resources for digital forensics.</a:t>
            </a:r>
          </a:p>
          <a:p>
            <a:pPr>
              <a:buFont typeface="Wingdings" pitchFamily="2" charset="2"/>
              <a:buNone/>
            </a:pPr>
            <a:endParaRPr lang="en-US" sz="1000" dirty="0"/>
          </a:p>
          <a:p>
            <a:pPr>
              <a:buFont typeface="Wingdings" pitchFamily="2" charset="2"/>
              <a:buNone/>
            </a:pPr>
            <a:endParaRPr lang="en-US" sz="3200" b="1"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828800"/>
            <a:ext cx="8299450" cy="4326340"/>
          </a:xfrm>
        </p:spPr>
        <p:txBody>
          <a:bodyPr/>
          <a:lstStyle/>
          <a:p>
            <a:r>
              <a:rPr lang="en-US" sz="2800" dirty="0"/>
              <a:t>Technical trends</a:t>
            </a:r>
          </a:p>
          <a:p>
            <a:r>
              <a:rPr lang="en-US" sz="2800" dirty="0"/>
              <a:t>Legal and procedural trends</a:t>
            </a:r>
          </a:p>
          <a:p>
            <a:endParaRPr lang="en-US" sz="2800" dirty="0"/>
          </a:p>
        </p:txBody>
      </p:sp>
    </p:spTree>
    <p:extLst>
      <p:ext uri="{BB962C8B-B14F-4D97-AF65-F5344CB8AC3E}">
        <p14:creationId xmlns:p14="http://schemas.microsoft.com/office/powerpoint/2010/main" val="173531844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Technical Trends: Moore's Law</a:t>
            </a:r>
          </a:p>
        </p:txBody>
      </p:sp>
      <p:sp>
        <p:nvSpPr>
          <p:cNvPr id="9219" name="Content Placeholder 2"/>
          <p:cNvSpPr>
            <a:spLocks noGrp="1"/>
          </p:cNvSpPr>
          <p:nvPr>
            <p:ph idx="1"/>
          </p:nvPr>
        </p:nvSpPr>
        <p:spPr>
          <a:xfrm>
            <a:off x="539750" y="1255594"/>
            <a:ext cx="8299450" cy="4465756"/>
          </a:xfrm>
        </p:spPr>
        <p:txBody>
          <a:bodyPr/>
          <a:lstStyle/>
          <a:p>
            <a:r>
              <a:rPr lang="en-US" sz="3000" dirty="0"/>
              <a:t>Based on prediction by Gordon E. Moore:</a:t>
            </a:r>
          </a:p>
          <a:p>
            <a:pPr lvl="1"/>
            <a:r>
              <a:rPr lang="en-US" sz="2600" dirty="0"/>
              <a:t>Number of transistors on an integrated circuit would double every two years for the next 10 years</a:t>
            </a:r>
          </a:p>
          <a:p>
            <a:pPr lvl="1"/>
            <a:r>
              <a:rPr lang="en-US" sz="2600" dirty="0"/>
              <a:t>Trend would continue for at least 10 more years</a:t>
            </a:r>
          </a:p>
        </p:txBody>
      </p:sp>
    </p:spTree>
    <p:extLst>
      <p:ext uri="{BB962C8B-B14F-4D97-AF65-F5344CB8AC3E}">
        <p14:creationId xmlns:p14="http://schemas.microsoft.com/office/powerpoint/2010/main" val="9258524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Technical Trends: Moore's Law (Cont.)</a:t>
            </a:r>
          </a:p>
        </p:txBody>
      </p:sp>
      <p:sp>
        <p:nvSpPr>
          <p:cNvPr id="9219" name="Content Placeholder 2"/>
          <p:cNvSpPr>
            <a:spLocks noGrp="1"/>
          </p:cNvSpPr>
          <p:nvPr>
            <p:ph idx="1"/>
          </p:nvPr>
        </p:nvSpPr>
        <p:spPr>
          <a:xfrm>
            <a:off x="539750" y="1859280"/>
            <a:ext cx="8299450" cy="3862070"/>
          </a:xfrm>
        </p:spPr>
        <p:txBody>
          <a:bodyPr/>
          <a:lstStyle/>
          <a:p>
            <a:r>
              <a:rPr lang="en-US" sz="3000" dirty="0"/>
              <a:t>Capacity and capability of integrated circuits have doubled and cost has been halved every 18 to 24 months since Moore noted the trend</a:t>
            </a:r>
          </a:p>
        </p:txBody>
      </p:sp>
      <p:graphicFrame>
        <p:nvGraphicFramePr>
          <p:cNvPr id="5" name="Diagram 4"/>
          <p:cNvGraphicFramePr/>
          <p:nvPr>
            <p:extLst>
              <p:ext uri="{D42A27DB-BD31-4B8C-83A1-F6EECF244321}">
                <p14:modId xmlns:p14="http://schemas.microsoft.com/office/powerpoint/2010/main" val="1010254876"/>
              </p:ext>
            </p:extLst>
          </p:nvPr>
        </p:nvGraphicFramePr>
        <p:xfrm>
          <a:off x="2415654" y="3474719"/>
          <a:ext cx="4508310" cy="24366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016637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Technical Trends: Moore's Law (Cont.)</a:t>
            </a:r>
          </a:p>
        </p:txBody>
      </p:sp>
      <p:sp>
        <p:nvSpPr>
          <p:cNvPr id="9219" name="Content Placeholder 2"/>
          <p:cNvSpPr>
            <a:spLocks noGrp="1"/>
          </p:cNvSpPr>
          <p:nvPr>
            <p:ph idx="1"/>
          </p:nvPr>
        </p:nvSpPr>
        <p:spPr>
          <a:xfrm>
            <a:off x="539750" y="1828800"/>
            <a:ext cx="8299450" cy="3892550"/>
          </a:xfrm>
        </p:spPr>
        <p:txBody>
          <a:bodyPr/>
          <a:lstStyle/>
          <a:p>
            <a:r>
              <a:rPr lang="en-US" sz="3200" dirty="0"/>
              <a:t>Can be seen in hundreds of modern digital devices:</a:t>
            </a:r>
          </a:p>
          <a:p>
            <a:pPr lvl="1"/>
            <a:r>
              <a:rPr lang="en-US" sz="3000" dirty="0"/>
              <a:t>DVD players</a:t>
            </a:r>
          </a:p>
          <a:p>
            <a:pPr lvl="1"/>
            <a:r>
              <a:rPr lang="en-US" sz="3000" dirty="0"/>
              <a:t>Cell phones/smartphones</a:t>
            </a:r>
          </a:p>
          <a:p>
            <a:pPr lvl="1"/>
            <a:r>
              <a:rPr lang="en-US" sz="3000" dirty="0"/>
              <a:t>Computers</a:t>
            </a:r>
          </a:p>
          <a:p>
            <a:pPr lvl="1"/>
            <a:r>
              <a:rPr lang="en-US" sz="3000" dirty="0"/>
              <a:t>Medical equipment</a:t>
            </a:r>
          </a:p>
        </p:txBody>
      </p:sp>
      <p:pic>
        <p:nvPicPr>
          <p:cNvPr id="1026" name="Picture 2" descr="C:\Users\Kim\AppData\Local\Microsoft\Windows\Temporary Internet Files\Content.IE5\3JLA9V9Q\MC90036062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1079" y="2881896"/>
            <a:ext cx="1830629" cy="43434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Kim\AppData\Local\Microsoft\Windows\Temporary Internet Files\Content.IE5\1Q3Z20ZF\MC900433826[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8670" y="4004367"/>
            <a:ext cx="1828572" cy="182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97119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Technical Trends: Moore's Law (Cont.)</a:t>
            </a:r>
          </a:p>
        </p:txBody>
      </p:sp>
      <p:sp>
        <p:nvSpPr>
          <p:cNvPr id="9219" name="Content Placeholder 2"/>
          <p:cNvSpPr>
            <a:spLocks noGrp="1"/>
          </p:cNvSpPr>
          <p:nvPr>
            <p:ph idx="1"/>
          </p:nvPr>
        </p:nvSpPr>
        <p:spPr>
          <a:xfrm>
            <a:off x="539750" y="1645920"/>
            <a:ext cx="8299450" cy="4075430"/>
          </a:xfrm>
        </p:spPr>
        <p:txBody>
          <a:bodyPr/>
          <a:lstStyle/>
          <a:p>
            <a:r>
              <a:rPr lang="en-US" sz="3200" dirty="0"/>
              <a:t>Also applies to other primary drivers of computing capability:</a:t>
            </a:r>
          </a:p>
          <a:p>
            <a:pPr lvl="1"/>
            <a:r>
              <a:rPr lang="en-US" sz="3000" dirty="0"/>
              <a:t>Storage capacity</a:t>
            </a:r>
          </a:p>
          <a:p>
            <a:pPr lvl="1"/>
            <a:r>
              <a:rPr lang="en-US" sz="3000" dirty="0"/>
              <a:t>Processor speed </a:t>
            </a:r>
          </a:p>
          <a:p>
            <a:pPr lvl="1"/>
            <a:r>
              <a:rPr lang="en-US" sz="3000" dirty="0"/>
              <a:t>Cost</a:t>
            </a:r>
          </a:p>
          <a:p>
            <a:pPr lvl="1"/>
            <a:r>
              <a:rPr lang="en-US" sz="3000" dirty="0"/>
              <a:t>Fiber optic communications</a:t>
            </a:r>
          </a:p>
          <a:p>
            <a:pPr lvl="1"/>
            <a:r>
              <a:rPr lang="en-US" sz="2800" dirty="0"/>
              <a:t>More</a:t>
            </a:r>
          </a:p>
        </p:txBody>
      </p:sp>
    </p:spTree>
    <p:extLst>
      <p:ext uri="{BB962C8B-B14F-4D97-AF65-F5344CB8AC3E}">
        <p14:creationId xmlns:p14="http://schemas.microsoft.com/office/powerpoint/2010/main" val="378601307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Moore's Law and Digital Forensics</a:t>
            </a:r>
          </a:p>
        </p:txBody>
      </p:sp>
      <p:sp>
        <p:nvSpPr>
          <p:cNvPr id="9219" name="Content Placeholder 2"/>
          <p:cNvSpPr>
            <a:spLocks noGrp="1"/>
          </p:cNvSpPr>
          <p:nvPr>
            <p:ph idx="1"/>
          </p:nvPr>
        </p:nvSpPr>
        <p:spPr>
          <a:xfrm>
            <a:off x="539750" y="1651378"/>
            <a:ext cx="8299450" cy="4069971"/>
          </a:xfrm>
        </p:spPr>
        <p:txBody>
          <a:bodyPr/>
          <a:lstStyle/>
          <a:p>
            <a:r>
              <a:rPr lang="en-US" sz="3200" dirty="0"/>
              <a:t>Investigations require analysis of an increasing volume of data from an increasing number of digital devices</a:t>
            </a:r>
          </a:p>
          <a:p>
            <a:r>
              <a:rPr lang="en-US" sz="3200" dirty="0"/>
              <a:t>Forensic specialists must develop the following to perform forensic assessments:</a:t>
            </a:r>
          </a:p>
          <a:p>
            <a:pPr lvl="1"/>
            <a:r>
              <a:rPr lang="en-US" sz="3000" dirty="0"/>
              <a:t>New techniques</a:t>
            </a:r>
          </a:p>
          <a:p>
            <a:pPr lvl="1"/>
            <a:r>
              <a:rPr lang="en-US" sz="3000" dirty="0"/>
              <a:t>New software</a:t>
            </a:r>
          </a:p>
          <a:p>
            <a:pPr lvl="1"/>
            <a:r>
              <a:rPr lang="en-US" sz="3000" dirty="0"/>
              <a:t>New hardware</a:t>
            </a:r>
          </a:p>
        </p:txBody>
      </p:sp>
    </p:spTree>
    <p:extLst>
      <p:ext uri="{BB962C8B-B14F-4D97-AF65-F5344CB8AC3E}">
        <p14:creationId xmlns:p14="http://schemas.microsoft.com/office/powerpoint/2010/main" val="298228549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Moore's Law and Digital Forensics (Cont.)</a:t>
            </a:r>
          </a:p>
        </p:txBody>
      </p:sp>
      <p:sp>
        <p:nvSpPr>
          <p:cNvPr id="9219" name="Content Placeholder 2"/>
          <p:cNvSpPr>
            <a:spLocks noGrp="1"/>
          </p:cNvSpPr>
          <p:nvPr>
            <p:ph idx="1"/>
          </p:nvPr>
        </p:nvSpPr>
        <p:spPr>
          <a:xfrm>
            <a:off x="539750" y="1651378"/>
            <a:ext cx="8299450" cy="4069971"/>
          </a:xfrm>
        </p:spPr>
        <p:txBody>
          <a:bodyPr/>
          <a:lstStyle/>
          <a:p>
            <a:r>
              <a:rPr lang="en-US" sz="3200" dirty="0"/>
              <a:t>New techniques should simplify documentation of chain of custody</a:t>
            </a:r>
          </a:p>
          <a:p>
            <a:r>
              <a:rPr lang="en-US" sz="3200" dirty="0"/>
              <a:t>Must determine what techniques have the greatest potential for obtaining needed information</a:t>
            </a:r>
          </a:p>
          <a:p>
            <a:r>
              <a:rPr lang="en-US" sz="3200" dirty="0"/>
              <a:t>Must selectively evaluate data</a:t>
            </a:r>
          </a:p>
          <a:p>
            <a:pPr lvl="1"/>
            <a:r>
              <a:rPr lang="en-US" sz="3000" dirty="0"/>
              <a:t>Analyzing all available data would too costly</a:t>
            </a:r>
          </a:p>
        </p:txBody>
      </p:sp>
    </p:spTree>
    <p:extLst>
      <p:ext uri="{BB962C8B-B14F-4D97-AF65-F5344CB8AC3E}">
        <p14:creationId xmlns:p14="http://schemas.microsoft.com/office/powerpoint/2010/main" val="191355096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Software as a Service (SaaS)</a:t>
            </a:r>
          </a:p>
        </p:txBody>
      </p:sp>
      <p:sp>
        <p:nvSpPr>
          <p:cNvPr id="9219" name="Content Placeholder 2"/>
          <p:cNvSpPr>
            <a:spLocks noGrp="1"/>
          </p:cNvSpPr>
          <p:nvPr>
            <p:ph idx="1"/>
          </p:nvPr>
        </p:nvSpPr>
        <p:spPr>
          <a:xfrm>
            <a:off x="539750" y="1255594"/>
            <a:ext cx="8299450" cy="4465756"/>
          </a:xfrm>
        </p:spPr>
        <p:txBody>
          <a:bodyPr/>
          <a:lstStyle/>
          <a:p>
            <a:r>
              <a:rPr lang="en-US" sz="3200" dirty="0"/>
              <a:t>Software0use models</a:t>
            </a:r>
          </a:p>
          <a:p>
            <a:pPr lvl="1"/>
            <a:r>
              <a:rPr lang="en-US" sz="3000" dirty="0"/>
              <a:t>Bundled software</a:t>
            </a:r>
          </a:p>
          <a:p>
            <a:pPr lvl="1"/>
            <a:r>
              <a:rPr lang="en-US" sz="3000" dirty="0"/>
              <a:t>Time-sharing software</a:t>
            </a:r>
          </a:p>
          <a:p>
            <a:pPr lvl="1"/>
            <a:r>
              <a:rPr lang="en-US" sz="3000" dirty="0"/>
              <a:t>SaaS</a:t>
            </a:r>
          </a:p>
          <a:p>
            <a:r>
              <a:rPr lang="en-US" sz="3200" dirty="0"/>
              <a:t>SaaS</a:t>
            </a:r>
          </a:p>
          <a:p>
            <a:pPr lvl="1"/>
            <a:r>
              <a:rPr lang="en-US" sz="3000" dirty="0"/>
              <a:t>Software that a provider licenses to customers as a service on demand, through a subscription model</a:t>
            </a:r>
          </a:p>
          <a:p>
            <a:endParaRPr lang="en-US" sz="3000" dirty="0"/>
          </a:p>
        </p:txBody>
      </p:sp>
    </p:spTree>
    <p:extLst>
      <p:ext uri="{BB962C8B-B14F-4D97-AF65-F5344CB8AC3E}">
        <p14:creationId xmlns:p14="http://schemas.microsoft.com/office/powerpoint/2010/main" val="86948716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Software as a Service (SaaS) (Cont.)</a:t>
            </a:r>
          </a:p>
        </p:txBody>
      </p:sp>
      <p:sp>
        <p:nvSpPr>
          <p:cNvPr id="9219" name="Content Placeholder 2"/>
          <p:cNvSpPr>
            <a:spLocks noGrp="1"/>
          </p:cNvSpPr>
          <p:nvPr>
            <p:ph idx="1"/>
          </p:nvPr>
        </p:nvSpPr>
        <p:spPr>
          <a:xfrm>
            <a:off x="539750" y="1842448"/>
            <a:ext cx="8299450" cy="3878902"/>
          </a:xfrm>
        </p:spPr>
        <p:txBody>
          <a:bodyPr/>
          <a:lstStyle/>
          <a:p>
            <a:r>
              <a:rPr lang="en-US" sz="3200" dirty="0"/>
              <a:t>Who owns the software?</a:t>
            </a:r>
          </a:p>
          <a:p>
            <a:r>
              <a:rPr lang="en-US" sz="3200" dirty="0"/>
              <a:t>How can you get access to the program code?</a:t>
            </a:r>
          </a:p>
          <a:p>
            <a:r>
              <a:rPr lang="en-US" sz="3200" dirty="0"/>
              <a:t>What assurance do you have of the safety of a software product?</a:t>
            </a:r>
          </a:p>
          <a:p>
            <a:r>
              <a:rPr lang="en-US" sz="3200" dirty="0"/>
              <a:t>How can you keep the status of shared software static until the forensic investigation is complete?</a:t>
            </a:r>
            <a:endParaRPr lang="en-US" sz="3000" dirty="0"/>
          </a:p>
        </p:txBody>
      </p:sp>
    </p:spTree>
    <p:extLst>
      <p:ext uri="{BB962C8B-B14F-4D97-AF65-F5344CB8AC3E}">
        <p14:creationId xmlns:p14="http://schemas.microsoft.com/office/powerpoint/2010/main" val="418326469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Cloud</a:t>
            </a:r>
          </a:p>
        </p:txBody>
      </p:sp>
      <p:sp>
        <p:nvSpPr>
          <p:cNvPr id="9219" name="Content Placeholder 2"/>
          <p:cNvSpPr>
            <a:spLocks noGrp="1"/>
          </p:cNvSpPr>
          <p:nvPr>
            <p:ph idx="1"/>
          </p:nvPr>
        </p:nvSpPr>
        <p:spPr>
          <a:xfrm>
            <a:off x="539750" y="1255594"/>
            <a:ext cx="8299450" cy="4465756"/>
          </a:xfrm>
        </p:spPr>
        <p:txBody>
          <a:bodyPr/>
          <a:lstStyle/>
          <a:p>
            <a:r>
              <a:rPr lang="en-US" sz="3000" dirty="0"/>
              <a:t>The concept of connectivity or a simplified way of thinking about networks</a:t>
            </a:r>
          </a:p>
          <a:p>
            <a:r>
              <a:rPr lang="en-US" sz="3000" dirty="0"/>
              <a:t>Internet is complex mesh of routers and paths</a:t>
            </a:r>
          </a:p>
          <a:p>
            <a:r>
              <a:rPr lang="en-US" sz="3000" dirty="0"/>
              <a:t>Can be drawn simply as a cloud</a:t>
            </a:r>
          </a:p>
          <a:p>
            <a:r>
              <a:rPr lang="en-US" sz="3000" i="1" dirty="0"/>
              <a:t>Cloud</a:t>
            </a:r>
            <a:r>
              <a:rPr lang="en-US" sz="3000" dirty="0"/>
              <a:t> refers to Internet as a</a:t>
            </a:r>
            <a:br>
              <a:rPr lang="en-US" sz="3000" dirty="0"/>
            </a:br>
            <a:r>
              <a:rPr lang="en-US" sz="3000" dirty="0"/>
              <a:t>whole, or networks</a:t>
            </a:r>
            <a:br>
              <a:rPr lang="en-US" sz="3000" dirty="0"/>
            </a:br>
            <a:r>
              <a:rPr lang="en-US" sz="3000" dirty="0"/>
              <a:t>available over the Internet</a:t>
            </a:r>
            <a:br>
              <a:rPr lang="en-US" sz="3000" dirty="0"/>
            </a:br>
            <a:r>
              <a:rPr lang="en-US" sz="3000" dirty="0"/>
              <a:t>for the purpose of providing</a:t>
            </a:r>
            <a:br>
              <a:rPr lang="en-US" sz="3000" dirty="0"/>
            </a:br>
            <a:r>
              <a:rPr lang="en-US" sz="3000" dirty="0"/>
              <a:t>special services</a:t>
            </a:r>
          </a:p>
        </p:txBody>
      </p:sp>
      <p:pic>
        <p:nvPicPr>
          <p:cNvPr id="4"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008" y="4036324"/>
            <a:ext cx="2850437" cy="168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948716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Cloud’s Affect on Forensics</a:t>
            </a:r>
          </a:p>
        </p:txBody>
      </p:sp>
      <p:sp>
        <p:nvSpPr>
          <p:cNvPr id="9219" name="Content Placeholder 2"/>
          <p:cNvSpPr>
            <a:spLocks noGrp="1"/>
          </p:cNvSpPr>
          <p:nvPr>
            <p:ph idx="1"/>
          </p:nvPr>
        </p:nvSpPr>
        <p:spPr>
          <a:xfrm>
            <a:off x="539750" y="1255594"/>
            <a:ext cx="8299450" cy="4465756"/>
          </a:xfrm>
        </p:spPr>
        <p:txBody>
          <a:bodyPr/>
          <a:lstStyle/>
          <a:p>
            <a:r>
              <a:rPr lang="en-US" sz="3200" dirty="0"/>
              <a:t>It makes data acquisition more complicated.</a:t>
            </a:r>
          </a:p>
          <a:p>
            <a:r>
              <a:rPr lang="en-US" sz="3200" dirty="0"/>
              <a:t>Investigator must be aware of rules of seizure, privacy, and so forth in each location from which he or she will retrieve data.</a:t>
            </a:r>
            <a:endParaRPr lang="en-US" sz="3000" dirty="0"/>
          </a:p>
          <a:p>
            <a:endParaRPr lang="en-US" sz="3200" dirty="0"/>
          </a:p>
          <a:p>
            <a:endParaRPr lang="en-US" sz="3200" dirty="0"/>
          </a:p>
        </p:txBody>
      </p:sp>
    </p:spTree>
    <p:extLst>
      <p:ext uri="{BB962C8B-B14F-4D97-AF65-F5344CB8AC3E}">
        <p14:creationId xmlns:p14="http://schemas.microsoft.com/office/powerpoint/2010/main" val="420605825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Cloud (Cont.)</a:t>
            </a:r>
          </a:p>
        </p:txBody>
      </p:sp>
      <p:sp>
        <p:nvSpPr>
          <p:cNvPr id="9219" name="Content Placeholder 2"/>
          <p:cNvSpPr>
            <a:spLocks noGrp="1"/>
          </p:cNvSpPr>
          <p:nvPr>
            <p:ph idx="1"/>
          </p:nvPr>
        </p:nvSpPr>
        <p:spPr>
          <a:xfrm>
            <a:off x="539750" y="1255594"/>
            <a:ext cx="8299450" cy="4465756"/>
          </a:xfrm>
        </p:spPr>
        <p:txBody>
          <a:bodyPr/>
          <a:lstStyle/>
          <a:p>
            <a:r>
              <a:rPr lang="en-US" sz="3200" dirty="0"/>
              <a:t>Resolves high availability issues encountered during disasters with ordinary networks and SANs</a:t>
            </a:r>
          </a:p>
          <a:p>
            <a:r>
              <a:rPr lang="en-US" sz="3200" dirty="0"/>
              <a:t>Cloud uses:</a:t>
            </a:r>
          </a:p>
          <a:p>
            <a:pPr lvl="1"/>
            <a:r>
              <a:rPr lang="en-US" sz="3000" dirty="0"/>
              <a:t>Multiple redundant servers in diverse geographic areas</a:t>
            </a:r>
          </a:p>
          <a:p>
            <a:pPr lvl="1"/>
            <a:r>
              <a:rPr lang="en-US" sz="3000" dirty="0"/>
              <a:t>Data redundantly stored on several servers</a:t>
            </a:r>
          </a:p>
          <a:p>
            <a:endParaRPr lang="en-US" sz="3200" dirty="0"/>
          </a:p>
        </p:txBody>
      </p:sp>
    </p:spTree>
    <p:extLst>
      <p:ext uri="{BB962C8B-B14F-4D97-AF65-F5344CB8AC3E}">
        <p14:creationId xmlns:p14="http://schemas.microsoft.com/office/powerpoint/2010/main" val="413577481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Basic Architecture of a Cloud</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48082" y="1296538"/>
            <a:ext cx="6667869" cy="4779018"/>
          </a:xfrm>
        </p:spPr>
      </p:pic>
    </p:spTree>
    <p:extLst>
      <p:ext uri="{BB962C8B-B14F-4D97-AF65-F5344CB8AC3E}">
        <p14:creationId xmlns:p14="http://schemas.microsoft.com/office/powerpoint/2010/main" val="38584875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Google Glass</a:t>
            </a:r>
          </a:p>
        </p:txBody>
      </p:sp>
      <p:sp>
        <p:nvSpPr>
          <p:cNvPr id="9219" name="Content Placeholder 2"/>
          <p:cNvSpPr>
            <a:spLocks noGrp="1"/>
          </p:cNvSpPr>
          <p:nvPr>
            <p:ph idx="1"/>
          </p:nvPr>
        </p:nvSpPr>
        <p:spPr>
          <a:xfrm>
            <a:off x="539750" y="1292087"/>
            <a:ext cx="8299450" cy="4429263"/>
          </a:xfrm>
        </p:spPr>
        <p:txBody>
          <a:bodyPr/>
          <a:lstStyle/>
          <a:p>
            <a:r>
              <a:rPr lang="en-US" sz="3000" dirty="0"/>
              <a:t>Introduced in 2013</a:t>
            </a:r>
          </a:p>
          <a:p>
            <a:r>
              <a:rPr lang="en-US" sz="3000" dirty="0"/>
              <a:t>A wearable computer</a:t>
            </a:r>
          </a:p>
          <a:p>
            <a:r>
              <a:rPr lang="en-US" sz="3000" dirty="0"/>
              <a:t>Includes permanent </a:t>
            </a:r>
            <a:br>
              <a:rPr lang="en-US" sz="3000" dirty="0"/>
            </a:br>
            <a:r>
              <a:rPr lang="en-US" sz="3000" dirty="0"/>
              <a:t>storage via a small </a:t>
            </a:r>
            <a:br>
              <a:rPr lang="en-US" sz="3000" dirty="0"/>
            </a:br>
            <a:r>
              <a:rPr lang="en-US" sz="3000" dirty="0"/>
              <a:t>hard drive</a:t>
            </a:r>
          </a:p>
          <a:p>
            <a:r>
              <a:rPr lang="en-US" sz="3000" dirty="0"/>
              <a:t>Can record images </a:t>
            </a:r>
            <a:br>
              <a:rPr lang="en-US" sz="3000" dirty="0"/>
            </a:br>
            <a:r>
              <a:rPr lang="en-US" sz="3000" dirty="0"/>
              <a:t>and video</a:t>
            </a:r>
          </a:p>
          <a:p>
            <a:r>
              <a:rPr lang="en-US" sz="3000" dirty="0"/>
              <a:t>Could contain photographic or video evidence of a crime</a:t>
            </a:r>
          </a:p>
          <a:p>
            <a:endParaRPr lang="en-US" sz="3000" dirty="0"/>
          </a:p>
          <a:p>
            <a:endParaRPr lang="en-US" sz="3000" dirty="0"/>
          </a:p>
        </p:txBody>
      </p:sp>
      <p:pic>
        <p:nvPicPr>
          <p:cNvPr id="4" name="Content Placeholder 2"/>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045751" y="1518169"/>
            <a:ext cx="3697911" cy="2773434"/>
          </a:xfrm>
          <a:prstGeom prst="rect">
            <a:avLst/>
          </a:prstGeom>
          <a:noFill/>
          <a:ln w="9525">
            <a:noFill/>
            <a:miter lim="800000"/>
            <a:headEnd/>
            <a:tailEnd/>
          </a:ln>
        </p:spPr>
      </p:pic>
      <p:sp>
        <p:nvSpPr>
          <p:cNvPr id="5" name="TextBox 4"/>
          <p:cNvSpPr txBox="1"/>
          <p:nvPr/>
        </p:nvSpPr>
        <p:spPr>
          <a:xfrm rot="5400000">
            <a:off x="8040212" y="3897042"/>
            <a:ext cx="1637731" cy="230832"/>
          </a:xfrm>
          <a:prstGeom prst="rect">
            <a:avLst/>
          </a:prstGeom>
          <a:noFill/>
        </p:spPr>
        <p:txBody>
          <a:bodyPr wrap="square" rtlCol="0">
            <a:spAutoFit/>
          </a:bodyPr>
          <a:lstStyle/>
          <a:p>
            <a:r>
              <a:rPr lang="en-US" sz="900" dirty="0">
                <a:solidFill>
                  <a:schemeClr val="bg1">
                    <a:lumMod val="75000"/>
                  </a:schemeClr>
                </a:solidFill>
              </a:rPr>
              <a:t>Antonio Zugaldia/Wikipedia</a:t>
            </a:r>
          </a:p>
        </p:txBody>
      </p:sp>
    </p:spTree>
    <p:extLst>
      <p:ext uri="{BB962C8B-B14F-4D97-AF65-F5344CB8AC3E}">
        <p14:creationId xmlns:p14="http://schemas.microsoft.com/office/powerpoint/2010/main" val="86948716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24510" y="304800"/>
            <a:ext cx="8299450" cy="476250"/>
          </a:xfrm>
        </p:spPr>
        <p:txBody>
          <a:bodyPr/>
          <a:lstStyle/>
          <a:p>
            <a:r>
              <a:rPr lang="en-US" sz="4000" dirty="0"/>
              <a:t>Cars</a:t>
            </a:r>
            <a:endParaRPr lang="en-US" sz="4000" dirty="0">
              <a:solidFill>
                <a:schemeClr val="tx2"/>
              </a:solidFill>
            </a:endParaRPr>
          </a:p>
        </p:txBody>
      </p:sp>
      <p:sp>
        <p:nvSpPr>
          <p:cNvPr id="9219" name="Content Placeholder 2"/>
          <p:cNvSpPr>
            <a:spLocks noGrp="1"/>
          </p:cNvSpPr>
          <p:nvPr>
            <p:ph idx="1"/>
          </p:nvPr>
        </p:nvSpPr>
        <p:spPr>
          <a:xfrm>
            <a:off x="539750" y="1356852"/>
            <a:ext cx="8299450" cy="4364497"/>
          </a:xfrm>
        </p:spPr>
        <p:txBody>
          <a:bodyPr/>
          <a:lstStyle/>
          <a:p>
            <a:r>
              <a:rPr lang="en-US" sz="3200" dirty="0"/>
              <a:t>Global positioning system (GPS) in mobile devices and cars</a:t>
            </a:r>
          </a:p>
          <a:p>
            <a:r>
              <a:rPr lang="en-US" sz="3200" dirty="0"/>
              <a:t>GPS in vehicles have hard drives to store and play music</a:t>
            </a:r>
          </a:p>
          <a:p>
            <a:r>
              <a:rPr lang="en-US" sz="3200" dirty="0"/>
              <a:t>GPS data might establish that a suspect’s car was at the scene of a crime when the crime took place</a:t>
            </a:r>
          </a:p>
        </p:txBody>
      </p:sp>
    </p:spTree>
    <p:extLst>
      <p:ext uri="{BB962C8B-B14F-4D97-AF65-F5344CB8AC3E}">
        <p14:creationId xmlns:p14="http://schemas.microsoft.com/office/powerpoint/2010/main" val="347245718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Medical Devices</a:t>
            </a:r>
          </a:p>
        </p:txBody>
      </p:sp>
      <p:sp>
        <p:nvSpPr>
          <p:cNvPr id="9219" name="Content Placeholder 2"/>
          <p:cNvSpPr>
            <a:spLocks noGrp="1"/>
          </p:cNvSpPr>
          <p:nvPr>
            <p:ph idx="1"/>
          </p:nvPr>
        </p:nvSpPr>
        <p:spPr>
          <a:xfrm>
            <a:off x="539750" y="1415846"/>
            <a:ext cx="8299450" cy="4305504"/>
          </a:xfrm>
        </p:spPr>
        <p:txBody>
          <a:bodyPr/>
          <a:lstStyle/>
          <a:p>
            <a:r>
              <a:rPr lang="en-US" sz="3200" dirty="0"/>
              <a:t>Some insulin pumps and heart monitors send data to a computer via a wireless connection</a:t>
            </a:r>
          </a:p>
        </p:txBody>
      </p:sp>
      <p:pic>
        <p:nvPicPr>
          <p:cNvPr id="4" name="Picture 4" descr="C:\Users\Kim\AppData\Local\Microsoft\Windows\Temporary Internet Files\Content.IE5\1Q3Z20ZF\MC90043389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809" y="3446413"/>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Users\Kim\AppData\Local\Microsoft\Windows\Temporary Internet Files\Content.IE5\EI0U9W1P\MC900441442[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8631" y="3621636"/>
            <a:ext cx="1531732" cy="1531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45718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Medical Devices (Cont.)</a:t>
            </a:r>
          </a:p>
        </p:txBody>
      </p:sp>
      <p:sp>
        <p:nvSpPr>
          <p:cNvPr id="9219" name="Content Placeholder 2"/>
          <p:cNvSpPr>
            <a:spLocks noGrp="1"/>
          </p:cNvSpPr>
          <p:nvPr>
            <p:ph idx="1"/>
          </p:nvPr>
        </p:nvSpPr>
        <p:spPr>
          <a:xfrm>
            <a:off x="539750" y="1415846"/>
            <a:ext cx="8299450" cy="4305504"/>
          </a:xfrm>
        </p:spPr>
        <p:txBody>
          <a:bodyPr/>
          <a:lstStyle/>
          <a:p>
            <a:r>
              <a:rPr lang="en-US" sz="3200" dirty="0"/>
              <a:t>Medical wireless communications can be compromised</a:t>
            </a:r>
          </a:p>
          <a:p>
            <a:pPr lvl="1"/>
            <a:r>
              <a:rPr lang="en-US" sz="3000" dirty="0"/>
              <a:t>Hacker could change dosage delivered via wireless insulin pump</a:t>
            </a:r>
          </a:p>
          <a:p>
            <a:r>
              <a:rPr lang="en-US" sz="3200" dirty="0"/>
              <a:t>Might need to be examined forensically, similar to a mobile device seized in relation to a crime</a:t>
            </a:r>
          </a:p>
        </p:txBody>
      </p:sp>
    </p:spTree>
    <p:extLst>
      <p:ext uri="{BB962C8B-B14F-4D97-AF65-F5344CB8AC3E}">
        <p14:creationId xmlns:p14="http://schemas.microsoft.com/office/powerpoint/2010/main" val="338521493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Augmented Reality</a:t>
            </a:r>
          </a:p>
        </p:txBody>
      </p:sp>
      <p:sp>
        <p:nvSpPr>
          <p:cNvPr id="9219" name="Content Placeholder 2"/>
          <p:cNvSpPr>
            <a:spLocks noGrp="1"/>
          </p:cNvSpPr>
          <p:nvPr>
            <p:ph idx="1"/>
          </p:nvPr>
        </p:nvSpPr>
        <p:spPr>
          <a:xfrm>
            <a:off x="539750" y="1371600"/>
            <a:ext cx="8299450" cy="4349749"/>
          </a:xfrm>
        </p:spPr>
        <p:txBody>
          <a:bodyPr/>
          <a:lstStyle/>
          <a:p>
            <a:r>
              <a:rPr lang="en-US" sz="3200" dirty="0"/>
              <a:t>Pokémon was first widespread use of augmented reality</a:t>
            </a:r>
          </a:p>
          <a:p>
            <a:r>
              <a:rPr lang="en-US" sz="3200" dirty="0"/>
              <a:t>More applications that fuse digital world with real world will be forthcoming</a:t>
            </a:r>
          </a:p>
          <a:p>
            <a:r>
              <a:rPr lang="en-US" sz="3200" dirty="0"/>
              <a:t>Blurs the line between the digital and the physical, and will have implications for forensics</a:t>
            </a:r>
          </a:p>
          <a:p>
            <a:endParaRPr lang="en-US" sz="3200" dirty="0"/>
          </a:p>
        </p:txBody>
      </p:sp>
    </p:spTree>
    <p:extLst>
      <p:ext uri="{BB962C8B-B14F-4D97-AF65-F5344CB8AC3E}">
        <p14:creationId xmlns:p14="http://schemas.microsoft.com/office/powerpoint/2010/main" val="122696994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Legal and Technical Trends</a:t>
            </a:r>
          </a:p>
        </p:txBody>
      </p:sp>
      <p:sp>
        <p:nvSpPr>
          <p:cNvPr id="9219" name="Content Placeholder 2"/>
          <p:cNvSpPr>
            <a:spLocks noGrp="1"/>
          </p:cNvSpPr>
          <p:nvPr>
            <p:ph idx="1"/>
          </p:nvPr>
        </p:nvSpPr>
        <p:spPr>
          <a:xfrm>
            <a:off x="539750" y="1255594"/>
            <a:ext cx="8299450" cy="4465756"/>
          </a:xfrm>
        </p:spPr>
        <p:txBody>
          <a:bodyPr/>
          <a:lstStyle/>
          <a:p>
            <a:r>
              <a:rPr lang="en-US" sz="3200" dirty="0"/>
              <a:t>Laws can alter requirements for:</a:t>
            </a:r>
          </a:p>
          <a:p>
            <a:pPr lvl="1"/>
            <a:r>
              <a:rPr lang="en-US" sz="3000" dirty="0"/>
              <a:t>A warrant</a:t>
            </a:r>
          </a:p>
          <a:p>
            <a:pPr lvl="1"/>
            <a:r>
              <a:rPr lang="en-US" sz="3000" dirty="0"/>
              <a:t>Exceptions to warrant requirements</a:t>
            </a:r>
          </a:p>
          <a:p>
            <a:pPr lvl="1"/>
            <a:r>
              <a:rPr lang="en-US" sz="3000" dirty="0"/>
              <a:t>Issues of consent to search</a:t>
            </a:r>
          </a:p>
        </p:txBody>
      </p:sp>
      <p:pic>
        <p:nvPicPr>
          <p:cNvPr id="4098" name="Picture 2" descr="C:\Program Files (x86)\Microsoft Office\MEDIA\CAGCAT10\j0300840.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9928" y="3986335"/>
            <a:ext cx="2231376" cy="1879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48716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USA Patriot Act</a:t>
            </a:r>
          </a:p>
        </p:txBody>
      </p:sp>
      <p:sp>
        <p:nvSpPr>
          <p:cNvPr id="9219" name="Content Placeholder 2"/>
          <p:cNvSpPr>
            <a:spLocks noGrp="1"/>
          </p:cNvSpPr>
          <p:nvPr>
            <p:ph idx="1"/>
          </p:nvPr>
        </p:nvSpPr>
        <p:spPr>
          <a:xfrm>
            <a:off x="539750" y="1255594"/>
            <a:ext cx="8299450" cy="4465756"/>
          </a:xfrm>
        </p:spPr>
        <p:txBody>
          <a:bodyPr/>
          <a:lstStyle/>
          <a:p>
            <a:r>
              <a:rPr lang="en-US" sz="3200" dirty="0"/>
              <a:t>Designed to combat terrorism</a:t>
            </a:r>
          </a:p>
          <a:p>
            <a:r>
              <a:rPr lang="en-US" sz="3200" dirty="0"/>
              <a:t>Has affected computer crime</a:t>
            </a:r>
          </a:p>
          <a:p>
            <a:r>
              <a:rPr lang="en-US" sz="3200" dirty="0"/>
              <a:t>Internet service providers (ISPs) can choose to notify law enforcement if they reasonably believe they have evidence of an imminent crime that would endanger lives</a:t>
            </a:r>
          </a:p>
        </p:txBody>
      </p:sp>
    </p:spTree>
    <p:extLst>
      <p:ext uri="{BB962C8B-B14F-4D97-AF65-F5344CB8AC3E}">
        <p14:creationId xmlns:p14="http://schemas.microsoft.com/office/powerpoint/2010/main" val="113210098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The USA Patriot Act (Cont.)</a:t>
            </a:r>
          </a:p>
        </p:txBody>
      </p:sp>
      <p:sp>
        <p:nvSpPr>
          <p:cNvPr id="9219" name="Content Placeholder 2"/>
          <p:cNvSpPr>
            <a:spLocks noGrp="1"/>
          </p:cNvSpPr>
          <p:nvPr>
            <p:ph idx="1"/>
          </p:nvPr>
        </p:nvSpPr>
        <p:spPr>
          <a:xfrm>
            <a:off x="539750" y="1255594"/>
            <a:ext cx="8299450" cy="4465756"/>
          </a:xfrm>
        </p:spPr>
        <p:txBody>
          <a:bodyPr/>
          <a:lstStyle/>
          <a:p>
            <a:r>
              <a:rPr lang="en-US" sz="3200" dirty="0"/>
              <a:t>Section 816, "Development and Support of Cybersecurity Forensic Capabilities”</a:t>
            </a:r>
          </a:p>
          <a:p>
            <a:pPr lvl="1"/>
            <a:r>
              <a:rPr lang="en-US" sz="2800" dirty="0"/>
              <a:t>Calls for U.S. Attorney General to establish regional computer forensics laboratories</a:t>
            </a:r>
          </a:p>
          <a:p>
            <a:pPr lvl="1"/>
            <a:r>
              <a:rPr lang="en-US" sz="2800" dirty="0"/>
              <a:t>Led to creation of the Electronic Crimes Task Force with computer forensics labs in many major cities</a:t>
            </a:r>
          </a:p>
        </p:txBody>
      </p:sp>
    </p:spTree>
    <p:extLst>
      <p:ext uri="{BB962C8B-B14F-4D97-AF65-F5344CB8AC3E}">
        <p14:creationId xmlns:p14="http://schemas.microsoft.com/office/powerpoint/2010/main" val="168988795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Private Labs</a:t>
            </a:r>
          </a:p>
        </p:txBody>
      </p:sp>
      <p:sp>
        <p:nvSpPr>
          <p:cNvPr id="9219" name="Content Placeholder 2"/>
          <p:cNvSpPr>
            <a:spLocks noGrp="1"/>
          </p:cNvSpPr>
          <p:nvPr>
            <p:ph idx="1"/>
          </p:nvPr>
        </p:nvSpPr>
        <p:spPr>
          <a:xfrm>
            <a:off x="539750" y="1255594"/>
            <a:ext cx="8299450" cy="4465756"/>
          </a:xfrm>
        </p:spPr>
        <p:txBody>
          <a:bodyPr/>
          <a:lstStyle/>
          <a:p>
            <a:r>
              <a:rPr lang="en-US" sz="3200" dirty="0"/>
              <a:t>Handle forensic examinations for private companies, attorneys, and sometimes for law enforcement agencies</a:t>
            </a:r>
          </a:p>
          <a:p>
            <a:r>
              <a:rPr lang="en-US" sz="3200" dirty="0"/>
              <a:t>Can process evidence for civil litigation</a:t>
            </a:r>
          </a:p>
          <a:p>
            <a:r>
              <a:rPr lang="en-US" sz="3200" dirty="0"/>
              <a:t>Becoming more common for smaller police departments to outsource computer forensics to private labs</a:t>
            </a:r>
          </a:p>
        </p:txBody>
      </p:sp>
      <p:pic>
        <p:nvPicPr>
          <p:cNvPr id="5123" name="Picture 3" descr="C:\Users\Kim\AppData\Local\Microsoft\Windows\Temporary Internet Files\Content.IE5\EI0U9W1P\MC90004511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9141" y="4195240"/>
            <a:ext cx="1833372" cy="1770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7894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International Issues</a:t>
            </a:r>
          </a:p>
        </p:txBody>
      </p:sp>
      <p:sp>
        <p:nvSpPr>
          <p:cNvPr id="9219" name="Content Placeholder 2"/>
          <p:cNvSpPr>
            <a:spLocks noGrp="1"/>
          </p:cNvSpPr>
          <p:nvPr>
            <p:ph idx="1"/>
          </p:nvPr>
        </p:nvSpPr>
        <p:spPr>
          <a:xfrm>
            <a:off x="539750" y="1255594"/>
            <a:ext cx="8299450" cy="4465756"/>
          </a:xfrm>
        </p:spPr>
        <p:txBody>
          <a:bodyPr/>
          <a:lstStyle/>
          <a:p>
            <a:r>
              <a:rPr lang="en-US" sz="3200" dirty="0"/>
              <a:t>Cases of bank fraud, identity theft, and money laundering frequently cross national boundaries</a:t>
            </a:r>
          </a:p>
          <a:p>
            <a:r>
              <a:rPr lang="en-US" sz="3200" dirty="0"/>
              <a:t>Cybercrime can involve multiple, national jurisdictions</a:t>
            </a:r>
          </a:p>
          <a:p>
            <a:r>
              <a:rPr lang="en-US" sz="3200" dirty="0"/>
              <a:t>Follow the most restrictive national laws pertinent to case to satisfy legal requirements of less-restrictive jurisdictions</a:t>
            </a:r>
            <a:endParaRPr lang="en-US" sz="3000" dirty="0"/>
          </a:p>
        </p:txBody>
      </p:sp>
    </p:spTree>
    <p:extLst>
      <p:ext uri="{BB962C8B-B14F-4D97-AF65-F5344CB8AC3E}">
        <p14:creationId xmlns:p14="http://schemas.microsoft.com/office/powerpoint/2010/main" val="305267233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solidFill>
                  <a:schemeClr val="tx2"/>
                </a:solidFill>
              </a:rPr>
              <a:t>Techniques</a:t>
            </a:r>
          </a:p>
        </p:txBody>
      </p:sp>
      <p:sp>
        <p:nvSpPr>
          <p:cNvPr id="9219" name="Content Placeholder 2"/>
          <p:cNvSpPr>
            <a:spLocks noGrp="1"/>
          </p:cNvSpPr>
          <p:nvPr>
            <p:ph idx="1"/>
          </p:nvPr>
        </p:nvSpPr>
        <p:spPr>
          <a:xfrm>
            <a:off x="539750" y="1255594"/>
            <a:ext cx="8299450" cy="4465756"/>
          </a:xfrm>
        </p:spPr>
        <p:txBody>
          <a:bodyPr/>
          <a:lstStyle/>
          <a:p>
            <a:r>
              <a:rPr lang="en-US" sz="3000" dirty="0"/>
              <a:t>Daubert standard</a:t>
            </a:r>
          </a:p>
          <a:p>
            <a:pPr lvl="1"/>
            <a:r>
              <a:rPr lang="en-US" sz="2600" dirty="0"/>
              <a:t>Requires scientific evidence presented in court to be generally accepted in relevant scientific field</a:t>
            </a:r>
          </a:p>
          <a:p>
            <a:r>
              <a:rPr lang="en-US" sz="3000" dirty="0"/>
              <a:t>New techniques need to be verified before being used in court</a:t>
            </a:r>
          </a:p>
          <a:p>
            <a:r>
              <a:rPr lang="en-US" sz="3000" dirty="0"/>
              <a:t>Forensic investigators must be aware of changes in technology and have at least a basic familiarity with emerging technologies and techniques</a:t>
            </a:r>
          </a:p>
        </p:txBody>
      </p:sp>
    </p:spTree>
    <p:extLst>
      <p:ext uri="{BB962C8B-B14F-4D97-AF65-F5344CB8AC3E}">
        <p14:creationId xmlns:p14="http://schemas.microsoft.com/office/powerpoint/2010/main" val="147967913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Technical trends</a:t>
            </a:r>
          </a:p>
          <a:p>
            <a:pPr marL="233363" indent="-233363" eaLnBrk="0" hangingPunct="0">
              <a:spcBef>
                <a:spcPct val="20000"/>
              </a:spcBef>
              <a:buClr>
                <a:srgbClr val="ED6E2E"/>
              </a:buClr>
              <a:buFont typeface="Wingdings" pitchFamily="2" charset="2"/>
              <a:buChar char="§"/>
            </a:pPr>
            <a:r>
              <a:rPr lang="en-US" sz="3200" dirty="0"/>
              <a:t>Legal and procedural trends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44078</TotalTime>
  <Words>1994</Words>
  <Application>Microsoft Office PowerPoint</Application>
  <PresentationFormat>On-screen Show (4:3)</PresentationFormat>
  <Paragraphs>209</Paragraphs>
  <Slides>27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MS PGothic</vt:lpstr>
      <vt:lpstr>Arial</vt:lpstr>
      <vt:lpstr>Times</vt:lpstr>
      <vt:lpstr>Times New Roman</vt:lpstr>
      <vt:lpstr>Wingdings</vt:lpstr>
      <vt:lpstr>Blank Presentation</vt:lpstr>
      <vt:lpstr>PowerPoint Presentation</vt:lpstr>
      <vt:lpstr>Learning Objective</vt:lpstr>
      <vt:lpstr>Key Concepts</vt:lpstr>
      <vt:lpstr>Technical Trends: Moore's Law</vt:lpstr>
      <vt:lpstr>Technical Trends: Moore's Law (Cont.)</vt:lpstr>
      <vt:lpstr>Technical Trends: Moore's Law (Cont.)</vt:lpstr>
      <vt:lpstr>Technical Trends: Moore's Law (Cont.)</vt:lpstr>
      <vt:lpstr>Moore's Law and Digital Forensics</vt:lpstr>
      <vt:lpstr>Moore's Law and Digital Forensics (Cont.)</vt:lpstr>
      <vt:lpstr>Software as a Service (SaaS)</vt:lpstr>
      <vt:lpstr>Software as a Service (SaaS) (Cont.)</vt:lpstr>
      <vt:lpstr>The Cloud</vt:lpstr>
      <vt:lpstr>The Cloud’s Affect on Forensics</vt:lpstr>
      <vt:lpstr>The Cloud (Cont.)</vt:lpstr>
      <vt:lpstr>Basic Architecture of a Cloud</vt:lpstr>
      <vt:lpstr>Google Glass</vt:lpstr>
      <vt:lpstr>Cars</vt:lpstr>
      <vt:lpstr>Medical Devices</vt:lpstr>
      <vt:lpstr>Medical Devices (Cont.)</vt:lpstr>
      <vt:lpstr>Augmented Reality</vt:lpstr>
      <vt:lpstr>Legal and Technical Trends</vt:lpstr>
      <vt:lpstr>The USA Patriot Act</vt:lpstr>
      <vt:lpstr>The USA Patriot Act (Cont.)</vt:lpstr>
      <vt:lpstr>Private Labs</vt:lpstr>
      <vt:lpstr>International Issues</vt:lpstr>
      <vt:lpstr>Techniques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3288</cp:revision>
  <cp:lastPrinted>2008-07-07T18:08:55Z</cp:lastPrinted>
  <dcterms:created xsi:type="dcterms:W3CDTF">2010-11-23T16:40:46Z</dcterms:created>
  <dcterms:modified xsi:type="dcterms:W3CDTF">2017-07-03T08:49:09Z</dcterms:modified>
</cp:coreProperties>
</file>